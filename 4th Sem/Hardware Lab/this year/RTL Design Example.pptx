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422" r:id="rId16"/>
    <p:sldId id="299" r:id="rId17"/>
    <p:sldId id="300" r:id="rId18"/>
    <p:sldId id="423" r:id="rId19"/>
    <p:sldId id="302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19A57-A5AE-2B25-6AC4-3FA13E53F3EB}" v="2" dt="2025-03-07T10:10:00.207"/>
    <p1510:client id="{C286AC49-D820-6ED4-1509-7F566C168B9B}" v="3" dt="2025-03-07T13:58:30.956"/>
    <p1510:client id="{E86E9E3B-FFA0-AB31-DD6E-50EEEC8150C4}" v="1" dt="2025-03-07T14:20:25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WANI" userId="S::w.ayush@iitg.ac.in::4e5d859a-278e-4567-9f60-03a8f92e68ee" providerId="AD" clId="Web-{E86E9E3B-FFA0-AB31-DD6E-50EEEC8150C4}"/>
    <pc:docChg chg="modSld">
      <pc:chgData name="AYUSH WANI" userId="S::w.ayush@iitg.ac.in::4e5d859a-278e-4567-9f60-03a8f92e68ee" providerId="AD" clId="Web-{E86E9E3B-FFA0-AB31-DD6E-50EEEC8150C4}" dt="2025-03-07T14:20:25.757" v="0" actId="1076"/>
      <pc:docMkLst>
        <pc:docMk/>
      </pc:docMkLst>
      <pc:sldChg chg="modSp">
        <pc:chgData name="AYUSH WANI" userId="S::w.ayush@iitg.ac.in::4e5d859a-278e-4567-9f60-03a8f92e68ee" providerId="AD" clId="Web-{E86E9E3B-FFA0-AB31-DD6E-50EEEC8150C4}" dt="2025-03-07T14:20:25.757" v="0" actId="1076"/>
        <pc:sldMkLst>
          <pc:docMk/>
          <pc:sldMk cId="3516358429" sldId="294"/>
        </pc:sldMkLst>
        <pc:picChg chg="mod">
          <ac:chgData name="AYUSH WANI" userId="S::w.ayush@iitg.ac.in::4e5d859a-278e-4567-9f60-03a8f92e68ee" providerId="AD" clId="Web-{E86E9E3B-FFA0-AB31-DD6E-50EEEC8150C4}" dt="2025-03-07T14:20:25.757" v="0" actId="1076"/>
          <ac:picMkLst>
            <pc:docMk/>
            <pc:sldMk cId="3516358429" sldId="294"/>
            <ac:picMk id="9" creationId="{00000000-0000-0000-0000-000000000000}"/>
          </ac:picMkLst>
        </pc:picChg>
      </pc:sldChg>
    </pc:docChg>
  </pc:docChgLst>
  <pc:docChgLst>
    <pc:chgData name="AYUSH WANI" userId="S::w.ayush@iitg.ac.in::4e5d859a-278e-4567-9f60-03a8f92e68ee" providerId="AD" clId="Web-{C286AC49-D820-6ED4-1509-7F566C168B9B}"/>
    <pc:docChg chg="modSld">
      <pc:chgData name="AYUSH WANI" userId="S::w.ayush@iitg.ac.in::4e5d859a-278e-4567-9f60-03a8f92e68ee" providerId="AD" clId="Web-{C286AC49-D820-6ED4-1509-7F566C168B9B}" dt="2025-03-07T13:58:30.956" v="2" actId="14100"/>
      <pc:docMkLst>
        <pc:docMk/>
      </pc:docMkLst>
      <pc:sldChg chg="modSp">
        <pc:chgData name="AYUSH WANI" userId="S::w.ayush@iitg.ac.in::4e5d859a-278e-4567-9f60-03a8f92e68ee" providerId="AD" clId="Web-{C286AC49-D820-6ED4-1509-7F566C168B9B}" dt="2025-03-07T13:58:30.956" v="2" actId="14100"/>
        <pc:sldMkLst>
          <pc:docMk/>
          <pc:sldMk cId="3204826384" sldId="422"/>
        </pc:sldMkLst>
        <pc:grpChg chg="mod">
          <ac:chgData name="AYUSH WANI" userId="S::w.ayush@iitg.ac.in::4e5d859a-278e-4567-9f60-03a8f92e68ee" providerId="AD" clId="Web-{C286AC49-D820-6ED4-1509-7F566C168B9B}" dt="2025-03-07T13:58:30.956" v="2" actId="14100"/>
          <ac:grpSpMkLst>
            <pc:docMk/>
            <pc:sldMk cId="3204826384" sldId="422"/>
            <ac:grpSpMk id="6" creationId="{00000000-0000-0000-0000-000000000000}"/>
          </ac:grpSpMkLst>
        </pc:grpChg>
      </pc:sldChg>
    </pc:docChg>
  </pc:docChgLst>
  <pc:docChgLst>
    <pc:chgData name="AYUSH WANI" userId="S::w.ayush@iitg.ac.in::4e5d859a-278e-4567-9f60-03a8f92e68ee" providerId="AD" clId="Web-{3AE19A57-A5AE-2B25-6AC4-3FA13E53F3EB}"/>
    <pc:docChg chg="modSld">
      <pc:chgData name="AYUSH WANI" userId="S::w.ayush@iitg.ac.in::4e5d859a-278e-4567-9f60-03a8f92e68ee" providerId="AD" clId="Web-{3AE19A57-A5AE-2B25-6AC4-3FA13E53F3EB}" dt="2025-03-07T10:10:00.207" v="1" actId="1076"/>
      <pc:docMkLst>
        <pc:docMk/>
      </pc:docMkLst>
      <pc:sldChg chg="modSp">
        <pc:chgData name="AYUSH WANI" userId="S::w.ayush@iitg.ac.in::4e5d859a-278e-4567-9f60-03a8f92e68ee" providerId="AD" clId="Web-{3AE19A57-A5AE-2B25-6AC4-3FA13E53F3EB}" dt="2025-03-07T10:10:00.207" v="1" actId="1076"/>
        <pc:sldMkLst>
          <pc:docMk/>
          <pc:sldMk cId="2877557289" sldId="293"/>
        </pc:sldMkLst>
        <pc:picChg chg="mod">
          <ac:chgData name="AYUSH WANI" userId="S::w.ayush@iitg.ac.in::4e5d859a-278e-4567-9f60-03a8f92e68ee" providerId="AD" clId="Web-{3AE19A57-A5AE-2B25-6AC4-3FA13E53F3EB}" dt="2025-03-07T10:10:00.207" v="1" actId="1076"/>
          <ac:picMkLst>
            <pc:docMk/>
            <pc:sldMk cId="2877557289" sldId="293"/>
            <ac:picMk id="9" creationId="{00000000-0000-0000-0000-000000000000}"/>
          </ac:picMkLst>
        </pc:picChg>
      </pc:sldChg>
    </pc:docChg>
  </pc:docChgLst>
  <pc:docChgLst>
    <pc:chgData name="AYUSH WANI" userId="S::w.ayush@iitg.ac.in::4e5d859a-278e-4567-9f60-03a8f92e68ee" providerId="AD" clId="Web-{5B6F7726-7158-4AE4-3F70-27550F451944}"/>
    <pc:docChg chg="modSld sldOrd">
      <pc:chgData name="AYUSH WANI" userId="S::w.ayush@iitg.ac.in::4e5d859a-278e-4567-9f60-03a8f92e68ee" providerId="AD" clId="Web-{5B6F7726-7158-4AE4-3F70-27550F451944}" dt="2025-03-05T10:27:43.021" v="21"/>
      <pc:docMkLst>
        <pc:docMk/>
      </pc:docMkLst>
      <pc:sldChg chg="modSp">
        <pc:chgData name="AYUSH WANI" userId="S::w.ayush@iitg.ac.in::4e5d859a-278e-4567-9f60-03a8f92e68ee" providerId="AD" clId="Web-{5B6F7726-7158-4AE4-3F70-27550F451944}" dt="2025-03-05T09:31:59.564" v="16" actId="1076"/>
        <pc:sldMkLst>
          <pc:docMk/>
          <pc:sldMk cId="4216353386" sldId="290"/>
        </pc:sldMkLst>
        <pc:spChg chg="mod">
          <ac:chgData name="AYUSH WANI" userId="S::w.ayush@iitg.ac.in::4e5d859a-278e-4567-9f60-03a8f92e68ee" providerId="AD" clId="Web-{5B6F7726-7158-4AE4-3F70-27550F451944}" dt="2025-03-05T09:31:59.564" v="16" actId="1076"/>
          <ac:spMkLst>
            <pc:docMk/>
            <pc:sldMk cId="4216353386" sldId="290"/>
            <ac:spMk id="6" creationId="{00000000-0000-0000-0000-000000000000}"/>
          </ac:spMkLst>
        </pc:spChg>
      </pc:sldChg>
      <pc:sldChg chg="modSp">
        <pc:chgData name="AYUSH WANI" userId="S::w.ayush@iitg.ac.in::4e5d859a-278e-4567-9f60-03a8f92e68ee" providerId="AD" clId="Web-{5B6F7726-7158-4AE4-3F70-27550F451944}" dt="2025-03-05T09:20:31.354" v="0" actId="14100"/>
        <pc:sldMkLst>
          <pc:docMk/>
          <pc:sldMk cId="745390078" sldId="291"/>
        </pc:sldMkLst>
        <pc:picChg chg="mod">
          <ac:chgData name="AYUSH WANI" userId="S::w.ayush@iitg.ac.in::4e5d859a-278e-4567-9f60-03a8f92e68ee" providerId="AD" clId="Web-{5B6F7726-7158-4AE4-3F70-27550F451944}" dt="2025-03-05T09:20:31.354" v="0" actId="14100"/>
          <ac:picMkLst>
            <pc:docMk/>
            <pc:sldMk cId="745390078" sldId="291"/>
            <ac:picMk id="7" creationId="{00000000-0000-0000-0000-000000000000}"/>
          </ac:picMkLst>
        </pc:picChg>
      </pc:sldChg>
      <pc:sldChg chg="modSp">
        <pc:chgData name="AYUSH WANI" userId="S::w.ayush@iitg.ac.in::4e5d859a-278e-4567-9f60-03a8f92e68ee" providerId="AD" clId="Web-{5B6F7726-7158-4AE4-3F70-27550F451944}" dt="2025-03-05T09:59:21.143" v="17" actId="1076"/>
        <pc:sldMkLst>
          <pc:docMk/>
          <pc:sldMk cId="2291834380" sldId="292"/>
        </pc:sldMkLst>
        <pc:spChg chg="mod">
          <ac:chgData name="AYUSH WANI" userId="S::w.ayush@iitg.ac.in::4e5d859a-278e-4567-9f60-03a8f92e68ee" providerId="AD" clId="Web-{5B6F7726-7158-4AE4-3F70-27550F451944}" dt="2025-03-05T09:31:20.876" v="13" actId="1076"/>
          <ac:spMkLst>
            <pc:docMk/>
            <pc:sldMk cId="2291834380" sldId="292"/>
            <ac:spMk id="2" creationId="{00000000-0000-0000-0000-000000000000}"/>
          </ac:spMkLst>
        </pc:spChg>
        <pc:picChg chg="mod">
          <ac:chgData name="AYUSH WANI" userId="S::w.ayush@iitg.ac.in::4e5d859a-278e-4567-9f60-03a8f92e68ee" providerId="AD" clId="Web-{5B6F7726-7158-4AE4-3F70-27550F451944}" dt="2025-03-05T09:59:21.143" v="17" actId="1076"/>
          <ac:picMkLst>
            <pc:docMk/>
            <pc:sldMk cId="2291834380" sldId="292"/>
            <ac:picMk id="6" creationId="{00000000-0000-0000-0000-000000000000}"/>
          </ac:picMkLst>
        </pc:picChg>
      </pc:sldChg>
      <pc:sldChg chg="modSp">
        <pc:chgData name="AYUSH WANI" userId="S::w.ayush@iitg.ac.in::4e5d859a-278e-4567-9f60-03a8f92e68ee" providerId="AD" clId="Web-{5B6F7726-7158-4AE4-3F70-27550F451944}" dt="2025-03-05T09:59:29.830" v="18" actId="1076"/>
        <pc:sldMkLst>
          <pc:docMk/>
          <pc:sldMk cId="2877557289" sldId="293"/>
        </pc:sldMkLst>
        <pc:spChg chg="mod">
          <ac:chgData name="AYUSH WANI" userId="S::w.ayush@iitg.ac.in::4e5d859a-278e-4567-9f60-03a8f92e68ee" providerId="AD" clId="Web-{5B6F7726-7158-4AE4-3F70-27550F451944}" dt="2025-03-05T09:59:29.830" v="18" actId="1076"/>
          <ac:spMkLst>
            <pc:docMk/>
            <pc:sldMk cId="2877557289" sldId="293"/>
            <ac:spMk id="7" creationId="{00000000-0000-0000-0000-000000000000}"/>
          </ac:spMkLst>
        </pc:spChg>
        <pc:picChg chg="mod">
          <ac:chgData name="AYUSH WANI" userId="S::w.ayush@iitg.ac.in::4e5d859a-278e-4567-9f60-03a8f92e68ee" providerId="AD" clId="Web-{5B6F7726-7158-4AE4-3F70-27550F451944}" dt="2025-03-05T09:22:50.558" v="7" actId="14100"/>
          <ac:picMkLst>
            <pc:docMk/>
            <pc:sldMk cId="2877557289" sldId="293"/>
            <ac:picMk id="8" creationId="{00000000-0000-0000-0000-000000000000}"/>
          </ac:picMkLst>
        </pc:picChg>
        <pc:picChg chg="mod">
          <ac:chgData name="AYUSH WANI" userId="S::w.ayush@iitg.ac.in::4e5d859a-278e-4567-9f60-03a8f92e68ee" providerId="AD" clId="Web-{5B6F7726-7158-4AE4-3F70-27550F451944}" dt="2025-03-05T09:22:43.293" v="5" actId="1076"/>
          <ac:picMkLst>
            <pc:docMk/>
            <pc:sldMk cId="2877557289" sldId="293"/>
            <ac:picMk id="9" creationId="{00000000-0000-0000-0000-000000000000}"/>
          </ac:picMkLst>
        </pc:picChg>
      </pc:sldChg>
      <pc:sldChg chg="modSp">
        <pc:chgData name="AYUSH WANI" userId="S::w.ayush@iitg.ac.in::4e5d859a-278e-4567-9f60-03a8f92e68ee" providerId="AD" clId="Web-{5B6F7726-7158-4AE4-3F70-27550F451944}" dt="2025-03-05T09:23:15.324" v="10" actId="14100"/>
        <pc:sldMkLst>
          <pc:docMk/>
          <pc:sldMk cId="3516358429" sldId="294"/>
        </pc:sldMkLst>
        <pc:picChg chg="mod">
          <ac:chgData name="AYUSH WANI" userId="S::w.ayush@iitg.ac.in::4e5d859a-278e-4567-9f60-03a8f92e68ee" providerId="AD" clId="Web-{5B6F7726-7158-4AE4-3F70-27550F451944}" dt="2025-03-05T09:23:15.324" v="10" actId="14100"/>
          <ac:picMkLst>
            <pc:docMk/>
            <pc:sldMk cId="3516358429" sldId="294"/>
            <ac:picMk id="6" creationId="{00000000-0000-0000-0000-000000000000}"/>
          </ac:picMkLst>
        </pc:picChg>
      </pc:sldChg>
      <pc:sldChg chg="modSp ord">
        <pc:chgData name="AYUSH WANI" userId="S::w.ayush@iitg.ac.in::4e5d859a-278e-4567-9f60-03a8f92e68ee" providerId="AD" clId="Web-{5B6F7726-7158-4AE4-3F70-27550F451944}" dt="2025-03-05T10:27:43.021" v="21"/>
        <pc:sldMkLst>
          <pc:docMk/>
          <pc:sldMk cId="2694687097" sldId="301"/>
        </pc:sldMkLst>
        <pc:spChg chg="mod">
          <ac:chgData name="AYUSH WANI" userId="S::w.ayush@iitg.ac.in::4e5d859a-278e-4567-9f60-03a8f92e68ee" providerId="AD" clId="Web-{5B6F7726-7158-4AE4-3F70-27550F451944}" dt="2025-03-05T10:26:29.393" v="20" actId="1076"/>
          <ac:spMkLst>
            <pc:docMk/>
            <pc:sldMk cId="2694687097" sldId="301"/>
            <ac:spMk id="3" creationId="{00000000-0000-0000-0000-000000000000}"/>
          </ac:spMkLst>
        </pc:spChg>
        <pc:spChg chg="mod">
          <ac:chgData name="AYUSH WANI" userId="S::w.ayush@iitg.ac.in::4e5d859a-278e-4567-9f60-03a8f92e68ee" providerId="AD" clId="Web-{5B6F7726-7158-4AE4-3F70-27550F451944}" dt="2025-03-05T10:26:22.205" v="19" actId="1076"/>
          <ac:spMkLst>
            <pc:docMk/>
            <pc:sldMk cId="2694687097" sldId="30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EC9F-90F1-49A7-9E72-082920266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D0C89-E8F2-4BB8-9DC5-C54D7AA5C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0119-9DBA-4B5E-8277-D2FB1B05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EAEEF-221B-4A62-9372-9464AB7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F34AE-33D9-4D41-97B5-206B5F6A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04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D82F-2D25-4418-A648-25A3CE86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E94D-511C-408A-863B-545CFF5B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56B08-5161-4409-9E96-45AA9528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7CD5B-056E-4123-A813-E91E4B31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306E-0E2A-461D-A63D-5970B243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0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BC67-A200-47A8-A21A-614E3356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0604D-DA19-4073-BD79-D2BF6217D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3104A-A554-40ED-8573-57C28620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96F83-5662-4B4C-AA60-531E4935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87C37-5CC2-4EA4-9B69-F9B83797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18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60D2-5DC0-4D64-9369-2D658354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1F5BC-2372-4E50-8E49-7C0E53CEE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72018-EB39-4142-86A8-40A0CE59C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69E87-D612-4F01-B9ED-B7EFDC0F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39953-3036-4341-B478-1077CCE9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FF8C1-8827-4BD3-B0A5-976187C6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5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7575-6065-402B-92D7-8B9C32E3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14339-014E-422F-B992-87409127D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C4276-9214-48C7-8591-92412805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4DDBF-07D6-4B3F-8974-7E57CA153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40D88-1F08-4888-87C7-788025DC6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09BB2-C9B7-4F5A-B5D3-4EA8BC94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D3A14-437C-4CB6-A2CF-67589EC8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B4CEC-5FA7-4736-84DC-705B28FE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0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48F6-6729-4E25-AF1E-B011FC3A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61BCE-D4B2-4B37-ACBA-C8A97863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7058F-FBA4-4051-ACA7-DFAF1209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8E4A6-6F94-49E6-8EFF-52DF89F3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37A29-2259-498A-A3D3-8851D81F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FEC38-820E-4493-B5A4-3628103B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DDB80-BAE7-43BF-988B-23AC8B31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98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944F-C6BD-4CB8-9649-B37B323E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E350-92D4-4988-810D-3EFE03824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4BD2-76F5-4E14-BE6E-797EECA0F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ED8B8-945B-4A8C-82DF-00769A81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448CE-C742-42DA-8CEC-96C93FB6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97A0A-4C70-45B2-928C-D3E4651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36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A545-FFB6-4FA9-9DD7-73FCF9A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E4C7E-F04E-43CB-99FF-912E72164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F1AE4-16F5-40A0-A325-DA67A1C06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962AA-668B-4137-8DF1-D27950C8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33026-7A44-4E6A-9371-859F2B20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93D6-0D94-4960-B110-B1C9CEE1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59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30DD-77FA-44B4-9941-2A408BA7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A6273-C7AD-44FD-924C-1E1867E37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6A5C-D01A-474A-BDCC-44A2D3DE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51E5B-7508-4B8C-BC3D-49F171A5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8E24-F7AC-4B39-B5AD-509672A8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8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2D080-27AA-44B2-B2A0-991FFAA17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17AEA-84C1-4AD3-BB87-A6BAEF6FC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52D5-3028-40DF-A136-CF26ABFF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E818-E9EB-44F5-8298-15548D4B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26C7-99D3-4BFA-904F-6EEA94C6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7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F3D2A-85F3-4D53-A83F-D5B7130D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D1A8F-4858-44A6-B4EB-1C6D1BE5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3648-9720-4FC0-BCF9-D366CE392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12AD7-FA11-4386-9FFA-33865885755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0C956-8711-4DB1-A791-55617F869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44FFB-1738-4B0A-A130-40E6769FB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2CF5D-3860-4D21-B600-EEE5F355C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94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C0EB-FA22-4650-BAF9-D69A10F2D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RTL Design Example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0BCFC-53AB-469A-A167-1F5266592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09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992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Working with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023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Example: 2</a:t>
            </a:r>
            <a:r>
              <a:rPr lang="en-US" baseline="30000"/>
              <a:t>nd</a:t>
            </a:r>
            <a:r>
              <a:rPr lang="en-US"/>
              <a:t> order differential equation solver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Diffeq</a:t>
            </a:r>
            <a:r>
              <a:rPr lang="en-US"/>
              <a:t>: (x, dx, u, a, clock, y)</a:t>
            </a:r>
          </a:p>
          <a:p>
            <a:pPr marL="0" indent="0">
              <a:buNone/>
            </a:pPr>
            <a:r>
              <a:rPr lang="en-US"/>
              <a:t>	input: x, dx, u, a, clock;</a:t>
            </a:r>
          </a:p>
          <a:p>
            <a:pPr marL="0" indent="0">
              <a:buNone/>
            </a:pPr>
            <a:r>
              <a:rPr lang="en-US"/>
              <a:t>	output: y</a:t>
            </a:r>
          </a:p>
          <a:p>
            <a:pPr marL="0" indent="0">
              <a:buNone/>
            </a:pPr>
            <a:r>
              <a:rPr lang="en-US"/>
              <a:t>	while(x &lt; a)</a:t>
            </a:r>
          </a:p>
          <a:p>
            <a:pPr marL="0" indent="0">
              <a:buNone/>
            </a:pPr>
            <a:r>
              <a:rPr lang="en-US"/>
              <a:t>		u1 = u-(3*x*u*dx)-(3*y*dx);</a:t>
            </a:r>
          </a:p>
          <a:p>
            <a:pPr marL="0" indent="0">
              <a:buNone/>
            </a:pPr>
            <a:r>
              <a:rPr lang="en-US"/>
              <a:t>		y1 = y+(u*dx);</a:t>
            </a:r>
          </a:p>
          <a:p>
            <a:pPr marL="0" indent="0">
              <a:buNone/>
            </a:pPr>
            <a:r>
              <a:rPr lang="en-US"/>
              <a:t>		x1 = </a:t>
            </a:r>
            <a:r>
              <a:rPr lang="en-US" err="1"/>
              <a:t>x+dx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                        x = x1, y = y1, u = u1;</a:t>
            </a:r>
          </a:p>
          <a:p>
            <a:pPr marL="0" indent="0">
              <a:buNone/>
            </a:pPr>
            <a:r>
              <a:rPr lang="en-US"/>
              <a:t>	end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714" y="1980032"/>
            <a:ext cx="3109229" cy="22374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85811" y="4422370"/>
            <a:ext cx="70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CDFG</a:t>
            </a:r>
          </a:p>
        </p:txBody>
      </p:sp>
    </p:spTree>
    <p:extLst>
      <p:ext uri="{BB962C8B-B14F-4D97-AF65-F5344CB8AC3E}">
        <p14:creationId xmlns:p14="http://schemas.microsoft.com/office/powerpoint/2010/main" val="319300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574073" cy="3749985"/>
          </a:xfrm>
          <a:ln w="63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</a:t>
            </a:r>
          </a:p>
          <a:p>
            <a:pPr marL="0" indent="0">
              <a:buNone/>
            </a:pPr>
            <a:r>
              <a:rPr lang="en-US" sz="2400"/>
              <a:t>Read(p1, dx)</a:t>
            </a:r>
          </a:p>
          <a:p>
            <a:pPr marL="0" indent="0">
              <a:buNone/>
            </a:pPr>
            <a:r>
              <a:rPr lang="en-US" sz="2400"/>
              <a:t>Read(p2, x)</a:t>
            </a:r>
          </a:p>
          <a:p>
            <a:pPr marL="0" indent="0">
              <a:buNone/>
            </a:pPr>
            <a:r>
              <a:rPr lang="en-US" sz="2400"/>
              <a:t>Read(p3, a)</a:t>
            </a:r>
          </a:p>
          <a:p>
            <a:pPr marL="0" indent="0">
              <a:buNone/>
            </a:pPr>
            <a:r>
              <a:rPr lang="en-US" sz="2400"/>
              <a:t>Read(p1,y)</a:t>
            </a:r>
          </a:p>
          <a:p>
            <a:pPr marL="0" indent="0">
              <a:buNone/>
            </a:pPr>
            <a:r>
              <a:rPr lang="en-US" sz="2400"/>
              <a:t>Read(p2, u)</a:t>
            </a:r>
          </a:p>
          <a:p>
            <a:pPr marL="0" indent="0">
              <a:buNone/>
            </a:pPr>
            <a:r>
              <a:rPr lang="en-US" sz="2400"/>
              <a:t>c = x &lt; a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012580" y="1811298"/>
            <a:ext cx="2083420" cy="4351338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y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u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y = y +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x = x +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 = x &lt; 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59780" y="5815361"/>
            <a:ext cx="2172629" cy="694551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Write(p1, y)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1" y="3925210"/>
            <a:ext cx="3109229" cy="22374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2273" y="6303148"/>
            <a:ext cx="333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 Blocks with 3-address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0887" y="6303148"/>
            <a:ext cx="3527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 and Dataflow graph (CDFG)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65282" y="523569"/>
            <a:ext cx="4888914" cy="301765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Example: 2</a:t>
            </a:r>
            <a:r>
              <a:rPr lang="en-US" sz="1600" baseline="30000"/>
              <a:t>nd</a:t>
            </a:r>
            <a:r>
              <a:rPr lang="en-US" sz="1600"/>
              <a:t> order differential equation solver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</a:t>
            </a:r>
            <a:r>
              <a:rPr lang="en-US" sz="1600" err="1"/>
              <a:t>Diffeq</a:t>
            </a:r>
            <a:r>
              <a:rPr lang="en-US" sz="1600"/>
              <a:t>: (x, dx, u, a, clock, y)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input: x, dx, u, a, clock;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output: 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while(x &lt; 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	u1 = u-(3*x*u*dx)-(3*y*dx);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	y1 = y+(u*dx);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	x1 = </a:t>
            </a:r>
            <a:r>
              <a:rPr lang="en-US" sz="1600" err="1"/>
              <a:t>x+dx</a:t>
            </a:r>
            <a:r>
              <a:rPr lang="en-US" sz="1600"/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                                       x = x1, y = y1, u = u1;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13987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324" y="3668752"/>
            <a:ext cx="3209925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199" y="1567327"/>
            <a:ext cx="13811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302" y="1567326"/>
            <a:ext cx="32099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78726" y="990601"/>
            <a:ext cx="2083420" cy="4351338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y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u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y = y +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x = x +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 = x &lt; 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969" y="-1031"/>
            <a:ext cx="10515600" cy="6384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421635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Preprocessing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576794"/>
            <a:ext cx="2083420" cy="4351338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y</a:t>
            </a: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u =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y = y +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x = x + dx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 = x &lt; 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108" y="683460"/>
            <a:ext cx="6689929" cy="5232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59479" y="5921610"/>
            <a:ext cx="2427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 dependency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86926" y="401443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4539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969" y="-1031"/>
            <a:ext cx="10515600" cy="805753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Scheduling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8162" y="440171"/>
            <a:ext cx="8351598" cy="598419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83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4241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Register Allocation and Binding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751137" y="180216"/>
            <a:ext cx="2667000" cy="6673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u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dx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136" y="1158966"/>
            <a:ext cx="5724996" cy="51904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7529" y="6352143"/>
            <a:ext cx="1490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Interval graph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59" y="1073167"/>
            <a:ext cx="2976759" cy="537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5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852"/>
            <a:ext cx="10515600" cy="999651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FU Allocation and Binding: Multiplier</a:t>
            </a:r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2418" y="1107307"/>
            <a:ext cx="5119503" cy="353746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66612" y="4971355"/>
            <a:ext cx="320040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590" y="5402243"/>
            <a:ext cx="61936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operations with non-overlapping schedule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mapped to the same Multiplier FU</a:t>
            </a:r>
          </a:p>
        </p:txBody>
      </p:sp>
      <p:pic>
        <p:nvPicPr>
          <p:cNvPr id="9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9" y="1212037"/>
            <a:ext cx="5225028" cy="367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5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821"/>
          </a:xfrm>
        </p:spPr>
        <p:txBody>
          <a:bodyPr/>
          <a:lstStyle/>
          <a:p>
            <a:r>
              <a:rPr lang="en-IN">
                <a:solidFill>
                  <a:srgbClr val="FF0000"/>
                </a:solidFill>
              </a:rPr>
              <a:t>FU Allocation and Binding: Adder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426" y="1905697"/>
            <a:ext cx="4179374" cy="2664469"/>
          </a:xfrm>
          <a:prstGeom prst="rect">
            <a:avLst/>
          </a:prstGeom>
        </p:spPr>
      </p:pic>
      <p:pic>
        <p:nvPicPr>
          <p:cNvPr id="9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14" y="1241946"/>
            <a:ext cx="5225028" cy="36763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260" y="4986204"/>
            <a:ext cx="389254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 allocation and Binding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A1: v10, v9, v7,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157" y="5402243"/>
            <a:ext cx="60524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Add/Sub operations with non-overlapping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schedule can be mapped to the same adder FU</a:t>
            </a:r>
          </a:p>
        </p:txBody>
      </p:sp>
    </p:spTree>
    <p:extLst>
      <p:ext uri="{BB962C8B-B14F-4D97-AF65-F5344CB8AC3E}">
        <p14:creationId xmlns:p14="http://schemas.microsoft.com/office/powerpoint/2010/main" val="426579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17" y="420883"/>
            <a:ext cx="10515600" cy="928416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Functional Unit Allocation and Binding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1"/>
            <a:ext cx="3505200" cy="3435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alloc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bind: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ADD: A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8,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COMP: C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0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512" y="387429"/>
            <a:ext cx="10515600" cy="68309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Register Transfer Level (RTL) </a:t>
            </a:r>
            <a:r>
              <a:rPr lang="en-US" err="1">
                <a:solidFill>
                  <a:srgbClr val="FF0000"/>
                </a:solidFill>
              </a:rPr>
              <a:t>Behaviour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784" y="1184469"/>
            <a:ext cx="22021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endParaRPr kumimoji="0" lang="en-US" sz="26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x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u * dx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x = x + 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 *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y = y + t</a:t>
            </a:r>
            <a:r>
              <a:rPr kumimoji="0" lang="en-US" sz="26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440169" y="1184469"/>
            <a:ext cx="3507779" cy="45259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1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1</a:t>
            </a:r>
            <a:r>
              <a:rPr lang="en-US"/>
              <a:t>	R</a:t>
            </a:r>
            <a:r>
              <a:rPr lang="en-US" baseline="-25000"/>
              <a:t>1</a:t>
            </a:r>
            <a:r>
              <a:rPr lang="en-US"/>
              <a:t> = R</a:t>
            </a:r>
            <a:r>
              <a:rPr lang="en-US" baseline="-25000"/>
              <a:t>5</a:t>
            </a:r>
            <a:r>
              <a:rPr lang="en-US"/>
              <a:t> &lt;M</a:t>
            </a:r>
            <a:r>
              <a:rPr lang="en-US" baseline="-25000"/>
              <a:t>1</a:t>
            </a:r>
            <a:r>
              <a:rPr lang="en-US"/>
              <a:t>&gt; R</a:t>
            </a:r>
            <a:r>
              <a:rPr lang="en-US" baseline="-25000"/>
              <a:t>7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2</a:t>
            </a:r>
            <a:r>
              <a:rPr lang="en-US"/>
              <a:t>	R</a:t>
            </a:r>
            <a:r>
              <a:rPr lang="en-US" baseline="-25000"/>
              <a:t>2</a:t>
            </a:r>
            <a:r>
              <a:rPr lang="en-US"/>
              <a:t> = R</a:t>
            </a:r>
            <a:r>
              <a:rPr lang="en-US" baseline="-25000"/>
              <a:t>10</a:t>
            </a:r>
            <a:r>
              <a:rPr lang="en-US"/>
              <a:t> &lt;M</a:t>
            </a:r>
            <a:r>
              <a:rPr lang="en-US" baseline="-25000"/>
              <a:t>2</a:t>
            </a:r>
            <a:r>
              <a:rPr lang="en-US"/>
              <a:t>&gt; R</a:t>
            </a:r>
            <a:r>
              <a:rPr lang="en-US" baseline="-25000"/>
              <a:t>6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4</a:t>
            </a:r>
            <a:r>
              <a:rPr lang="en-US"/>
              <a:t>	R</a:t>
            </a:r>
            <a:r>
              <a:rPr lang="en-US" baseline="-25000"/>
              <a:t>3</a:t>
            </a:r>
            <a:r>
              <a:rPr lang="en-US"/>
              <a:t> = R</a:t>
            </a:r>
            <a:r>
              <a:rPr lang="en-US" baseline="-25000"/>
              <a:t>5</a:t>
            </a:r>
            <a:r>
              <a:rPr lang="en-US"/>
              <a:t> &lt;M</a:t>
            </a:r>
            <a:r>
              <a:rPr lang="en-US" baseline="-25000"/>
              <a:t>3</a:t>
            </a:r>
            <a:r>
              <a:rPr lang="en-US"/>
              <a:t>&gt; R</a:t>
            </a:r>
            <a:r>
              <a:rPr lang="en-US" baseline="-25000"/>
              <a:t>7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10</a:t>
            </a:r>
            <a:r>
              <a:rPr lang="en-US"/>
              <a:t>	R</a:t>
            </a:r>
            <a:r>
              <a:rPr lang="en-US" baseline="-25000"/>
              <a:t>4</a:t>
            </a:r>
            <a:r>
              <a:rPr lang="en-US"/>
              <a:t> = R</a:t>
            </a:r>
            <a:r>
              <a:rPr lang="en-US" baseline="-25000"/>
              <a:t>6</a:t>
            </a:r>
            <a:r>
              <a:rPr lang="en-US"/>
              <a:t> &lt;A&gt; R</a:t>
            </a:r>
            <a:r>
              <a:rPr lang="en-US" baseline="-25000"/>
              <a:t>7</a:t>
            </a:r>
          </a:p>
          <a:p>
            <a:pPr marL="0" indent="0">
              <a:buNone/>
            </a:pPr>
            <a:endParaRPr lang="en-US" baseline="-25000"/>
          </a:p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2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5</a:t>
            </a:r>
            <a:r>
              <a:rPr lang="en-US"/>
              <a:t>	R</a:t>
            </a:r>
            <a:r>
              <a:rPr lang="en-US" baseline="-25000"/>
              <a:t>2</a:t>
            </a:r>
            <a:r>
              <a:rPr lang="en-US"/>
              <a:t> = R</a:t>
            </a:r>
            <a:r>
              <a:rPr lang="en-US" baseline="-25000"/>
              <a:t>1</a:t>
            </a:r>
            <a:r>
              <a:rPr lang="en-US"/>
              <a:t> &lt;M</a:t>
            </a:r>
            <a:r>
              <a:rPr lang="en-US" baseline="-25000"/>
              <a:t>1</a:t>
            </a:r>
            <a:r>
              <a:rPr lang="en-US"/>
              <a:t>&gt; R</a:t>
            </a:r>
            <a:r>
              <a:rPr lang="en-US" baseline="-25000"/>
              <a:t>2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3</a:t>
            </a:r>
            <a:r>
              <a:rPr lang="en-US"/>
              <a:t>	R</a:t>
            </a:r>
            <a:r>
              <a:rPr lang="en-US" baseline="-25000"/>
              <a:t>1</a:t>
            </a:r>
            <a:r>
              <a:rPr lang="en-US"/>
              <a:t> = R</a:t>
            </a:r>
            <a:r>
              <a:rPr lang="en-US" baseline="-25000"/>
              <a:t>10</a:t>
            </a:r>
            <a:r>
              <a:rPr lang="en-US"/>
              <a:t> &lt;M</a:t>
            </a:r>
            <a:r>
              <a:rPr lang="en-US" baseline="-25000"/>
              <a:t>2</a:t>
            </a:r>
            <a:r>
              <a:rPr lang="en-US"/>
              <a:t>&gt; R</a:t>
            </a:r>
            <a:r>
              <a:rPr lang="en-US" baseline="-25000"/>
              <a:t>8</a:t>
            </a:r>
          </a:p>
          <a:p>
            <a:pPr marL="0" indent="0">
              <a:buNone/>
            </a:pPr>
            <a:r>
              <a:rPr lang="en-US"/>
              <a:t>V</a:t>
            </a:r>
            <a:r>
              <a:rPr lang="en-US" baseline="-25000"/>
              <a:t>9</a:t>
            </a:r>
            <a:r>
              <a:rPr lang="en-US"/>
              <a:t>	R</a:t>
            </a:r>
            <a:r>
              <a:rPr lang="en-US" baseline="-25000"/>
              <a:t>8</a:t>
            </a:r>
            <a:r>
              <a:rPr lang="en-US"/>
              <a:t> = R</a:t>
            </a:r>
            <a:r>
              <a:rPr lang="en-US" baseline="-25000"/>
              <a:t>8</a:t>
            </a:r>
            <a:r>
              <a:rPr lang="en-US"/>
              <a:t> &lt;A&gt; R</a:t>
            </a:r>
            <a:r>
              <a:rPr lang="en-US" baseline="-25000"/>
              <a:t>3</a:t>
            </a:r>
          </a:p>
          <a:p>
            <a:pPr marL="0" indent="0">
              <a:buNone/>
            </a:pPr>
            <a:endParaRPr lang="en-US" baseline="-2500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61213" y="1054726"/>
            <a:ext cx="2620471" cy="43224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t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u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dx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	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391847"/>
            <a:ext cx="1916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Original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behaviour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04434" y="5576513"/>
            <a:ext cx="18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 mapping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3659" y="5824382"/>
            <a:ext cx="151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RTL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behaviour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531539" y="1555813"/>
            <a:ext cx="2499197" cy="23850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bind: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MULT: M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ADD: A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8,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COMP: C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22380" y="4226312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 mapping</a:t>
            </a:r>
          </a:p>
        </p:txBody>
      </p:sp>
    </p:spTree>
    <p:extLst>
      <p:ext uri="{BB962C8B-B14F-4D97-AF65-F5344CB8AC3E}">
        <p14:creationId xmlns:p14="http://schemas.microsoft.com/office/powerpoint/2010/main" val="487989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Datapath</a:t>
            </a:r>
            <a:r>
              <a:rPr lang="en-US"/>
              <a:t>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050863" y="695461"/>
            <a:ext cx="8929473" cy="4780544"/>
            <a:chOff x="1958975" y="2043113"/>
            <a:chExt cx="3983662" cy="2566432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3467100" y="3136900"/>
              <a:ext cx="1168400" cy="596900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FU</a:t>
              </a: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3632200" y="2514600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4394200" y="2514600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013200" y="3721100"/>
              <a:ext cx="0" cy="495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1958975" y="2043113"/>
              <a:ext cx="18373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R1, R2, R1, R5, R4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05275" y="2043113"/>
              <a:ext cx="18373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R6, R1, R5, R6, R2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3063875" y="4240213"/>
              <a:ext cx="18373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R1, R1, R2, R7, R4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826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4241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Data path Synthesis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80205"/>
            <a:ext cx="6803209" cy="485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8610600" y="1434398"/>
            <a:ext cx="2958791" cy="40180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&lt;A&gt;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&lt;A&gt;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850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1938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Data path Generation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85" y="918117"/>
            <a:ext cx="6991741" cy="520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96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Controller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82566" y="1538436"/>
            <a:ext cx="7200902" cy="4925715"/>
            <a:chOff x="2640013" y="1051075"/>
            <a:chExt cx="7200902" cy="4925715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3359151" y="1484313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3359151" y="1700213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359151" y="1917700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3359151" y="2133600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359151" y="2347913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3359151" y="2563813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359151" y="2781300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359151" y="2997200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3359151" y="3213100"/>
              <a:ext cx="3529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359150" y="1484314"/>
              <a:ext cx="0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6888163" y="1484314"/>
              <a:ext cx="0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3503613" y="1844676"/>
              <a:ext cx="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3575050" y="2708276"/>
              <a:ext cx="0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3648075" y="2924176"/>
              <a:ext cx="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3719513" y="3141664"/>
              <a:ext cx="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2" name="AutoShape 18"/>
            <p:cNvSpPr>
              <a:spLocks noChangeArrowheads="1"/>
            </p:cNvSpPr>
            <p:nvPr/>
          </p:nvSpPr>
          <p:spPr bwMode="auto">
            <a:xfrm>
              <a:off x="3359151" y="3429001"/>
              <a:ext cx="504825" cy="144463"/>
            </a:xfrm>
            <a:custGeom>
              <a:avLst/>
              <a:gdLst>
                <a:gd name="T0" fmla="*/ 441722 w 21600"/>
                <a:gd name="T1" fmla="*/ 72232 h 21600"/>
                <a:gd name="T2" fmla="*/ 252413 w 21600"/>
                <a:gd name="T3" fmla="*/ 144463 h 21600"/>
                <a:gd name="T4" fmla="*/ 63103 w 21600"/>
                <a:gd name="T5" fmla="*/ 72232 h 21600"/>
                <a:gd name="T6" fmla="*/ 25241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4079875" y="2060576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4151313" y="2276476"/>
              <a:ext cx="0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4224338" y="2492376"/>
              <a:ext cx="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4295775" y="2924176"/>
              <a:ext cx="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AutoShape 23"/>
            <p:cNvSpPr>
              <a:spLocks noChangeArrowheads="1"/>
            </p:cNvSpPr>
            <p:nvPr/>
          </p:nvSpPr>
          <p:spPr bwMode="auto">
            <a:xfrm>
              <a:off x="3935414" y="3429001"/>
              <a:ext cx="504825" cy="144463"/>
            </a:xfrm>
            <a:custGeom>
              <a:avLst/>
              <a:gdLst>
                <a:gd name="T0" fmla="*/ 441722 w 21600"/>
                <a:gd name="T1" fmla="*/ 72232 h 21600"/>
                <a:gd name="T2" fmla="*/ 252413 w 21600"/>
                <a:gd name="T3" fmla="*/ 144463 h 21600"/>
                <a:gd name="T4" fmla="*/ 63103 w 21600"/>
                <a:gd name="T5" fmla="*/ 72232 h 21600"/>
                <a:gd name="T6" fmla="*/ 25241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575050" y="3573463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4151313" y="3573463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591175" y="2205038"/>
              <a:ext cx="1588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5664200" y="2924176"/>
              <a:ext cx="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5735638" y="3141664"/>
              <a:ext cx="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3" name="AutoShape 29"/>
            <p:cNvSpPr>
              <a:spLocks noChangeArrowheads="1"/>
            </p:cNvSpPr>
            <p:nvPr/>
          </p:nvSpPr>
          <p:spPr bwMode="auto">
            <a:xfrm>
              <a:off x="5448301" y="3429001"/>
              <a:ext cx="504825" cy="144463"/>
            </a:xfrm>
            <a:custGeom>
              <a:avLst/>
              <a:gdLst>
                <a:gd name="T0" fmla="*/ 441722 w 21600"/>
                <a:gd name="T1" fmla="*/ 72232 h 21600"/>
                <a:gd name="T2" fmla="*/ 252413 w 21600"/>
                <a:gd name="T3" fmla="*/ 144463 h 21600"/>
                <a:gd name="T4" fmla="*/ 63103 w 21600"/>
                <a:gd name="T5" fmla="*/ 72232 h 21600"/>
                <a:gd name="T6" fmla="*/ 25241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6167439" y="1628776"/>
              <a:ext cx="1587" cy="180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6240463" y="2060576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6313488" y="2492376"/>
              <a:ext cx="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>
              <a:off x="6383339" y="2708276"/>
              <a:ext cx="1587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8" name="AutoShape 34"/>
            <p:cNvSpPr>
              <a:spLocks noChangeArrowheads="1"/>
            </p:cNvSpPr>
            <p:nvPr/>
          </p:nvSpPr>
          <p:spPr bwMode="auto">
            <a:xfrm>
              <a:off x="6024564" y="3429001"/>
              <a:ext cx="504825" cy="144463"/>
            </a:xfrm>
            <a:custGeom>
              <a:avLst/>
              <a:gdLst>
                <a:gd name="T0" fmla="*/ 441722 w 21600"/>
                <a:gd name="T1" fmla="*/ 72232 h 21600"/>
                <a:gd name="T2" fmla="*/ 252413 w 21600"/>
                <a:gd name="T3" fmla="*/ 144463 h 21600"/>
                <a:gd name="T4" fmla="*/ 63103 w 21600"/>
                <a:gd name="T5" fmla="*/ 72232 h 21600"/>
                <a:gd name="T6" fmla="*/ 25241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5664200" y="3573463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6240463" y="3573463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6456363" y="2924176"/>
              <a:ext cx="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3432175" y="4005263"/>
              <a:ext cx="863600" cy="7921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5519738" y="4005263"/>
              <a:ext cx="863600" cy="7921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7824788" y="1196975"/>
              <a:ext cx="0" cy="403225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 flipH="1">
              <a:off x="6888164" y="2205038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 flipH="1">
              <a:off x="6383338" y="4221163"/>
              <a:ext cx="144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6383338" y="4508500"/>
              <a:ext cx="144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8" name="AutoShape 44"/>
            <p:cNvSpPr>
              <a:spLocks noChangeArrowheads="1"/>
            </p:cNvSpPr>
            <p:nvPr/>
          </p:nvSpPr>
          <p:spPr bwMode="auto">
            <a:xfrm rot="-5400000">
              <a:off x="2956720" y="2823370"/>
              <a:ext cx="360363" cy="130175"/>
            </a:xfrm>
            <a:custGeom>
              <a:avLst/>
              <a:gdLst>
                <a:gd name="T0" fmla="*/ 315318 w 21600"/>
                <a:gd name="T1" fmla="*/ 65088 h 21600"/>
                <a:gd name="T2" fmla="*/ 180182 w 21600"/>
                <a:gd name="T3" fmla="*/ 130175 h 21600"/>
                <a:gd name="T4" fmla="*/ 45045 w 21600"/>
                <a:gd name="T5" fmla="*/ 65088 h 21600"/>
                <a:gd name="T6" fmla="*/ 180182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>
              <a:off x="2927350" y="3141663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2640014" y="2636838"/>
              <a:ext cx="719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3216276" y="2924175"/>
              <a:ext cx="142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 flipH="1" flipV="1">
              <a:off x="2927351" y="2997200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 flipH="1">
              <a:off x="2640013" y="2781300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>
              <a:off x="2640014" y="2420938"/>
              <a:ext cx="719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2640014" y="2205038"/>
              <a:ext cx="719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3863975" y="4797425"/>
              <a:ext cx="0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>
              <a:off x="5951538" y="4797425"/>
              <a:ext cx="0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Line 54"/>
            <p:cNvSpPr>
              <a:spLocks noChangeShapeType="1"/>
            </p:cNvSpPr>
            <p:nvPr/>
          </p:nvSpPr>
          <p:spPr bwMode="auto">
            <a:xfrm>
              <a:off x="2927350" y="2997201"/>
              <a:ext cx="0" cy="208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2640013" y="2205039"/>
              <a:ext cx="0" cy="3095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>
              <a:off x="2927351" y="5084763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Line 57"/>
            <p:cNvSpPr>
              <a:spLocks noChangeShapeType="1"/>
            </p:cNvSpPr>
            <p:nvPr/>
          </p:nvSpPr>
          <p:spPr bwMode="auto">
            <a:xfrm>
              <a:off x="2640014" y="5300663"/>
              <a:ext cx="3311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2" name="Line 58"/>
            <p:cNvSpPr>
              <a:spLocks noChangeShapeType="1"/>
            </p:cNvSpPr>
            <p:nvPr/>
          </p:nvSpPr>
          <p:spPr bwMode="auto">
            <a:xfrm>
              <a:off x="3143250" y="3860800"/>
              <a:ext cx="46815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Line 59"/>
            <p:cNvSpPr>
              <a:spLocks noChangeShapeType="1"/>
            </p:cNvSpPr>
            <p:nvPr/>
          </p:nvSpPr>
          <p:spPr bwMode="auto">
            <a:xfrm>
              <a:off x="3143250" y="29972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>
              <a:off x="4367214" y="3500438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5" name="Line 61"/>
            <p:cNvSpPr>
              <a:spLocks noChangeShapeType="1"/>
            </p:cNvSpPr>
            <p:nvPr/>
          </p:nvSpPr>
          <p:spPr bwMode="auto">
            <a:xfrm>
              <a:off x="4367214" y="3573463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Line 62"/>
            <p:cNvSpPr>
              <a:spLocks noChangeShapeType="1"/>
            </p:cNvSpPr>
            <p:nvPr/>
          </p:nvSpPr>
          <p:spPr bwMode="auto">
            <a:xfrm>
              <a:off x="6456364" y="3500438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7" name="Line 63"/>
            <p:cNvSpPr>
              <a:spLocks noChangeShapeType="1"/>
            </p:cNvSpPr>
            <p:nvPr/>
          </p:nvSpPr>
          <p:spPr bwMode="auto">
            <a:xfrm>
              <a:off x="6456364" y="3573463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5880101" y="3500438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>
              <a:off x="5880101" y="3573463"/>
              <a:ext cx="288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charset="0"/>
                <a:ea typeface="ＭＳ Ｐゴシック" charset="0"/>
                <a:cs typeface="+mn-cs"/>
              </a:endParaRPr>
            </a:p>
          </p:txBody>
        </p:sp>
        <p:sp>
          <p:nvSpPr>
            <p:cNvPr id="70" name="Text Box 66"/>
            <p:cNvSpPr txBox="1">
              <a:spLocks noChangeArrowheads="1"/>
            </p:cNvSpPr>
            <p:nvPr/>
          </p:nvSpPr>
          <p:spPr bwMode="auto">
            <a:xfrm>
              <a:off x="3618211" y="4221163"/>
              <a:ext cx="46166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*</a:t>
              </a:r>
            </a:p>
          </p:txBody>
        </p:sp>
        <p:sp>
          <p:nvSpPr>
            <p:cNvPr id="71" name="Text Box 67"/>
            <p:cNvSpPr txBox="1">
              <a:spLocks noChangeArrowheads="1"/>
            </p:cNvSpPr>
            <p:nvPr/>
          </p:nvSpPr>
          <p:spPr bwMode="auto">
            <a:xfrm rot="-5400000">
              <a:off x="5721501" y="4090988"/>
              <a:ext cx="461665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ALU</a:t>
              </a:r>
            </a:p>
          </p:txBody>
        </p:sp>
        <p:sp>
          <p:nvSpPr>
            <p:cNvPr id="72" name="Text Box 68"/>
            <p:cNvSpPr txBox="1">
              <a:spLocks noChangeArrowheads="1"/>
            </p:cNvSpPr>
            <p:nvPr/>
          </p:nvSpPr>
          <p:spPr bwMode="auto">
            <a:xfrm rot="-5400000">
              <a:off x="4244331" y="4845845"/>
              <a:ext cx="461665" cy="180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DATA-PATH</a:t>
              </a:r>
            </a:p>
          </p:txBody>
        </p:sp>
        <p:sp>
          <p:nvSpPr>
            <p:cNvPr id="73" name="Text Box 69"/>
            <p:cNvSpPr txBox="1">
              <a:spLocks noChangeArrowheads="1"/>
            </p:cNvSpPr>
            <p:nvPr/>
          </p:nvSpPr>
          <p:spPr bwMode="auto">
            <a:xfrm rot="-5400000">
              <a:off x="8421838" y="4486275"/>
              <a:ext cx="461665" cy="2376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CONTROL-UNIT</a:t>
              </a:r>
            </a:p>
          </p:txBody>
        </p:sp>
        <p:sp>
          <p:nvSpPr>
            <p:cNvPr id="74" name="Text Box 70"/>
            <p:cNvSpPr txBox="1">
              <a:spLocks noChangeArrowheads="1"/>
            </p:cNvSpPr>
            <p:nvPr/>
          </p:nvSpPr>
          <p:spPr bwMode="auto">
            <a:xfrm rot="-5400000">
              <a:off x="6545233" y="29781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r2</a:t>
              </a:r>
            </a:p>
          </p:txBody>
        </p:sp>
        <p:sp>
          <p:nvSpPr>
            <p:cNvPr id="75" name="Text Box 71"/>
            <p:cNvSpPr txBox="1">
              <a:spLocks noChangeArrowheads="1"/>
            </p:cNvSpPr>
            <p:nvPr/>
          </p:nvSpPr>
          <p:spPr bwMode="auto">
            <a:xfrm rot="-5400000">
              <a:off x="6545233" y="27622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r1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 rot="-5400000">
              <a:off x="6545233" y="25463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</a:t>
              </a:r>
            </a:p>
          </p:txBody>
        </p:sp>
        <p:sp>
          <p:nvSpPr>
            <p:cNvPr id="77" name="Text Box 73"/>
            <p:cNvSpPr txBox="1">
              <a:spLocks noChangeArrowheads="1"/>
            </p:cNvSpPr>
            <p:nvPr/>
          </p:nvSpPr>
          <p:spPr bwMode="auto">
            <a:xfrm rot="-5400000">
              <a:off x="6545233" y="23304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y</a:t>
              </a:r>
            </a:p>
          </p:txBody>
        </p:sp>
        <p:sp>
          <p:nvSpPr>
            <p:cNvPr id="78" name="Text Box 74"/>
            <p:cNvSpPr txBox="1">
              <a:spLocks noChangeArrowheads="1"/>
            </p:cNvSpPr>
            <p:nvPr/>
          </p:nvSpPr>
          <p:spPr bwMode="auto">
            <a:xfrm rot="-5400000">
              <a:off x="6545233" y="21145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x</a:t>
              </a:r>
            </a:p>
          </p:txBody>
        </p:sp>
        <p:sp>
          <p:nvSpPr>
            <p:cNvPr id="79" name="Text Box 75"/>
            <p:cNvSpPr txBox="1">
              <a:spLocks noChangeArrowheads="1"/>
            </p:cNvSpPr>
            <p:nvPr/>
          </p:nvSpPr>
          <p:spPr bwMode="auto">
            <a:xfrm rot="-5400000">
              <a:off x="6545233" y="18986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dx</a:t>
              </a:r>
            </a:p>
          </p:txBody>
        </p:sp>
        <p:sp>
          <p:nvSpPr>
            <p:cNvPr id="80" name="Text Box 76"/>
            <p:cNvSpPr txBox="1">
              <a:spLocks noChangeArrowheads="1"/>
            </p:cNvSpPr>
            <p:nvPr/>
          </p:nvSpPr>
          <p:spPr bwMode="auto">
            <a:xfrm rot="-5400000">
              <a:off x="6545233" y="16827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</a:t>
              </a:r>
            </a:p>
          </p:txBody>
        </p:sp>
        <p:sp>
          <p:nvSpPr>
            <p:cNvPr id="81" name="Text Box 77"/>
            <p:cNvSpPr txBox="1">
              <a:spLocks noChangeArrowheads="1"/>
            </p:cNvSpPr>
            <p:nvPr/>
          </p:nvSpPr>
          <p:spPr bwMode="auto">
            <a:xfrm rot="-5400000">
              <a:off x="6545233" y="1466851"/>
              <a:ext cx="40011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</a:t>
              </a:r>
            </a:p>
          </p:txBody>
        </p:sp>
        <p:sp>
          <p:nvSpPr>
            <p:cNvPr id="82" name="Text Box 78"/>
            <p:cNvSpPr txBox="1">
              <a:spLocks noChangeArrowheads="1"/>
            </p:cNvSpPr>
            <p:nvPr/>
          </p:nvSpPr>
          <p:spPr bwMode="auto">
            <a:xfrm rot="-5400000">
              <a:off x="4893619" y="381795"/>
              <a:ext cx="461665" cy="180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REGISTERS</a:t>
              </a:r>
            </a:p>
          </p:txBody>
        </p:sp>
        <p:sp>
          <p:nvSpPr>
            <p:cNvPr id="83" name="Text Box 79"/>
            <p:cNvSpPr txBox="1">
              <a:spLocks noChangeArrowheads="1"/>
            </p:cNvSpPr>
            <p:nvPr/>
          </p:nvSpPr>
          <p:spPr bwMode="auto">
            <a:xfrm rot="-5400000">
              <a:off x="8055739" y="1467645"/>
              <a:ext cx="400110" cy="1439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enable</a:t>
              </a:r>
            </a:p>
          </p:txBody>
        </p:sp>
        <p:sp>
          <p:nvSpPr>
            <p:cNvPr id="84" name="Text Box 80"/>
            <p:cNvSpPr txBox="1">
              <a:spLocks noChangeArrowheads="1"/>
            </p:cNvSpPr>
            <p:nvPr/>
          </p:nvSpPr>
          <p:spPr bwMode="auto">
            <a:xfrm rot="-5400000">
              <a:off x="8271639" y="2763045"/>
              <a:ext cx="400110" cy="1439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Mux control</a:t>
              </a:r>
            </a:p>
          </p:txBody>
        </p:sp>
        <p:sp>
          <p:nvSpPr>
            <p:cNvPr id="85" name="Text Box 81"/>
            <p:cNvSpPr txBox="1">
              <a:spLocks noChangeArrowheads="1"/>
            </p:cNvSpPr>
            <p:nvPr/>
          </p:nvSpPr>
          <p:spPr bwMode="auto">
            <a:xfrm rot="-5400000">
              <a:off x="8487539" y="3124994"/>
              <a:ext cx="400110" cy="201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ALU control (+,-,&lt;)</a:t>
              </a:r>
            </a:p>
          </p:txBody>
        </p:sp>
        <p:sp>
          <p:nvSpPr>
            <p:cNvPr id="86" name="Text Box 82"/>
            <p:cNvSpPr txBox="1">
              <a:spLocks noChangeArrowheads="1"/>
            </p:cNvSpPr>
            <p:nvPr/>
          </p:nvSpPr>
          <p:spPr bwMode="auto">
            <a:xfrm rot="-5400000">
              <a:off x="7839839" y="3483769"/>
              <a:ext cx="400110" cy="201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3394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2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Final RTL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786" y="1403107"/>
            <a:ext cx="3082925" cy="845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61" y="2915796"/>
            <a:ext cx="3182168" cy="362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373" y="310899"/>
            <a:ext cx="3109229" cy="22374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19623"/>
            <a:ext cx="5155054" cy="383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9312686" y="4822338"/>
            <a:ext cx="28793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0, 0, 0, 0, 0, 0, 0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1, 1, 1, 1, 0, 0, 0, 0, 0, 0 0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0, 1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9671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Control Signals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6ACF3-9E57-4397-A1A4-837A40331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85057" y="200232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Control Assertion Pattern: &lt;</a:t>
            </a:r>
            <a:r>
              <a:rPr lang="en-US">
                <a:solidFill>
                  <a:srgbClr val="FF0000"/>
                </a:solidFill>
              </a:rPr>
              <a:t>FU</a:t>
            </a:r>
            <a:r>
              <a:rPr lang="en-US"/>
              <a:t>, </a:t>
            </a:r>
            <a:r>
              <a:rPr lang="en-US" err="1">
                <a:solidFill>
                  <a:srgbClr val="0070C0"/>
                </a:solidFill>
              </a:rPr>
              <a:t>FU_MUX_in</a:t>
            </a:r>
            <a:r>
              <a:rPr lang="en-US"/>
              <a:t>, </a:t>
            </a:r>
            <a:r>
              <a:rPr lang="en-US" err="1">
                <a:solidFill>
                  <a:srgbClr val="7030A0"/>
                </a:solidFill>
              </a:rPr>
              <a:t>Reg</a:t>
            </a:r>
            <a:r>
              <a:rPr lang="en-US">
                <a:solidFill>
                  <a:srgbClr val="7030A0"/>
                </a:solidFill>
              </a:rPr>
              <a:t>-en</a:t>
            </a:r>
            <a:r>
              <a:rPr lang="en-US"/>
              <a:t>, </a:t>
            </a:r>
            <a:r>
              <a:rPr lang="en-US" err="1">
                <a:solidFill>
                  <a:srgbClr val="00B050"/>
                </a:solidFill>
              </a:rPr>
              <a:t>Reg_Mux_in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FU: 1 bit</a:t>
            </a:r>
          </a:p>
          <a:p>
            <a:pPr marL="0" indent="0">
              <a:buNone/>
            </a:pPr>
            <a:r>
              <a:rPr lang="en-US" err="1">
                <a:solidFill>
                  <a:schemeClr val="accent1">
                    <a:lumMod val="75000"/>
                  </a:schemeClr>
                </a:solidFill>
              </a:rPr>
              <a:t>FU_MUX_in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: 7 bits</a:t>
            </a:r>
          </a:p>
          <a:p>
            <a:pPr marL="0" indent="0">
              <a:buNone/>
            </a:pPr>
            <a:r>
              <a:rPr lang="en-US" err="1">
                <a:solidFill>
                  <a:srgbClr val="7030A0"/>
                </a:solidFill>
              </a:rPr>
              <a:t>Reg_en</a:t>
            </a:r>
            <a:r>
              <a:rPr lang="en-US">
                <a:solidFill>
                  <a:srgbClr val="7030A0"/>
                </a:solidFill>
              </a:rPr>
              <a:t>: 11 bits</a:t>
            </a:r>
          </a:p>
          <a:p>
            <a:pPr marL="0" indent="0">
              <a:buNone/>
            </a:pPr>
            <a:r>
              <a:rPr lang="en-US" err="1">
                <a:solidFill>
                  <a:srgbClr val="00B050"/>
                </a:solidFill>
              </a:rPr>
              <a:t>Reg_MUX_in</a:t>
            </a:r>
            <a:r>
              <a:rPr lang="en-US">
                <a:solidFill>
                  <a:srgbClr val="00B050"/>
                </a:solidFill>
              </a:rPr>
              <a:t>: 2 bits</a:t>
            </a:r>
          </a:p>
          <a:p>
            <a:pPr marL="0" indent="0">
              <a:buNone/>
            </a:pPr>
            <a:r>
              <a:rPr lang="en-US"/>
              <a:t>Total: 21 bits</a:t>
            </a:r>
          </a:p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1</a:t>
            </a:r>
            <a:r>
              <a:rPr lang="en-US"/>
              <a:t>: &lt;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0, 0, 0, 0, 0, 0, 0</a:t>
            </a:r>
            <a:r>
              <a:rPr lang="en-US">
                <a:solidFill>
                  <a:srgbClr val="7030A0"/>
                </a:solidFill>
              </a:rPr>
              <a:t>, 1, 1, 1, 1, 0, 0, 0, 0, 0, 0 0</a:t>
            </a:r>
            <a:r>
              <a:rPr lang="en-US"/>
              <a:t>, </a:t>
            </a:r>
            <a:r>
              <a:rPr lang="en-US">
                <a:solidFill>
                  <a:srgbClr val="00B050"/>
                </a:solidFill>
              </a:rPr>
              <a:t>0, 1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2</a:t>
            </a:r>
            <a:r>
              <a:rPr lang="en-US"/>
              <a:t>: &lt;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1, 1, 1, 0, 1, 0, 1</a:t>
            </a:r>
            <a:r>
              <a:rPr lang="en-US">
                <a:solidFill>
                  <a:srgbClr val="7030A0"/>
                </a:solidFill>
              </a:rPr>
              <a:t>, 1, 1, 0, 0, 0, 0, 0, 1, 0, 0 0</a:t>
            </a:r>
            <a:r>
              <a:rPr lang="en-US"/>
              <a:t>, </a:t>
            </a:r>
            <a:r>
              <a:rPr lang="en-US">
                <a:solidFill>
                  <a:srgbClr val="00B050"/>
                </a:solidFill>
              </a:rPr>
              <a:t>1, 0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3</a:t>
            </a:r>
            <a:r>
              <a:rPr lang="en-US"/>
              <a:t>: &lt;…..&gt;</a:t>
            </a:r>
          </a:p>
          <a:p>
            <a:pPr marL="0" indent="0">
              <a:buNone/>
            </a:pPr>
            <a:r>
              <a:rPr lang="en-US"/>
              <a:t>S</a:t>
            </a:r>
            <a:r>
              <a:rPr lang="en-US" baseline="-25000"/>
              <a:t>4</a:t>
            </a:r>
            <a:r>
              <a:rPr lang="en-US"/>
              <a:t>: &lt;…..&gt;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254340" y="2632826"/>
            <a:ext cx="3448335" cy="39087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&lt;A&gt;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&lt;A&gt;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68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003F095A564545AECDB1F409A3C346" ma:contentTypeVersion="4" ma:contentTypeDescription="Create a new document." ma:contentTypeScope="" ma:versionID="ccdef169b0fe16de36ba8d58dcf40520">
  <xsd:schema xmlns:xsd="http://www.w3.org/2001/XMLSchema" xmlns:xs="http://www.w3.org/2001/XMLSchema" xmlns:p="http://schemas.microsoft.com/office/2006/metadata/properties" xmlns:ns2="4e3ce064-089c-4eed-bb72-9bc3248f0f9d" targetNamespace="http://schemas.microsoft.com/office/2006/metadata/properties" ma:root="true" ma:fieldsID="ed22d03e0542d51972f5e88e85b32f7c" ns2:_="">
    <xsd:import namespace="4e3ce064-089c-4eed-bb72-9bc3248f0f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ce064-089c-4eed-bb72-9bc3248f0f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A85F5D-E9FA-4F94-9A21-88CD6CF6B26D}">
  <ds:schemaRefs>
    <ds:schemaRef ds:uri="4e3ce064-089c-4eed-bb72-9bc3248f0f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80BC408-6334-485F-8B6C-087CC7B6C6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764146-5A0F-46D3-8A4A-D1F6730030C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RTL Design Example</vt:lpstr>
      <vt:lpstr>Working with an example</vt:lpstr>
      <vt:lpstr>Preprocessing</vt:lpstr>
      <vt:lpstr>PowerPoint Presentation</vt:lpstr>
      <vt:lpstr>Preprocessing</vt:lpstr>
      <vt:lpstr>Scheduling</vt:lpstr>
      <vt:lpstr>Register Allocation and Binding</vt:lpstr>
      <vt:lpstr>FU Allocation and Binding: Multiplier</vt:lpstr>
      <vt:lpstr>FU Allocation and Binding: Adder</vt:lpstr>
      <vt:lpstr>Functional Unit Allocation and Binding</vt:lpstr>
      <vt:lpstr>Register Transfer Level (RTL) Behaviour</vt:lpstr>
      <vt:lpstr>Datapath Synthesis</vt:lpstr>
      <vt:lpstr>Data path Synthesis</vt:lpstr>
      <vt:lpstr>Data path Generation</vt:lpstr>
      <vt:lpstr>Controller Synthesis</vt:lpstr>
      <vt:lpstr>Final RTL</vt:lpstr>
      <vt:lpstr>Control Signals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RTL Design Example</dc:title>
  <dc:creator>Dell</dc:creator>
  <cp:revision>1</cp:revision>
  <dcterms:created xsi:type="dcterms:W3CDTF">2025-03-05T04:38:54Z</dcterms:created>
  <dcterms:modified xsi:type="dcterms:W3CDTF">2025-03-07T14:20:27Z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0x01010063003F095A564545AECDB1F409A3C346</vt:lpwstr>
  </property>
</Properties>
</file>