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8" r:id="rId5"/>
    <p:sldId id="264" r:id="rId6"/>
    <p:sldId id="265" r:id="rId7"/>
    <p:sldId id="266" r:id="rId8"/>
    <p:sldId id="256" r:id="rId9"/>
    <p:sldId id="257" r:id="rId10"/>
    <p:sldId id="259" r:id="rId11"/>
    <p:sldId id="260" r:id="rId12"/>
    <p:sldId id="267" r:id="rId13"/>
    <p:sldId id="261" r:id="rId14"/>
    <p:sldId id="262" r:id="rId15"/>
    <p:sldId id="26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181EB9-375A-4734-96E7-33C5CC9FBF13}" v="1" dt="2024-04-24T10:50:52.358"/>
    <p1510:client id="{3A353AD3-237B-4566-9625-D48F1653F012}" v="2" dt="2024-04-24T13:16:43.840"/>
    <p1510:client id="{3FA9CD38-8EDB-4ADB-8F4E-387683FD6167}" v="1" dt="2024-04-24T07:54:12.813"/>
    <p1510:client id="{87D7160F-6F73-4980-AAB9-422176203F23}" v="3" dt="2024-04-23T11:36:29.135"/>
    <p1510:client id="{A8D0E847-F69B-FD33-D115-150296503739}" v="2" dt="2024-04-23T13:21:08.741"/>
    <p1510:client id="{E41E233C-DA8D-4822-AB18-6875A84596A9}" v="7" dt="2024-04-24T12:15:21.0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UKYA KOUSHIK KRISHNA RATHOD" userId="S::b.rathod@iitg.ac.in::aeca8632-4bcc-482f-bee9-3ddf53b95bc0" providerId="AD" clId="Web-{87D7160F-6F73-4980-AAB9-422176203F23}"/>
    <pc:docChg chg="modSld">
      <pc:chgData name="BHUKYA KOUSHIK KRISHNA RATHOD" userId="S::b.rathod@iitg.ac.in::aeca8632-4bcc-482f-bee9-3ddf53b95bc0" providerId="AD" clId="Web-{87D7160F-6F73-4980-AAB9-422176203F23}" dt="2024-04-23T11:36:29.135" v="2" actId="1076"/>
      <pc:docMkLst>
        <pc:docMk/>
      </pc:docMkLst>
      <pc:sldChg chg="modSp">
        <pc:chgData name="BHUKYA KOUSHIK KRISHNA RATHOD" userId="S::b.rathod@iitg.ac.in::aeca8632-4bcc-482f-bee9-3ddf53b95bc0" providerId="AD" clId="Web-{87D7160F-6F73-4980-AAB9-422176203F23}" dt="2024-04-23T11:36:29.135" v="2" actId="1076"/>
        <pc:sldMkLst>
          <pc:docMk/>
          <pc:sldMk cId="147990026" sldId="264"/>
        </pc:sldMkLst>
        <pc:grpChg chg="mod">
          <ac:chgData name="BHUKYA KOUSHIK KRISHNA RATHOD" userId="S::b.rathod@iitg.ac.in::aeca8632-4bcc-482f-bee9-3ddf53b95bc0" providerId="AD" clId="Web-{87D7160F-6F73-4980-AAB9-422176203F23}" dt="2024-04-23T11:36:29.135" v="2" actId="1076"/>
          <ac:grpSpMkLst>
            <pc:docMk/>
            <pc:sldMk cId="147990026" sldId="264"/>
            <ac:grpSpMk id="59" creationId="{00000000-0000-0000-0000-000000000000}"/>
          </ac:grpSpMkLst>
        </pc:grpChg>
        <pc:grpChg chg="mod">
          <ac:chgData name="BHUKYA KOUSHIK KRISHNA RATHOD" userId="S::b.rathod@iitg.ac.in::aeca8632-4bcc-482f-bee9-3ddf53b95bc0" providerId="AD" clId="Web-{87D7160F-6F73-4980-AAB9-422176203F23}" dt="2024-04-23T11:36:20.495" v="0" actId="1076"/>
          <ac:grpSpMkLst>
            <pc:docMk/>
            <pc:sldMk cId="147990026" sldId="264"/>
            <ac:grpSpMk id="92" creationId="{00000000-0000-0000-0000-000000000000}"/>
          </ac:grpSpMkLst>
        </pc:grpChg>
        <pc:picChg chg="mod">
          <ac:chgData name="BHUKYA KOUSHIK KRISHNA RATHOD" userId="S::b.rathod@iitg.ac.in::aeca8632-4bcc-482f-bee9-3ddf53b95bc0" providerId="AD" clId="Web-{87D7160F-6F73-4980-AAB9-422176203F23}" dt="2024-04-23T11:36:22.948" v="1" actId="1076"/>
          <ac:picMkLst>
            <pc:docMk/>
            <pc:sldMk cId="147990026" sldId="264"/>
            <ac:picMk id="5" creationId="{00000000-0000-0000-0000-000000000000}"/>
          </ac:picMkLst>
        </pc:picChg>
      </pc:sldChg>
    </pc:docChg>
  </pc:docChgLst>
  <pc:docChgLst>
    <pc:chgData name="ADITYA JAIN" userId="S::adityaj.8002@iitg.ac.in::2559eac6-8b73-4c70-bdf5-a92413662263" providerId="AD" clId="Web-{E41E233C-DA8D-4822-AB18-6875A84596A9}"/>
    <pc:docChg chg="modSld">
      <pc:chgData name="ADITYA JAIN" userId="S::adityaj.8002@iitg.ac.in::2559eac6-8b73-4c70-bdf5-a92413662263" providerId="AD" clId="Web-{E41E233C-DA8D-4822-AB18-6875A84596A9}" dt="2024-04-24T12:12:59.544" v="4" actId="20577"/>
      <pc:docMkLst>
        <pc:docMk/>
      </pc:docMkLst>
      <pc:sldChg chg="modSp">
        <pc:chgData name="ADITYA JAIN" userId="S::adityaj.8002@iitg.ac.in::2559eac6-8b73-4c70-bdf5-a92413662263" providerId="AD" clId="Web-{E41E233C-DA8D-4822-AB18-6875A84596A9}" dt="2024-04-24T12:12:59.544" v="4" actId="20577"/>
        <pc:sldMkLst>
          <pc:docMk/>
          <pc:sldMk cId="375227892" sldId="259"/>
        </pc:sldMkLst>
        <pc:spChg chg="mod">
          <ac:chgData name="ADITYA JAIN" userId="S::adityaj.8002@iitg.ac.in::2559eac6-8b73-4c70-bdf5-a92413662263" providerId="AD" clId="Web-{E41E233C-DA8D-4822-AB18-6875A84596A9}" dt="2024-04-24T12:12:59.544" v="4" actId="20577"/>
          <ac:spMkLst>
            <pc:docMk/>
            <pc:sldMk cId="375227892" sldId="259"/>
            <ac:spMk id="4" creationId="{31D6B3E7-B6CA-49F3-B6E0-EE507458E3AF}"/>
          </ac:spMkLst>
        </pc:spChg>
      </pc:sldChg>
    </pc:docChg>
  </pc:docChgLst>
  <pc:docChgLst>
    <pc:chgData name="K RAHUL" userId="S::krahul.3044@iitg.ac.in::5f2a4117-e591-41b7-b8cc-10e22aee723f" providerId="AD" clId="Web-{3A353AD3-237B-4566-9625-D48F1653F012}"/>
    <pc:docChg chg="sldOrd">
      <pc:chgData name="K RAHUL" userId="S::krahul.3044@iitg.ac.in::5f2a4117-e591-41b7-b8cc-10e22aee723f" providerId="AD" clId="Web-{3A353AD3-237B-4566-9625-D48F1653F012}" dt="2024-04-24T13:16:43.840" v="1"/>
      <pc:docMkLst>
        <pc:docMk/>
      </pc:docMkLst>
      <pc:sldChg chg="ord">
        <pc:chgData name="K RAHUL" userId="S::krahul.3044@iitg.ac.in::5f2a4117-e591-41b7-b8cc-10e22aee723f" providerId="AD" clId="Web-{3A353AD3-237B-4566-9625-D48F1653F012}" dt="2024-04-24T13:16:41.480" v="0"/>
        <pc:sldMkLst>
          <pc:docMk/>
          <pc:sldMk cId="3950486528" sldId="265"/>
        </pc:sldMkLst>
      </pc:sldChg>
      <pc:sldChg chg="ord">
        <pc:chgData name="K RAHUL" userId="S::krahul.3044@iitg.ac.in::5f2a4117-e591-41b7-b8cc-10e22aee723f" providerId="AD" clId="Web-{3A353AD3-237B-4566-9625-D48F1653F012}" dt="2024-04-24T13:16:43.840" v="1"/>
        <pc:sldMkLst>
          <pc:docMk/>
          <pc:sldMk cId="4023871689" sldId="266"/>
        </pc:sldMkLst>
      </pc:sldChg>
    </pc:docChg>
  </pc:docChgLst>
  <pc:docChgLst>
    <pc:chgData name="ATYAM VALLI SRI LAKSHMI RAJESWARI" userId="S::r.atyam@iitg.ac.in::620ee112-fe47-4deb-9731-7857c35eb461" providerId="AD" clId="Web-{1C181EB9-375A-4734-96E7-33C5CC9FBF13}"/>
    <pc:docChg chg="addSld">
      <pc:chgData name="ATYAM VALLI SRI LAKSHMI RAJESWARI" userId="S::r.atyam@iitg.ac.in::620ee112-fe47-4deb-9731-7857c35eb461" providerId="AD" clId="Web-{1C181EB9-375A-4734-96E7-33C5CC9FBF13}" dt="2024-04-24T10:50:52.358" v="0"/>
      <pc:docMkLst>
        <pc:docMk/>
      </pc:docMkLst>
      <pc:sldChg chg="new">
        <pc:chgData name="ATYAM VALLI SRI LAKSHMI RAJESWARI" userId="S::r.atyam@iitg.ac.in::620ee112-fe47-4deb-9731-7857c35eb461" providerId="AD" clId="Web-{1C181EB9-375A-4734-96E7-33C5CC9FBF13}" dt="2024-04-24T10:50:52.358" v="0"/>
        <pc:sldMkLst>
          <pc:docMk/>
          <pc:sldMk cId="1580304924" sldId="267"/>
        </pc:sldMkLst>
      </pc:sldChg>
    </pc:docChg>
  </pc:docChgLst>
  <pc:docChgLst>
    <pc:chgData name="MOKSH MALHOTRA" userId="S::m.moksh@iitg.ac.in::67388558-37ed-4c5b-b84b-4de4e5163e5c" providerId="AD" clId="Web-{A8D0E847-F69B-FD33-D115-150296503739}"/>
    <pc:docChg chg="modSld">
      <pc:chgData name="MOKSH MALHOTRA" userId="S::m.moksh@iitg.ac.in::67388558-37ed-4c5b-b84b-4de4e5163e5c" providerId="AD" clId="Web-{A8D0E847-F69B-FD33-D115-150296503739}" dt="2024-04-23T13:21:08.741" v="1" actId="1076"/>
      <pc:docMkLst>
        <pc:docMk/>
      </pc:docMkLst>
      <pc:sldChg chg="modSp">
        <pc:chgData name="MOKSH MALHOTRA" userId="S::m.moksh@iitg.ac.in::67388558-37ed-4c5b-b84b-4de4e5163e5c" providerId="AD" clId="Web-{A8D0E847-F69B-FD33-D115-150296503739}" dt="2024-04-23T13:21:08.741" v="1" actId="1076"/>
        <pc:sldMkLst>
          <pc:docMk/>
          <pc:sldMk cId="147990026" sldId="264"/>
        </pc:sldMkLst>
        <pc:grpChg chg="mod">
          <ac:chgData name="MOKSH MALHOTRA" userId="S::m.moksh@iitg.ac.in::67388558-37ed-4c5b-b84b-4de4e5163e5c" providerId="AD" clId="Web-{A8D0E847-F69B-FD33-D115-150296503739}" dt="2024-04-23T13:21:08.741" v="1" actId="1076"/>
          <ac:grpSpMkLst>
            <pc:docMk/>
            <pc:sldMk cId="147990026" sldId="264"/>
            <ac:grpSpMk id="92" creationId="{00000000-0000-0000-0000-000000000000}"/>
          </ac:grpSpMkLst>
        </pc:grpChg>
      </pc:sldChg>
    </pc:docChg>
  </pc:docChgLst>
  <pc:docChgLst>
    <pc:chgData name="SURYADEV VINOD" userId="S::v.suryadev@iitg.ac.in::741a47ea-7348-4034-9f93-824345412ed8" providerId="AD" clId="Web-{3FA9CD38-8EDB-4ADB-8F4E-387683FD6167}"/>
    <pc:docChg chg="modSld">
      <pc:chgData name="SURYADEV VINOD" userId="S::v.suryadev@iitg.ac.in::741a47ea-7348-4034-9f93-824345412ed8" providerId="AD" clId="Web-{3FA9CD38-8EDB-4ADB-8F4E-387683FD6167}" dt="2024-04-24T07:54:12.813" v="0" actId="1076"/>
      <pc:docMkLst>
        <pc:docMk/>
      </pc:docMkLst>
      <pc:sldChg chg="modSp">
        <pc:chgData name="SURYADEV VINOD" userId="S::v.suryadev@iitg.ac.in::741a47ea-7348-4034-9f93-824345412ed8" providerId="AD" clId="Web-{3FA9CD38-8EDB-4ADB-8F4E-387683FD6167}" dt="2024-04-24T07:54:12.813" v="0" actId="1076"/>
        <pc:sldMkLst>
          <pc:docMk/>
          <pc:sldMk cId="147990026" sldId="264"/>
        </pc:sldMkLst>
        <pc:picChg chg="mod">
          <ac:chgData name="SURYADEV VINOD" userId="S::v.suryadev@iitg.ac.in::741a47ea-7348-4034-9f93-824345412ed8" providerId="AD" clId="Web-{3FA9CD38-8EDB-4ADB-8F4E-387683FD6167}" dt="2024-04-24T07:54:12.813" v="0" actId="1076"/>
          <ac:picMkLst>
            <pc:docMk/>
            <pc:sldMk cId="147990026" sldId="264"/>
            <ac:picMk id="62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F0C89-6AA3-4E44-9F9F-7DD07B0BAD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76C00F-B9F7-40BB-B47B-BF92C66D74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3EE807-4146-408A-A407-983CD8A4C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78A4E-3072-4F19-8C35-719C63D13E98}" type="datetimeFigureOut">
              <a:rPr lang="en-IN" smtClean="0"/>
              <a:t>24-04-2024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4FD47-1D3A-48E7-993C-D1B459EDF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E8480-E7F5-4AE1-AF13-279F2DE0E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7C8F4-0737-41AD-B9B1-F0373DF2ED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1226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96AFD-0CE2-43B2-997E-9255B2AA3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C1777-5873-44DF-B3A6-4F249B0DC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4EFF47-D754-47A2-8C4A-ACF1BBA11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78A4E-3072-4F19-8C35-719C63D13E98}" type="datetimeFigureOut">
              <a:rPr lang="en-IN" smtClean="0"/>
              <a:t>24-04-2024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FE09D7-E6F6-43EB-9AFF-2BBC35ED0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16DF0E-635B-4A55-8B41-D5F83FEDA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7C8F4-0737-41AD-B9B1-F0373DF2ED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618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F8007-F83A-4489-AA3F-04DB8EA6F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D05069-0CD8-477E-A401-59E0BB08D8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F7CDB2-C665-4980-A427-A27CB073B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78A4E-3072-4F19-8C35-719C63D13E98}" type="datetimeFigureOut">
              <a:rPr lang="en-IN" smtClean="0"/>
              <a:t>24-04-2024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60EF46-587A-4497-83DB-CDE89A626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624697-CC78-424A-900D-DC59F938A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7C8F4-0737-41AD-B9B1-F0373DF2ED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1137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0BE24-32A7-4420-8676-60FFF5EAE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0F094-0C23-4760-B1C6-A9B0BA497C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087E01-9B07-4FD0-9CB3-3936A5C885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00F965-93C9-41CB-9E72-F3C03452B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78A4E-3072-4F19-8C35-719C63D13E98}" type="datetimeFigureOut">
              <a:rPr lang="en-IN" smtClean="0"/>
              <a:t>24-04-2024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E60CF6-C7F7-456D-BA09-AD062A98D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B53E68-065D-40E8-AB5F-39F894435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7C8F4-0737-41AD-B9B1-F0373DF2ED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7993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9FC38-AC3C-4663-8C2D-B820635E8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DBFD31-0E9A-4A73-A07A-E27C67410A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90D4FA-4362-4B11-9401-50E9C11BD1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BF7E75-E648-4C9B-A5CB-51B0801885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22FB90-72FD-4530-81F0-FF2B44B31E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6289C1-34E1-4B26-A093-F11125603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78A4E-3072-4F19-8C35-719C63D13E98}" type="datetimeFigureOut">
              <a:rPr lang="en-IN" smtClean="0"/>
              <a:t>24-04-2024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CEAF4D-D55D-4E83-96E1-18D3E38B5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1C0180-60C6-4C96-81C1-2DD6BD81B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7C8F4-0737-41AD-B9B1-F0373DF2ED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6970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7FA4F-9341-4E64-9B77-D556C5487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1D01FA-73FE-4F0A-9947-CE9D13AD8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78A4E-3072-4F19-8C35-719C63D13E98}" type="datetimeFigureOut">
              <a:rPr lang="en-IN" smtClean="0"/>
              <a:t>24-04-2024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07210C-145D-4395-882C-0A182C759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4A59C1-0A4E-4463-A0A8-FFBA3E2D1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7C8F4-0737-41AD-B9B1-F0373DF2ED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6858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EC0485-9691-4C10-8D20-952437A85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78A4E-3072-4F19-8C35-719C63D13E98}" type="datetimeFigureOut">
              <a:rPr lang="en-IN" smtClean="0"/>
              <a:t>24-04-2024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8E206B-7654-4DBF-BA5B-F63EE7184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C49F2F-A498-4C0A-B2FB-FFEAAE399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7C8F4-0737-41AD-B9B1-F0373DF2ED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8740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C058F-08F2-4631-8C64-A7C2C853B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F71B4-E441-4401-BA4E-73DC8C0AE5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7DFCCD-73C7-4CEC-A185-C1CCECFAD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7408E1-9702-497F-8665-45BD12666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78A4E-3072-4F19-8C35-719C63D13E98}" type="datetimeFigureOut">
              <a:rPr lang="en-IN" smtClean="0"/>
              <a:t>24-04-2024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B1D511-8482-461D-AA49-4504E3547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0E5D0B-7CE7-45A7-B40E-A1E7E900E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7C8F4-0737-41AD-B9B1-F0373DF2ED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620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EAEA2-40CB-4921-9B48-32638B569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807ABE-9B30-4533-8C72-F45B122877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2F5DE9-6340-406B-93B2-949E2F54E0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234458-5DBE-4F40-B584-098F35FC8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78A4E-3072-4F19-8C35-719C63D13E98}" type="datetimeFigureOut">
              <a:rPr lang="en-IN" smtClean="0"/>
              <a:t>24-04-2024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58D8D6-89EF-49FE-A23B-2AD31B802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B2113-D594-413B-989B-620C4F6B1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7C8F4-0737-41AD-B9B1-F0373DF2ED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92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A5D10-8E70-4F92-A4D3-DA2CB6883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CC75D7-C7D3-4B1D-8D9F-36E98D413F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DD64D9-01FC-48BF-A295-687EDBEA9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78A4E-3072-4F19-8C35-719C63D13E98}" type="datetimeFigureOut">
              <a:rPr lang="en-IN" smtClean="0"/>
              <a:t>24-04-2024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A13F31-2006-492E-881D-1375E0BD1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62EED2-26A8-4F2A-80B3-6910BE78E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7C8F4-0737-41AD-B9B1-F0373DF2ED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7522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F55A8D-A930-4781-8689-0B6976F386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D64F73-7661-46BC-86DF-CAA09CA8AF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2EEC6-9E34-45C2-A0A2-09A0BB973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78A4E-3072-4F19-8C35-719C63D13E98}" type="datetimeFigureOut">
              <a:rPr lang="en-IN" smtClean="0"/>
              <a:t>24-04-2024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A03442-06E4-4C9F-B78D-71DBF376E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2A7BC-FC82-40EF-9361-02A18507E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7C8F4-0737-41AD-B9B1-F0373DF2ED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9271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D44452-398B-4A26-8FF3-DA185A76D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6C1B66-73D1-4022-A828-B16FD111D2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CF1EB-A556-43B5-8649-A5A3DCBBE9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B78A4E-3072-4F19-8C35-719C63D13E98}" type="datetimeFigureOut">
              <a:rPr lang="en-IN" smtClean="0"/>
              <a:t>24-04-2024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20E4B9-711C-4D06-90A8-4D8D27DC35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930DED-B6B3-4C63-A23F-9F54A964B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27C8F4-0737-41AD-B9B1-F0373DF2ED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4059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1FC8CD2-4468-4FEE-9C9F-858785E1230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31" b="11267"/>
          <a:stretch/>
        </p:blipFill>
        <p:spPr>
          <a:xfrm>
            <a:off x="2248486" y="528569"/>
            <a:ext cx="7695028" cy="574459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93949FB-3168-44F1-81D8-155FC061B449}"/>
              </a:ext>
            </a:extLst>
          </p:cNvPr>
          <p:cNvSpPr/>
          <p:nvPr/>
        </p:nvSpPr>
        <p:spPr>
          <a:xfrm>
            <a:off x="6682155" y="3193366"/>
            <a:ext cx="3545059" cy="3235569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1CE705-4152-477B-B79E-C5253838BF6E}"/>
              </a:ext>
            </a:extLst>
          </p:cNvPr>
          <p:cNvSpPr/>
          <p:nvPr/>
        </p:nvSpPr>
        <p:spPr>
          <a:xfrm>
            <a:off x="3409804" y="754347"/>
            <a:ext cx="3193369" cy="4171589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2D7707-800E-443A-B298-071AE36C41D0}"/>
              </a:ext>
            </a:extLst>
          </p:cNvPr>
          <p:cNvSpPr/>
          <p:nvPr/>
        </p:nvSpPr>
        <p:spPr>
          <a:xfrm>
            <a:off x="10171193" y="4937760"/>
            <a:ext cx="191270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sound</a:t>
            </a:r>
            <a:endParaRPr lang="en-US" sz="5400" b="0" cap="none" spc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1F4EF0-38D9-4214-B504-10ABFB862E25}"/>
              </a:ext>
            </a:extLst>
          </p:cNvPr>
          <p:cNvSpPr txBox="1"/>
          <p:nvPr/>
        </p:nvSpPr>
        <p:spPr>
          <a:xfrm>
            <a:off x="10171193" y="108016"/>
            <a:ext cx="19127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/>
              <a:t>Inner ear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3FBD38-6F65-4973-A402-D7CBD08DEEAB}"/>
              </a:ext>
            </a:extLst>
          </p:cNvPr>
          <p:cNvSpPr txBox="1"/>
          <p:nvPr/>
        </p:nvSpPr>
        <p:spPr>
          <a:xfrm flipH="1">
            <a:off x="3968363" y="369545"/>
            <a:ext cx="2260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Vestibular apparatus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E62C94-34EA-41B6-9FD9-ED5B87951384}"/>
              </a:ext>
            </a:extLst>
          </p:cNvPr>
          <p:cNvSpPr txBox="1"/>
          <p:nvPr/>
        </p:nvSpPr>
        <p:spPr>
          <a:xfrm flipH="1">
            <a:off x="8093231" y="6392428"/>
            <a:ext cx="931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Cochlea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490134E-4BCD-40E1-8203-CB68D04D2E27}"/>
              </a:ext>
            </a:extLst>
          </p:cNvPr>
          <p:cNvSpPr/>
          <p:nvPr/>
        </p:nvSpPr>
        <p:spPr>
          <a:xfrm>
            <a:off x="114889" y="463630"/>
            <a:ext cx="339817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Equilibrium</a:t>
            </a:r>
          </a:p>
        </p:txBody>
      </p:sp>
    </p:spTree>
    <p:extLst>
      <p:ext uri="{BB962C8B-B14F-4D97-AF65-F5344CB8AC3E}">
        <p14:creationId xmlns:p14="http://schemas.microsoft.com/office/powerpoint/2010/main" val="335835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2" grpId="0"/>
      <p:bldP spid="10" grpId="0"/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7AE7E6-CA1A-4D05-84C0-0112AEB1494B}"/>
              </a:ext>
            </a:extLst>
          </p:cNvPr>
          <p:cNvSpPr txBox="1"/>
          <p:nvPr/>
        </p:nvSpPr>
        <p:spPr>
          <a:xfrm>
            <a:off x="3798278" y="122249"/>
            <a:ext cx="38773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/>
              <a:t>Auditory Transduction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799" y="710199"/>
            <a:ext cx="4328611" cy="2622260"/>
          </a:xfrm>
          <a:prstGeom prst="rect">
            <a:avLst/>
          </a:prstGeom>
        </p:spPr>
      </p:pic>
      <p:grpSp>
        <p:nvGrpSpPr>
          <p:cNvPr id="59" name="Group 58"/>
          <p:cNvGrpSpPr/>
          <p:nvPr/>
        </p:nvGrpSpPr>
        <p:grpSpPr>
          <a:xfrm>
            <a:off x="6844153" y="710199"/>
            <a:ext cx="3171482" cy="2622260"/>
            <a:chOff x="4967779" y="1292918"/>
            <a:chExt cx="3171482" cy="2622260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67779" y="1292918"/>
              <a:ext cx="3171482" cy="2622260"/>
            </a:xfrm>
            <a:prstGeom prst="rect">
              <a:avLst/>
            </a:prstGeom>
          </p:spPr>
        </p:pic>
        <p:cxnSp>
          <p:nvCxnSpPr>
            <p:cNvPr id="10" name="Straight Arrow Connector 9"/>
            <p:cNvCxnSpPr/>
            <p:nvPr/>
          </p:nvCxnSpPr>
          <p:spPr>
            <a:xfrm>
              <a:off x="5937160" y="2884867"/>
              <a:ext cx="296216" cy="2425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>
              <a:off x="6566586" y="3361386"/>
              <a:ext cx="413763" cy="21894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>
              <a:off x="7186987" y="3580327"/>
              <a:ext cx="37291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 flipH="1">
              <a:off x="6658377" y="1841679"/>
              <a:ext cx="231820" cy="2704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>
              <a:off x="6719552" y="2591471"/>
              <a:ext cx="260797" cy="36498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>
              <a:off x="7373443" y="3186964"/>
              <a:ext cx="302178" cy="392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 flipV="1">
              <a:off x="7837083" y="2773963"/>
              <a:ext cx="147818" cy="26545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 flipH="1">
              <a:off x="7186988" y="1975688"/>
              <a:ext cx="186455" cy="13152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/>
            <p:nvPr/>
          </p:nvCxnSpPr>
          <p:spPr>
            <a:xfrm>
              <a:off x="7238316" y="2435531"/>
              <a:ext cx="135127" cy="22037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>
              <a:off x="7559899" y="2773963"/>
              <a:ext cx="11572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/>
            <p:nvPr/>
          </p:nvCxnSpPr>
          <p:spPr>
            <a:xfrm flipH="1" flipV="1">
              <a:off x="6386639" y="2353961"/>
              <a:ext cx="85859" cy="38351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/>
            <p:nvPr/>
          </p:nvCxnSpPr>
          <p:spPr>
            <a:xfrm flipH="1" flipV="1">
              <a:off x="6546127" y="2855839"/>
              <a:ext cx="256368" cy="27155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8" name="Straight Arrow Connector 47"/>
            <p:cNvCxnSpPr/>
            <p:nvPr/>
          </p:nvCxnSpPr>
          <p:spPr>
            <a:xfrm flipH="1" flipV="1">
              <a:off x="7100912" y="2628370"/>
              <a:ext cx="175939" cy="19519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1" name="Straight Arrow Connector 50"/>
            <p:cNvCxnSpPr/>
            <p:nvPr/>
          </p:nvCxnSpPr>
          <p:spPr>
            <a:xfrm flipH="1" flipV="1">
              <a:off x="6980349" y="2270198"/>
              <a:ext cx="71446" cy="27551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/>
            <p:nvPr/>
          </p:nvCxnSpPr>
          <p:spPr>
            <a:xfrm flipH="1" flipV="1">
              <a:off x="6000945" y="3390415"/>
              <a:ext cx="359003" cy="21894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7" name="Straight Arrow Connector 56"/>
            <p:cNvCxnSpPr/>
            <p:nvPr/>
          </p:nvCxnSpPr>
          <p:spPr>
            <a:xfrm flipH="1" flipV="1">
              <a:off x="5544139" y="3288816"/>
              <a:ext cx="307708" cy="4494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92" name="Group 91"/>
          <p:cNvGrpSpPr/>
          <p:nvPr/>
        </p:nvGrpSpPr>
        <p:grpSpPr>
          <a:xfrm>
            <a:off x="198518" y="3433409"/>
            <a:ext cx="11792075" cy="3246141"/>
            <a:chOff x="399925" y="3548231"/>
            <a:chExt cx="11792075" cy="3246141"/>
          </a:xfrm>
        </p:grpSpPr>
        <p:grpSp>
          <p:nvGrpSpPr>
            <p:cNvPr id="74" name="Group 73"/>
            <p:cNvGrpSpPr/>
            <p:nvPr/>
          </p:nvGrpSpPr>
          <p:grpSpPr>
            <a:xfrm>
              <a:off x="399925" y="3555142"/>
              <a:ext cx="7082486" cy="3239230"/>
              <a:chOff x="3288268" y="3555142"/>
              <a:chExt cx="7082486" cy="3239230"/>
            </a:xfrm>
          </p:grpSpPr>
          <p:pic>
            <p:nvPicPr>
              <p:cNvPr id="62" name="Picture 61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88268" y="3622547"/>
                <a:ext cx="4705350" cy="3171825"/>
              </a:xfrm>
              <a:prstGeom prst="rect">
                <a:avLst/>
              </a:prstGeom>
            </p:spPr>
          </p:pic>
          <p:sp>
            <p:nvSpPr>
              <p:cNvPr id="61" name="TextBox 60"/>
              <p:cNvSpPr txBox="1"/>
              <p:nvPr/>
            </p:nvSpPr>
            <p:spPr>
              <a:xfrm>
                <a:off x="3288268" y="3555142"/>
                <a:ext cx="21711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>
                    <a:solidFill>
                      <a:srgbClr val="FFC000"/>
                    </a:solidFill>
                  </a:rPr>
                  <a:t>Looking from bottom</a:t>
                </a:r>
              </a:p>
            </p:txBody>
          </p:sp>
          <p:cxnSp>
            <p:nvCxnSpPr>
              <p:cNvPr id="64" name="Straight Arrow Connector 63"/>
              <p:cNvCxnSpPr/>
              <p:nvPr/>
            </p:nvCxnSpPr>
            <p:spPr>
              <a:xfrm flipH="1">
                <a:off x="6972726" y="4921740"/>
                <a:ext cx="1854424" cy="372030"/>
              </a:xfrm>
              <a:prstGeom prst="straightConnector1">
                <a:avLst/>
              </a:prstGeom>
              <a:ln w="508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/>
              <p:cNvCxnSpPr/>
              <p:nvPr/>
            </p:nvCxnSpPr>
            <p:spPr>
              <a:xfrm flipH="1" flipV="1">
                <a:off x="7007272" y="6039008"/>
                <a:ext cx="1595238" cy="272471"/>
              </a:xfrm>
              <a:prstGeom prst="straightConnector1">
                <a:avLst/>
              </a:prstGeom>
              <a:ln w="508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68" name="Straight Arrow Connector 67"/>
              <p:cNvCxnSpPr/>
              <p:nvPr/>
            </p:nvCxnSpPr>
            <p:spPr>
              <a:xfrm flipH="1" flipV="1">
                <a:off x="7064934" y="5705701"/>
                <a:ext cx="1620078" cy="28688"/>
              </a:xfrm>
              <a:prstGeom prst="straightConnector1">
                <a:avLst/>
              </a:prstGeom>
              <a:ln w="508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71" name="TextBox 70"/>
              <p:cNvSpPr txBox="1"/>
              <p:nvPr/>
            </p:nvSpPr>
            <p:spPr>
              <a:xfrm>
                <a:off x="8855531" y="4737074"/>
                <a:ext cx="15152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/>
                  <a:t>Scala </a:t>
                </a:r>
                <a:r>
                  <a:rPr lang="en-IN" err="1"/>
                  <a:t>Vestibuli</a:t>
                </a:r>
                <a:endParaRPr lang="en-IN"/>
              </a:p>
            </p:txBody>
          </p:sp>
          <p:sp>
            <p:nvSpPr>
              <p:cNvPr id="72" name="TextBox 71"/>
              <p:cNvSpPr txBox="1"/>
              <p:nvPr/>
            </p:nvSpPr>
            <p:spPr>
              <a:xfrm>
                <a:off x="8626556" y="6146320"/>
                <a:ext cx="15107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/>
                  <a:t>Scala Tympani</a:t>
                </a:r>
              </a:p>
            </p:txBody>
          </p:sp>
          <p:sp>
            <p:nvSpPr>
              <p:cNvPr id="73" name="TextBox 72"/>
              <p:cNvSpPr txBox="1"/>
              <p:nvPr/>
            </p:nvSpPr>
            <p:spPr>
              <a:xfrm>
                <a:off x="8699329" y="5521035"/>
                <a:ext cx="15007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/>
                  <a:t>Cochlear Duct</a:t>
                </a:r>
              </a:p>
            </p:txBody>
          </p:sp>
        </p:grpSp>
        <p:pic>
          <p:nvPicPr>
            <p:cNvPr id="75" name="Picture 7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431330" y="3548231"/>
              <a:ext cx="4760670" cy="3171825"/>
            </a:xfrm>
            <a:prstGeom prst="rect">
              <a:avLst/>
            </a:prstGeom>
          </p:spPr>
        </p:pic>
        <p:cxnSp>
          <p:nvCxnSpPr>
            <p:cNvPr id="85" name="Straight Arrow Connector 84"/>
            <p:cNvCxnSpPr/>
            <p:nvPr/>
          </p:nvCxnSpPr>
          <p:spPr>
            <a:xfrm>
              <a:off x="7482411" y="4984095"/>
              <a:ext cx="1858851" cy="309675"/>
            </a:xfrm>
            <a:prstGeom prst="straightConnector1">
              <a:avLst/>
            </a:prstGeom>
            <a:ln w="50800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8" name="Straight Arrow Connector 87"/>
            <p:cNvCxnSpPr>
              <a:stCxn id="72" idx="3"/>
            </p:cNvCxnSpPr>
            <p:nvPr/>
          </p:nvCxnSpPr>
          <p:spPr>
            <a:xfrm flipV="1">
              <a:off x="7249011" y="6311479"/>
              <a:ext cx="2114464" cy="19507"/>
            </a:xfrm>
            <a:prstGeom prst="straightConnector1">
              <a:avLst/>
            </a:prstGeom>
            <a:ln w="50800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0" name="Straight Arrow Connector 89"/>
            <p:cNvCxnSpPr/>
            <p:nvPr/>
          </p:nvCxnSpPr>
          <p:spPr>
            <a:xfrm>
              <a:off x="7354604" y="5714883"/>
              <a:ext cx="1847256" cy="77988"/>
            </a:xfrm>
            <a:prstGeom prst="straightConnector1">
              <a:avLst/>
            </a:prstGeom>
            <a:ln w="50800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7990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360479" y="172697"/>
            <a:ext cx="4823502" cy="5286147"/>
            <a:chOff x="970078" y="869383"/>
            <a:chExt cx="4823502" cy="5286147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70078" y="869383"/>
              <a:ext cx="4823502" cy="5286147"/>
            </a:xfrm>
            <a:prstGeom prst="rect">
              <a:avLst/>
            </a:prstGeom>
          </p:spPr>
        </p:pic>
        <p:sp>
          <p:nvSpPr>
            <p:cNvPr id="6" name="Rectangle 5"/>
            <p:cNvSpPr/>
            <p:nvPr/>
          </p:nvSpPr>
          <p:spPr>
            <a:xfrm>
              <a:off x="3599543" y="3889829"/>
              <a:ext cx="348342" cy="23222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833893" y="4082362"/>
              <a:ext cx="197759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400" b="1">
                  <a:solidFill>
                    <a:srgbClr val="FFC000"/>
                  </a:solidFill>
                </a:rPr>
                <a:t>Organ of </a:t>
              </a:r>
              <a:r>
                <a:rPr lang="en-IN" sz="2400" b="1" err="1">
                  <a:solidFill>
                    <a:srgbClr val="FFC000"/>
                  </a:solidFill>
                </a:rPr>
                <a:t>Corti</a:t>
              </a:r>
              <a:endParaRPr lang="en-IN" sz="2400" b="1">
                <a:solidFill>
                  <a:srgbClr val="FFC000"/>
                </a:solidFill>
              </a:endParaRPr>
            </a:p>
          </p:txBody>
        </p:sp>
      </p:grp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836" y="3643162"/>
            <a:ext cx="3603008" cy="2235199"/>
          </a:xfrm>
          <a:prstGeom prst="rect">
            <a:avLst/>
          </a:prstGeom>
        </p:spPr>
      </p:pic>
      <p:cxnSp>
        <p:nvCxnSpPr>
          <p:cNvPr id="10" name="Straight Arrow Connector 9"/>
          <p:cNvCxnSpPr/>
          <p:nvPr/>
        </p:nvCxnSpPr>
        <p:spPr>
          <a:xfrm flipV="1">
            <a:off x="3338286" y="172696"/>
            <a:ext cx="2977807" cy="3020448"/>
          </a:xfrm>
          <a:prstGeom prst="straightConnector1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3338286" y="3064374"/>
            <a:ext cx="2977807" cy="360998"/>
          </a:xfrm>
          <a:prstGeom prst="straightConnector1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6093" y="177347"/>
            <a:ext cx="4444837" cy="2887027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8262741" y="878114"/>
            <a:ext cx="634517" cy="3846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4" name="Straight Arrow Connector 23"/>
          <p:cNvCxnSpPr/>
          <p:nvPr/>
        </p:nvCxnSpPr>
        <p:spPr>
          <a:xfrm flipH="1">
            <a:off x="6562836" y="1262743"/>
            <a:ext cx="1699906" cy="2380419"/>
          </a:xfrm>
          <a:prstGeom prst="straightConnector1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8897258" y="1262743"/>
            <a:ext cx="1268586" cy="2380419"/>
          </a:xfrm>
          <a:prstGeom prst="straightConnector1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864892" y="380012"/>
            <a:ext cx="2095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>
                <a:solidFill>
                  <a:srgbClr val="FFC000"/>
                </a:solidFill>
              </a:rPr>
              <a:t>Tectorial membrane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69022" y="2065853"/>
            <a:ext cx="14573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>
                <a:solidFill>
                  <a:srgbClr val="FFC000"/>
                </a:solidFill>
              </a:rPr>
              <a:t>Basilar membrane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91638" y="1433869"/>
            <a:ext cx="1132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>
                <a:solidFill>
                  <a:srgbClr val="FFC000"/>
                </a:solidFill>
              </a:rPr>
              <a:t>Perilymph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55480" y="2639147"/>
            <a:ext cx="1247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err="1">
                <a:solidFill>
                  <a:srgbClr val="FFC000"/>
                </a:solidFill>
              </a:rPr>
              <a:t>Endolymph</a:t>
            </a:r>
            <a:endParaRPr lang="en-IN">
              <a:solidFill>
                <a:srgbClr val="FFC000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25521" y="4488274"/>
            <a:ext cx="1132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>
                <a:solidFill>
                  <a:srgbClr val="FFC000"/>
                </a:solidFill>
              </a:rPr>
              <a:t>Perilymph</a:t>
            </a:r>
          </a:p>
        </p:txBody>
      </p:sp>
      <p:sp>
        <p:nvSpPr>
          <p:cNvPr id="37" name="Oval 36"/>
          <p:cNvSpPr/>
          <p:nvPr/>
        </p:nvSpPr>
        <p:spPr>
          <a:xfrm>
            <a:off x="8039279" y="4475395"/>
            <a:ext cx="679718" cy="4958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0486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705" y="481615"/>
            <a:ext cx="8438462" cy="490175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91351" y="5589430"/>
            <a:ext cx="8079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>
                <a:solidFill>
                  <a:srgbClr val="C00000"/>
                </a:solidFill>
              </a:rPr>
              <a:t>Entire Basilar membrane does not vibrate simultaneously - - </a:t>
            </a:r>
            <a:r>
              <a:rPr lang="en-IN" b="1" err="1">
                <a:solidFill>
                  <a:srgbClr val="C00000"/>
                </a:solidFill>
              </a:rPr>
              <a:t>Tonotopic</a:t>
            </a:r>
            <a:r>
              <a:rPr lang="en-IN" b="1">
                <a:solidFill>
                  <a:srgbClr val="C00000"/>
                </a:solidFill>
              </a:rPr>
              <a:t> organisation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43269" y="758386"/>
            <a:ext cx="23230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>
                <a:solidFill>
                  <a:srgbClr val="FFC000"/>
                </a:solidFill>
              </a:rPr>
              <a:t>Lower frequency</a:t>
            </a:r>
          </a:p>
        </p:txBody>
      </p:sp>
    </p:spTree>
    <p:extLst>
      <p:ext uri="{BB962C8B-B14F-4D97-AF65-F5344CB8AC3E}">
        <p14:creationId xmlns:p14="http://schemas.microsoft.com/office/powerpoint/2010/main" val="4023871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7AE7E6-CA1A-4D05-84C0-0112AEB1494B}"/>
              </a:ext>
            </a:extLst>
          </p:cNvPr>
          <p:cNvSpPr txBox="1"/>
          <p:nvPr/>
        </p:nvSpPr>
        <p:spPr>
          <a:xfrm>
            <a:off x="3798278" y="379829"/>
            <a:ext cx="43863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/>
              <a:t>Physiology of Equilibrium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CB5B9E-E54B-4A99-869A-AE3E86FF1FEA}"/>
              </a:ext>
            </a:extLst>
          </p:cNvPr>
          <p:cNvSpPr txBox="1"/>
          <p:nvPr/>
        </p:nvSpPr>
        <p:spPr>
          <a:xfrm>
            <a:off x="1052743" y="1613393"/>
            <a:ext cx="69349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/>
              <a:t>There are two types of equilibrium or balance: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034F2F-18B2-4CE5-B764-11A53947EA38}"/>
              </a:ext>
            </a:extLst>
          </p:cNvPr>
          <p:cNvSpPr txBox="1"/>
          <p:nvPr/>
        </p:nvSpPr>
        <p:spPr>
          <a:xfrm flipH="1">
            <a:off x="1410279" y="2588452"/>
            <a:ext cx="9379640" cy="34163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400" b="1"/>
              <a:t>Static equilibrium</a:t>
            </a:r>
          </a:p>
          <a:p>
            <a:pPr marL="285750" indent="-285750">
              <a:buFontTx/>
              <a:buChar char="-"/>
            </a:pPr>
            <a:r>
              <a:rPr lang="en-IN" sz="2400"/>
              <a:t>Refers to the maintenance of the position of the body (mainly the head) relative to the force of gravity, including tilting of head and linear acceleration.</a:t>
            </a:r>
          </a:p>
          <a:p>
            <a:endParaRPr lang="en-IN" sz="2400"/>
          </a:p>
          <a:p>
            <a:r>
              <a:rPr lang="en-IN" sz="2400" b="1"/>
              <a:t>Dynamic equilibrium</a:t>
            </a:r>
          </a:p>
          <a:p>
            <a:pPr marL="285750" indent="-285750">
              <a:buFontTx/>
              <a:buChar char="-"/>
            </a:pPr>
            <a:r>
              <a:rPr lang="en-IN" sz="2400"/>
              <a:t>Refers to the maintenance of the position of the body (mainly the head) in response to sudden movements, such as rotational acceleration or deceleration.</a:t>
            </a:r>
          </a:p>
        </p:txBody>
      </p:sp>
    </p:spTree>
    <p:extLst>
      <p:ext uri="{BB962C8B-B14F-4D97-AF65-F5344CB8AC3E}">
        <p14:creationId xmlns:p14="http://schemas.microsoft.com/office/powerpoint/2010/main" val="1041920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645E099-822B-490C-84B8-8CA83CBFC2A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8"/>
          <a:stretch/>
        </p:blipFill>
        <p:spPr>
          <a:xfrm>
            <a:off x="1758462" y="854995"/>
            <a:ext cx="8293968" cy="57568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C21BF62-6305-4E3C-B521-835AE4276465}"/>
              </a:ext>
            </a:extLst>
          </p:cNvPr>
          <p:cNvSpPr txBox="1"/>
          <p:nvPr/>
        </p:nvSpPr>
        <p:spPr>
          <a:xfrm>
            <a:off x="5096570" y="206426"/>
            <a:ext cx="16177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/>
              <a:t>Maculae</a:t>
            </a:r>
          </a:p>
        </p:txBody>
      </p:sp>
    </p:spTree>
    <p:extLst>
      <p:ext uri="{BB962C8B-B14F-4D97-AF65-F5344CB8AC3E}">
        <p14:creationId xmlns:p14="http://schemas.microsoft.com/office/powerpoint/2010/main" val="27512739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1D6B3E7-B6CA-49F3-B6E0-EE507458E3AF}"/>
              </a:ext>
            </a:extLst>
          </p:cNvPr>
          <p:cNvSpPr txBox="1"/>
          <p:nvPr/>
        </p:nvSpPr>
        <p:spPr>
          <a:xfrm>
            <a:off x="679327" y="859496"/>
            <a:ext cx="10972800" cy="53245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r>
              <a:rPr lang="en-IN" sz="2000">
                <a:cs typeface="Calibri"/>
              </a:rPr>
              <a:t>The walls of both the utricle and the saccule contain a small, thickened region called a </a:t>
            </a:r>
            <a:r>
              <a:rPr lang="en-IN" sz="2000" b="1">
                <a:cs typeface="Calibri"/>
              </a:rPr>
              <a:t>macula.</a:t>
            </a:r>
            <a:endParaRPr lang="en-US"/>
          </a:p>
          <a:p>
            <a:endParaRPr lang="en-IN" sz="2000" b="1"/>
          </a:p>
          <a:p>
            <a:r>
              <a:rPr lang="en-IN" sz="2000"/>
              <a:t>The two </a:t>
            </a:r>
            <a:r>
              <a:rPr lang="en-IN" sz="2000" i="1"/>
              <a:t>maculae</a:t>
            </a:r>
            <a:r>
              <a:rPr lang="en-IN" sz="2000"/>
              <a:t> (perpendicular to each other) are the receptors for </a:t>
            </a:r>
            <a:r>
              <a:rPr lang="en-IN" sz="2000" b="1"/>
              <a:t>static equilibrium</a:t>
            </a:r>
            <a:r>
              <a:rPr lang="en-IN" sz="2000"/>
              <a:t>.</a:t>
            </a:r>
            <a:endParaRPr lang="en-IN" sz="2000">
              <a:cs typeface="Calibri"/>
            </a:endParaRPr>
          </a:p>
          <a:p>
            <a:endParaRPr lang="en-IN" sz="2000"/>
          </a:p>
          <a:p>
            <a:r>
              <a:rPr lang="en-IN" sz="2000"/>
              <a:t>They </a:t>
            </a:r>
            <a:r>
              <a:rPr lang="en-IN" sz="2000" b="1"/>
              <a:t>provide sensory information</a:t>
            </a:r>
            <a:r>
              <a:rPr lang="en-IN" sz="2000"/>
              <a:t> on the </a:t>
            </a:r>
            <a:r>
              <a:rPr lang="en-IN" sz="2000" b="1"/>
              <a:t>position of the head </a:t>
            </a:r>
            <a:r>
              <a:rPr lang="en-IN" sz="2000"/>
              <a:t>in space and thus are essential for maintaining appropriate posture and balance.</a:t>
            </a:r>
            <a:endParaRPr lang="en-IN" sz="2000">
              <a:cs typeface="Calibri"/>
            </a:endParaRPr>
          </a:p>
          <a:p>
            <a:endParaRPr lang="en-IN" sz="2000"/>
          </a:p>
          <a:p>
            <a:r>
              <a:rPr lang="en-IN" sz="2000"/>
              <a:t>They also can sense </a:t>
            </a:r>
            <a:r>
              <a:rPr lang="en-IN" sz="2000" b="1"/>
              <a:t>linear acceleration or deceleration</a:t>
            </a:r>
            <a:r>
              <a:rPr lang="en-IN" sz="2000"/>
              <a:t>.</a:t>
            </a:r>
            <a:endParaRPr lang="en-IN" sz="2000">
              <a:cs typeface="Calibri"/>
            </a:endParaRPr>
          </a:p>
          <a:p>
            <a:endParaRPr lang="en-IN" sz="2000"/>
          </a:p>
          <a:p>
            <a:r>
              <a:rPr lang="en-IN" sz="2000"/>
              <a:t>The macula contains two types of cells: </a:t>
            </a:r>
            <a:r>
              <a:rPr lang="en-IN" sz="2000" b="1"/>
              <a:t>Hair cells </a:t>
            </a:r>
            <a:r>
              <a:rPr lang="en-IN" sz="2000"/>
              <a:t>and </a:t>
            </a:r>
            <a:r>
              <a:rPr lang="en-IN" sz="2000" b="1"/>
              <a:t>Support cells</a:t>
            </a:r>
            <a:r>
              <a:rPr lang="en-IN" sz="2000"/>
              <a:t>.</a:t>
            </a:r>
            <a:endParaRPr lang="en-IN" sz="2000">
              <a:cs typeface="Calibri"/>
            </a:endParaRPr>
          </a:p>
          <a:p>
            <a:endParaRPr lang="en-IN" sz="2000"/>
          </a:p>
          <a:p>
            <a:r>
              <a:rPr lang="en-IN" sz="2000"/>
              <a:t>Each hair cell contains </a:t>
            </a:r>
            <a:r>
              <a:rPr lang="en-IN" sz="2000" b="1"/>
              <a:t>40-80 stereocilia </a:t>
            </a:r>
            <a:r>
              <a:rPr lang="en-IN" sz="2000"/>
              <a:t>plus</a:t>
            </a:r>
            <a:r>
              <a:rPr lang="en-IN" sz="2000" b="1"/>
              <a:t> one kinocilium, </a:t>
            </a:r>
            <a:r>
              <a:rPr lang="en-IN" sz="2000"/>
              <a:t>collectively called </a:t>
            </a:r>
            <a:r>
              <a:rPr lang="en-IN" sz="2000" b="1"/>
              <a:t>hair bundle.</a:t>
            </a:r>
            <a:endParaRPr lang="en-IN" sz="2000"/>
          </a:p>
          <a:p>
            <a:endParaRPr lang="en-IN" sz="2000"/>
          </a:p>
          <a:p>
            <a:r>
              <a:rPr lang="en-IN" sz="2000"/>
              <a:t>Support cells secrete the thick, gelatinous, G-protein layer, called </a:t>
            </a:r>
            <a:r>
              <a:rPr lang="en-IN" sz="2000" b="1"/>
              <a:t>the otolithic membrane</a:t>
            </a:r>
            <a:r>
              <a:rPr lang="en-IN" sz="2000"/>
              <a:t>, that rests on the hair cells.</a:t>
            </a:r>
            <a:endParaRPr lang="en-IN" sz="2000">
              <a:cs typeface="Calibri"/>
            </a:endParaRPr>
          </a:p>
          <a:p>
            <a:endParaRPr lang="en-IN" sz="2000" b="1"/>
          </a:p>
          <a:p>
            <a:r>
              <a:rPr lang="en-IN" sz="2000"/>
              <a:t>At the top of the otolithic membrane floats calcium carbonate crystals called </a:t>
            </a:r>
            <a:r>
              <a:rPr lang="en-IN" sz="2000" b="1"/>
              <a:t>otoliths</a:t>
            </a:r>
            <a:r>
              <a:rPr lang="en-IN" sz="2000"/>
              <a:t>.</a:t>
            </a:r>
            <a:endParaRPr lang="en-IN" sz="20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EC15AB-0A2C-4A0A-BEF2-8D585DB8FAC9}"/>
              </a:ext>
            </a:extLst>
          </p:cNvPr>
          <p:cNvSpPr txBox="1"/>
          <p:nvPr/>
        </p:nvSpPr>
        <p:spPr>
          <a:xfrm>
            <a:off x="3956884" y="206426"/>
            <a:ext cx="3851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/>
              <a:t>Maculae: salient features</a:t>
            </a:r>
          </a:p>
        </p:txBody>
      </p:sp>
    </p:spTree>
    <p:extLst>
      <p:ext uri="{BB962C8B-B14F-4D97-AF65-F5344CB8AC3E}">
        <p14:creationId xmlns:p14="http://schemas.microsoft.com/office/powerpoint/2010/main" val="3752278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B7D2928-A915-4C52-8C1E-F39664C148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427" y="766121"/>
            <a:ext cx="6486381" cy="55681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01E5A4-AEEF-4DBC-831C-1DB48BC1B18B}"/>
              </a:ext>
            </a:extLst>
          </p:cNvPr>
          <p:cNvSpPr txBox="1"/>
          <p:nvPr/>
        </p:nvSpPr>
        <p:spPr>
          <a:xfrm>
            <a:off x="8002887" y="766121"/>
            <a:ext cx="382641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/>
              <a:t>If the head is tilted forward, the otolithic membrane (along with the otoliths) is pulled by gravity.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/>
              <a:t>It slides ‘downhill’ over the hair cells, in the direction of the tilt, bending the hair bundles.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/>
              <a:t>This causes the hair cells depolarize or repolarize, facilitating release of neurotransmitter at faster or slower rate.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/>
              <a:t>The hair cells synapse with first order sensory neurons in the vestibulocochlear nerve.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/>
              <a:t>The also synapse with motor neurons that regulate sensitivity of the hair cells.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020824-B77D-4DE4-951D-42433CC3673D}"/>
              </a:ext>
            </a:extLst>
          </p:cNvPr>
          <p:cNvSpPr txBox="1"/>
          <p:nvPr/>
        </p:nvSpPr>
        <p:spPr>
          <a:xfrm>
            <a:off x="3975652" y="119273"/>
            <a:ext cx="46451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/>
              <a:t>Macula: its role in static equilibrium</a:t>
            </a:r>
          </a:p>
        </p:txBody>
      </p:sp>
    </p:spTree>
    <p:extLst>
      <p:ext uri="{BB962C8B-B14F-4D97-AF65-F5344CB8AC3E}">
        <p14:creationId xmlns:p14="http://schemas.microsoft.com/office/powerpoint/2010/main" val="35348978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B7A3B-212F-D693-FAA8-04BCC6B6A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B6AAA-67FF-4F9F-0DF0-AFDC39D57B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3049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0D18F05-250F-43AA-B8FD-AD7950B0E996}"/>
              </a:ext>
            </a:extLst>
          </p:cNvPr>
          <p:cNvSpPr txBox="1"/>
          <p:nvPr/>
        </p:nvSpPr>
        <p:spPr>
          <a:xfrm>
            <a:off x="3975653" y="397565"/>
            <a:ext cx="44262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/>
              <a:t>The Three </a:t>
            </a:r>
            <a:r>
              <a:rPr lang="en-IN" sz="2800" err="1"/>
              <a:t>Semicircular</a:t>
            </a:r>
            <a:r>
              <a:rPr lang="en-IN" sz="2800"/>
              <a:t> Ducts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2BC413-BA3B-4AC3-9666-4C54EB8DFC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50" y="1170124"/>
            <a:ext cx="10858500" cy="467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3403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C2606D7-F213-416D-A52C-3CCEAD57CB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066" y="749874"/>
            <a:ext cx="7384496" cy="56774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2E683A8-85C3-477E-AC0E-7D05183F8DC2}"/>
              </a:ext>
            </a:extLst>
          </p:cNvPr>
          <p:cNvSpPr txBox="1"/>
          <p:nvPr/>
        </p:nvSpPr>
        <p:spPr>
          <a:xfrm>
            <a:off x="3034746" y="79516"/>
            <a:ext cx="61624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err="1"/>
              <a:t>Semicircular</a:t>
            </a:r>
            <a:r>
              <a:rPr lang="en-IN" sz="2400"/>
              <a:t> ducts: role in dynamic equilibrium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2D2556-1865-4B39-AD92-B74F8D4F3775}"/>
              </a:ext>
            </a:extLst>
          </p:cNvPr>
          <p:cNvSpPr txBox="1"/>
          <p:nvPr/>
        </p:nvSpPr>
        <p:spPr>
          <a:xfrm>
            <a:off x="8560903" y="649792"/>
            <a:ext cx="3286539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/>
              <a:t>The three ducts function in dynamic equilibrium.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IN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/>
              <a:t>The ducts lie at right angles to one another in three mutually perpendicular plane.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IN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/>
              <a:t>This positioning permits detection of rotational acceleration or deceleration.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IN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/>
              <a:t>In the ampulla, there is a small elevation called </a:t>
            </a:r>
            <a:r>
              <a:rPr lang="en-IN" b="1"/>
              <a:t>crista</a:t>
            </a:r>
            <a:r>
              <a:rPr lang="en-IN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IN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/>
              <a:t>Covering the crista is a mass of gelatinous material called the </a:t>
            </a:r>
            <a:r>
              <a:rPr lang="en-IN" b="1"/>
              <a:t>cupula</a:t>
            </a:r>
            <a:r>
              <a:rPr lang="en-IN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IN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/>
              <a:t>If the head is rotated, cupula is pushed over thereby stimulating the hair cells.</a:t>
            </a:r>
          </a:p>
        </p:txBody>
      </p:sp>
    </p:spTree>
    <p:extLst>
      <p:ext uri="{BB962C8B-B14F-4D97-AF65-F5344CB8AC3E}">
        <p14:creationId xmlns:p14="http://schemas.microsoft.com/office/powerpoint/2010/main" val="8293634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77C9DD0-30ED-47C0-BB59-7089944CF502}"/>
              </a:ext>
            </a:extLst>
          </p:cNvPr>
          <p:cNvSpPr txBox="1"/>
          <p:nvPr/>
        </p:nvSpPr>
        <p:spPr>
          <a:xfrm>
            <a:off x="3988904" y="397567"/>
            <a:ext cx="42270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>
                <a:solidFill>
                  <a:srgbClr val="FF0000"/>
                </a:solidFill>
              </a:rPr>
              <a:t>Quick test on functionality: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FE9DC3-1335-47AD-B272-B1082AAAADCD}"/>
              </a:ext>
            </a:extLst>
          </p:cNvPr>
          <p:cNvSpPr txBox="1"/>
          <p:nvPr/>
        </p:nvSpPr>
        <p:spPr>
          <a:xfrm>
            <a:off x="1457739" y="1391483"/>
            <a:ext cx="8544327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>
                <a:solidFill>
                  <a:schemeClr val="accent3">
                    <a:lumMod val="50000"/>
                  </a:schemeClr>
                </a:solidFill>
              </a:rPr>
              <a:t>Auricle ?</a:t>
            </a:r>
          </a:p>
          <a:p>
            <a:endParaRPr lang="en-IN" sz="2400">
              <a:solidFill>
                <a:schemeClr val="accent3">
                  <a:lumMod val="50000"/>
                </a:schemeClr>
              </a:solidFill>
            </a:endParaRPr>
          </a:p>
          <a:p>
            <a:r>
              <a:rPr lang="en-IN" sz="2400">
                <a:solidFill>
                  <a:schemeClr val="accent3">
                    <a:lumMod val="50000"/>
                  </a:schemeClr>
                </a:solidFill>
              </a:rPr>
              <a:t>	Eardrum ?</a:t>
            </a:r>
          </a:p>
          <a:p>
            <a:endParaRPr lang="en-IN" sz="2400">
              <a:solidFill>
                <a:schemeClr val="accent3">
                  <a:lumMod val="50000"/>
                </a:schemeClr>
              </a:solidFill>
            </a:endParaRPr>
          </a:p>
          <a:p>
            <a:r>
              <a:rPr lang="en-IN" sz="2400">
                <a:solidFill>
                  <a:schemeClr val="accent3">
                    <a:lumMod val="50000"/>
                  </a:schemeClr>
                </a:solidFill>
              </a:rPr>
              <a:t>		Auditory </a:t>
            </a:r>
            <a:r>
              <a:rPr lang="en-IN" sz="2400" err="1">
                <a:solidFill>
                  <a:schemeClr val="accent3">
                    <a:lumMod val="50000"/>
                  </a:schemeClr>
                </a:solidFill>
              </a:rPr>
              <a:t>ossicles</a:t>
            </a:r>
            <a:r>
              <a:rPr lang="en-IN" sz="2400">
                <a:solidFill>
                  <a:schemeClr val="accent3">
                    <a:lumMod val="50000"/>
                  </a:schemeClr>
                </a:solidFill>
              </a:rPr>
              <a:t> ?</a:t>
            </a:r>
          </a:p>
          <a:p>
            <a:endParaRPr lang="en-IN" sz="2400">
              <a:solidFill>
                <a:schemeClr val="accent3">
                  <a:lumMod val="50000"/>
                </a:schemeClr>
              </a:solidFill>
            </a:endParaRPr>
          </a:p>
          <a:p>
            <a:r>
              <a:rPr lang="en-IN" sz="2400">
                <a:solidFill>
                  <a:schemeClr val="accent3">
                    <a:lumMod val="50000"/>
                  </a:schemeClr>
                </a:solidFill>
              </a:rPr>
              <a:t>			Eustachian tube ?</a:t>
            </a:r>
          </a:p>
          <a:p>
            <a:endParaRPr lang="en-IN" sz="2400">
              <a:solidFill>
                <a:schemeClr val="accent3">
                  <a:lumMod val="50000"/>
                </a:schemeClr>
              </a:solidFill>
            </a:endParaRPr>
          </a:p>
          <a:p>
            <a:r>
              <a:rPr lang="en-IN" sz="2400">
                <a:solidFill>
                  <a:schemeClr val="accent3">
                    <a:lumMod val="50000"/>
                  </a:schemeClr>
                </a:solidFill>
              </a:rPr>
              <a:t>					Cochlea ?</a:t>
            </a:r>
          </a:p>
          <a:p>
            <a:endParaRPr lang="en-IN" sz="2400">
              <a:solidFill>
                <a:schemeClr val="accent3">
                  <a:lumMod val="50000"/>
                </a:schemeClr>
              </a:solidFill>
            </a:endParaRPr>
          </a:p>
          <a:p>
            <a:r>
              <a:rPr lang="en-IN" sz="2400">
                <a:solidFill>
                  <a:schemeClr val="accent3">
                    <a:lumMod val="50000"/>
                  </a:schemeClr>
                </a:solidFill>
              </a:rPr>
              <a:t>						Vestibular apparatus:</a:t>
            </a:r>
          </a:p>
          <a:p>
            <a:r>
              <a:rPr lang="en-IN" sz="2400">
                <a:solidFill>
                  <a:schemeClr val="accent3">
                    <a:lumMod val="50000"/>
                  </a:schemeClr>
                </a:solidFill>
              </a:rPr>
              <a:t>  						 - Utricle and Saccule ?</a:t>
            </a:r>
          </a:p>
          <a:p>
            <a:r>
              <a:rPr lang="en-IN" sz="2400">
                <a:solidFill>
                  <a:schemeClr val="accent3">
                    <a:lumMod val="50000"/>
                  </a:schemeClr>
                </a:solidFill>
              </a:rPr>
              <a:t>  						 - </a:t>
            </a:r>
            <a:r>
              <a:rPr lang="en-IN" sz="2400" err="1">
                <a:solidFill>
                  <a:schemeClr val="accent3">
                    <a:lumMod val="50000"/>
                  </a:schemeClr>
                </a:solidFill>
              </a:rPr>
              <a:t>Semicircular</a:t>
            </a:r>
            <a:r>
              <a:rPr lang="en-IN" sz="2400">
                <a:solidFill>
                  <a:schemeClr val="accent3">
                    <a:lumMod val="50000"/>
                  </a:schemeClr>
                </a:solidFill>
              </a:rPr>
              <a:t> ducts ?</a:t>
            </a:r>
          </a:p>
        </p:txBody>
      </p:sp>
    </p:spTree>
    <p:extLst>
      <p:ext uri="{BB962C8B-B14F-4D97-AF65-F5344CB8AC3E}">
        <p14:creationId xmlns:p14="http://schemas.microsoft.com/office/powerpoint/2010/main" val="25403842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52622627FE0BB42A7311AF50D73D144" ma:contentTypeVersion="10" ma:contentTypeDescription="Create a new document." ma:contentTypeScope="" ma:versionID="c7caf746f9f59231fcc88430109f7c93">
  <xsd:schema xmlns:xsd="http://www.w3.org/2001/XMLSchema" xmlns:xs="http://www.w3.org/2001/XMLSchema" xmlns:p="http://schemas.microsoft.com/office/2006/metadata/properties" xmlns:ns2="f3d90b6b-40ba-4cf1-9177-eadded3cce4b" xmlns:ns3="469ac0c8-6c93-45a5-801f-5dae600c78f6" targetNamespace="http://schemas.microsoft.com/office/2006/metadata/properties" ma:root="true" ma:fieldsID="d77bf9fd42b4d7e102237062b1ace12d" ns2:_="" ns3:_="">
    <xsd:import namespace="f3d90b6b-40ba-4cf1-9177-eadded3cce4b"/>
    <xsd:import namespace="469ac0c8-6c93-45a5-801f-5dae600c78f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SearchPropertie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3d90b6b-40ba-4cf1-9177-eadded3cce4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9ac0c8-6c93-45a5-801f-5dae600c78f6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9E2D31B-2ED2-4CCF-AC42-A09FECF66864}">
  <ds:schemaRefs>
    <ds:schemaRef ds:uri="469ac0c8-6c93-45a5-801f-5dae600c78f6"/>
    <ds:schemaRef ds:uri="f3d90b6b-40ba-4cf1-9177-eadded3cce4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4CAFE0B0-CE66-40CD-8EFD-9852DBB053C6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05884415-D922-41BA-91E7-1A0C086A1F6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Bunty pc</dc:creator>
  <cp:revision>1</cp:revision>
  <dcterms:created xsi:type="dcterms:W3CDTF">2018-04-18T17:46:14Z</dcterms:created>
  <dcterms:modified xsi:type="dcterms:W3CDTF">2024-04-24T13:17:29Z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0x010100252622627FE0BB42A7311AF50D73D144</vt:lpwstr>
  </property>
</Properties>
</file>