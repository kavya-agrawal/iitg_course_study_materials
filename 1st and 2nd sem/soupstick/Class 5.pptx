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sldIdLst>
    <p:sldId id="258" r:id="rId5"/>
    <p:sldId id="257" r:id="rId6"/>
    <p:sldId id="265" r:id="rId7"/>
    <p:sldId id="264" r:id="rId8"/>
    <p:sldId id="259" r:id="rId9"/>
    <p:sldId id="262" r:id="rId10"/>
    <p:sldId id="261" r:id="rId11"/>
    <p:sldId id="260"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99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0C04597-2AFD-16E5-5029-DF78F365B83C}" v="3" dt="2024-04-23T20:24:52.651"/>
    <p1510:client id="{63085098-4973-369D-A639-CC26C15FD079}" v="75" dt="2024-04-23T11:09:18.998"/>
    <p1510:client id="{6FA84181-CD78-CBE7-699E-C13CD4966A6D}" v="21" dt="2024-04-22T17:30:00.434"/>
    <p1510:client id="{98CE09F3-C6AD-9F93-ADA2-38D491987ECF}" v="3" dt="2024-04-24T10:47:43.975"/>
    <p1510:client id="{B44709D8-B476-D729-C6AD-EB453CDD58D7}" v="1" dt="2024-04-23T06:31:23.592"/>
    <p1510:client id="{C2104E02-7548-4901-AB8B-220EA4978D47}" v="3" dt="2024-04-22T14:54:33.904"/>
    <p1510:client id="{C6ADCE24-EBCF-4640-8B5C-640C350E1FAA}" v="17" dt="2024-04-23T10:29:21.277"/>
    <p1510:client id="{FBB02C54-0110-40D3-E595-C6A6CA714FD7}" v="1" dt="2024-04-24T06:26:24.02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presProps" Target="presProps.xml"/><Relationship Id="rId18" Type="http://schemas.microsoft.com/office/2015/10/relationships/revisionInfo" Target="revisionInfo.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microsoft.com/office/2016/11/relationships/changesInfo" Target="changesInfos/changesInfo1.xml"/><Relationship Id="rId2" Type="http://schemas.openxmlformats.org/officeDocument/2006/relationships/customXml" Target="../customXml/item2.xml"/><Relationship Id="rId16"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theme" Target="theme/theme1.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HIRSHENDU SEN GUPTA" userId="S::g.shirshendu@iitg.ac.in::16ab58be-1134-43e9-88a7-8c786d2e99f0" providerId="AD" clId="Web-{66465664-2F86-474A-8ED6-1730DCC35EA9}"/>
    <pc:docChg chg="modSld">
      <pc:chgData name="SHIRSHENDU SEN GUPTA" userId="S::g.shirshendu@iitg.ac.in::16ab58be-1134-43e9-88a7-8c786d2e99f0" providerId="AD" clId="Web-{66465664-2F86-474A-8ED6-1730DCC35EA9}" dt="2024-04-16T07:06:32.250" v="0" actId="1076"/>
      <pc:docMkLst>
        <pc:docMk/>
      </pc:docMkLst>
      <pc:sldChg chg="modSp">
        <pc:chgData name="SHIRSHENDU SEN GUPTA" userId="S::g.shirshendu@iitg.ac.in::16ab58be-1134-43e9-88a7-8c786d2e99f0" providerId="AD" clId="Web-{66465664-2F86-474A-8ED6-1730DCC35EA9}" dt="2024-04-16T07:06:32.250" v="0" actId="1076"/>
        <pc:sldMkLst>
          <pc:docMk/>
          <pc:sldMk cId="733451124" sldId="264"/>
        </pc:sldMkLst>
        <pc:picChg chg="mod">
          <ac:chgData name="SHIRSHENDU SEN GUPTA" userId="S::g.shirshendu@iitg.ac.in::16ab58be-1134-43e9-88a7-8c786d2e99f0" providerId="AD" clId="Web-{66465664-2F86-474A-8ED6-1730DCC35EA9}" dt="2024-04-16T07:06:32.250" v="0" actId="1076"/>
          <ac:picMkLst>
            <pc:docMk/>
            <pc:sldMk cId="733451124" sldId="264"/>
            <ac:picMk id="2050" creationId="{19F5298E-49E2-49E6-AC76-5D66D528555A}"/>
          </ac:picMkLst>
        </pc:picChg>
      </pc:sldChg>
    </pc:docChg>
  </pc:docChgLst>
  <pc:docChgLst>
    <pc:chgData name="VADLAPALLI KIREETI BABU" userId="S::b.vadlapalli@iitg.ac.in::068cf854-f30c-4fdd-ae21-3868981c8130" providerId="AD" clId="Web-{98CE09F3-C6AD-9F93-ADA2-38D491987ECF}"/>
    <pc:docChg chg="addSld delSld modSld">
      <pc:chgData name="VADLAPALLI KIREETI BABU" userId="S::b.vadlapalli@iitg.ac.in::068cf854-f30c-4fdd-ae21-3868981c8130" providerId="AD" clId="Web-{98CE09F3-C6AD-9F93-ADA2-38D491987ECF}" dt="2024-04-24T10:47:43.975" v="2"/>
      <pc:docMkLst>
        <pc:docMk/>
      </pc:docMkLst>
      <pc:sldChg chg="modSp">
        <pc:chgData name="VADLAPALLI KIREETI BABU" userId="S::b.vadlapalli@iitg.ac.in::068cf854-f30c-4fdd-ae21-3868981c8130" providerId="AD" clId="Web-{98CE09F3-C6AD-9F93-ADA2-38D491987ECF}" dt="2024-04-24T10:29:16.113" v="0" actId="1076"/>
        <pc:sldMkLst>
          <pc:docMk/>
          <pc:sldMk cId="733451124" sldId="264"/>
        </pc:sldMkLst>
        <pc:picChg chg="mod">
          <ac:chgData name="VADLAPALLI KIREETI BABU" userId="S::b.vadlapalli@iitg.ac.in::068cf854-f30c-4fdd-ae21-3868981c8130" providerId="AD" clId="Web-{98CE09F3-C6AD-9F93-ADA2-38D491987ECF}" dt="2024-04-24T10:29:16.113" v="0" actId="1076"/>
          <ac:picMkLst>
            <pc:docMk/>
            <pc:sldMk cId="733451124" sldId="264"/>
            <ac:picMk id="2050" creationId="{19F5298E-49E2-49E6-AC76-5D66D528555A}"/>
          </ac:picMkLst>
        </pc:picChg>
      </pc:sldChg>
      <pc:sldChg chg="new del">
        <pc:chgData name="VADLAPALLI KIREETI BABU" userId="S::b.vadlapalli@iitg.ac.in::068cf854-f30c-4fdd-ae21-3868981c8130" providerId="AD" clId="Web-{98CE09F3-C6AD-9F93-ADA2-38D491987ECF}" dt="2024-04-24T10:47:43.975" v="2"/>
        <pc:sldMkLst>
          <pc:docMk/>
          <pc:sldMk cId="3415705738" sldId="266"/>
        </pc:sldMkLst>
      </pc:sldChg>
    </pc:docChg>
  </pc:docChgLst>
  <pc:docChgLst>
    <pc:chgData name="SAYAN ROY" userId="S::sayan.roy@iitg.ac.in::534bd757-325c-4c23-8ef7-6d4932ac52b3" providerId="AD" clId="Web-{FBB02C54-0110-40D3-E595-C6A6CA714FD7}"/>
    <pc:docChg chg="sldOrd">
      <pc:chgData name="SAYAN ROY" userId="S::sayan.roy@iitg.ac.in::534bd757-325c-4c23-8ef7-6d4932ac52b3" providerId="AD" clId="Web-{FBB02C54-0110-40D3-E595-C6A6CA714FD7}" dt="2024-04-24T06:26:24.023" v="0"/>
      <pc:docMkLst>
        <pc:docMk/>
      </pc:docMkLst>
      <pc:sldChg chg="ord">
        <pc:chgData name="SAYAN ROY" userId="S::sayan.roy@iitg.ac.in::534bd757-325c-4c23-8ef7-6d4932ac52b3" providerId="AD" clId="Web-{FBB02C54-0110-40D3-E595-C6A6CA714FD7}" dt="2024-04-24T06:26:24.023" v="0"/>
        <pc:sldMkLst>
          <pc:docMk/>
          <pc:sldMk cId="400495674" sldId="260"/>
        </pc:sldMkLst>
      </pc:sldChg>
    </pc:docChg>
  </pc:docChgLst>
  <pc:docChgLst>
    <pc:chgData name="GHANTENAVARU OM" userId="S::o.ghantenavaru@iitg.ac.in::a63550bc-ac8f-4292-af13-f9e482e0ab6f" providerId="AD" clId="Web-{6FA84181-CD78-CBE7-699E-C13CD4966A6D}"/>
    <pc:docChg chg="modSld">
      <pc:chgData name="GHANTENAVARU OM" userId="S::o.ghantenavaru@iitg.ac.in::a63550bc-ac8f-4292-af13-f9e482e0ab6f" providerId="AD" clId="Web-{6FA84181-CD78-CBE7-699E-C13CD4966A6D}" dt="2024-04-22T17:30:00.434" v="20" actId="1076"/>
      <pc:docMkLst>
        <pc:docMk/>
      </pc:docMkLst>
      <pc:sldChg chg="modSp">
        <pc:chgData name="GHANTENAVARU OM" userId="S::o.ghantenavaru@iitg.ac.in::a63550bc-ac8f-4292-af13-f9e482e0ab6f" providerId="AD" clId="Web-{6FA84181-CD78-CBE7-699E-C13CD4966A6D}" dt="2024-04-22T17:30:00.434" v="20" actId="1076"/>
        <pc:sldMkLst>
          <pc:docMk/>
          <pc:sldMk cId="414980721" sldId="257"/>
        </pc:sldMkLst>
        <pc:spChg chg="mod">
          <ac:chgData name="GHANTENAVARU OM" userId="S::o.ghantenavaru@iitg.ac.in::a63550bc-ac8f-4292-af13-f9e482e0ab6f" providerId="AD" clId="Web-{6FA84181-CD78-CBE7-699E-C13CD4966A6D}" dt="2024-04-22T17:27:42.964" v="0" actId="1076"/>
          <ac:spMkLst>
            <pc:docMk/>
            <pc:sldMk cId="414980721" sldId="257"/>
            <ac:spMk id="7" creationId="{00000000-0000-0000-0000-000000000000}"/>
          </ac:spMkLst>
        </pc:spChg>
        <pc:picChg chg="mod">
          <ac:chgData name="GHANTENAVARU OM" userId="S::o.ghantenavaru@iitg.ac.in::a63550bc-ac8f-4292-af13-f9e482e0ab6f" providerId="AD" clId="Web-{6FA84181-CD78-CBE7-699E-C13CD4966A6D}" dt="2024-04-22T17:29:10.246" v="14" actId="1076"/>
          <ac:picMkLst>
            <pc:docMk/>
            <pc:sldMk cId="414980721" sldId="257"/>
            <ac:picMk id="9" creationId="{87FB970F-05A2-4491-ABB2-4DA81307FC27}"/>
          </ac:picMkLst>
        </pc:picChg>
        <pc:picChg chg="mod">
          <ac:chgData name="GHANTENAVARU OM" userId="S::o.ghantenavaru@iitg.ac.in::a63550bc-ac8f-4292-af13-f9e482e0ab6f" providerId="AD" clId="Web-{6FA84181-CD78-CBE7-699E-C13CD4966A6D}" dt="2024-04-22T17:30:00.434" v="20" actId="1076"/>
          <ac:picMkLst>
            <pc:docMk/>
            <pc:sldMk cId="414980721" sldId="257"/>
            <ac:picMk id="4098" creationId="{864179AE-A69E-4453-9F9E-8CDEC9EE8A43}"/>
          </ac:picMkLst>
        </pc:picChg>
      </pc:sldChg>
    </pc:docChg>
  </pc:docChgLst>
  <pc:docChgLst>
    <pc:chgData name="GUGULOTH VISHAL" userId="S::v.guguloth@iitg.ac.in::35d79d68-3ab9-4bfc-a9d2-12412b5f1b8d" providerId="AD" clId="Web-{63085098-4973-369D-A639-CC26C15FD079}"/>
    <pc:docChg chg="modSld">
      <pc:chgData name="GUGULOTH VISHAL" userId="S::v.guguloth@iitg.ac.in::35d79d68-3ab9-4bfc-a9d2-12412b5f1b8d" providerId="AD" clId="Web-{63085098-4973-369D-A639-CC26C15FD079}" dt="2024-04-23T11:09:18.420" v="37" actId="20577"/>
      <pc:docMkLst>
        <pc:docMk/>
      </pc:docMkLst>
      <pc:sldChg chg="modSp">
        <pc:chgData name="GUGULOTH VISHAL" userId="S::v.guguloth@iitg.ac.in::35d79d68-3ab9-4bfc-a9d2-12412b5f1b8d" providerId="AD" clId="Web-{63085098-4973-369D-A639-CC26C15FD079}" dt="2024-04-23T11:09:18.420" v="37" actId="20577"/>
        <pc:sldMkLst>
          <pc:docMk/>
          <pc:sldMk cId="400495674" sldId="260"/>
        </pc:sldMkLst>
        <pc:spChg chg="mod">
          <ac:chgData name="GUGULOTH VISHAL" userId="S::v.guguloth@iitg.ac.in::35d79d68-3ab9-4bfc-a9d2-12412b5f1b8d" providerId="AD" clId="Web-{63085098-4973-369D-A639-CC26C15FD079}" dt="2024-04-23T11:09:18.420" v="37" actId="20577"/>
          <ac:spMkLst>
            <pc:docMk/>
            <pc:sldMk cId="400495674" sldId="260"/>
            <ac:spMk id="5" creationId="{00000000-0000-0000-0000-000000000000}"/>
          </ac:spMkLst>
        </pc:spChg>
      </pc:sldChg>
    </pc:docChg>
  </pc:docChgLst>
  <pc:docChgLst>
    <pc:chgData name="GHANTENAVARU OM" userId="S::o.ghantenavaru@iitg.ac.in::a63550bc-ac8f-4292-af13-f9e482e0ab6f" providerId="AD" clId="Web-{B44709D8-B476-D729-C6AD-EB453CDD58D7}"/>
    <pc:docChg chg="modSld">
      <pc:chgData name="GHANTENAVARU OM" userId="S::o.ghantenavaru@iitg.ac.in::a63550bc-ac8f-4292-af13-f9e482e0ab6f" providerId="AD" clId="Web-{B44709D8-B476-D729-C6AD-EB453CDD58D7}" dt="2024-04-23T06:31:23.592" v="0" actId="1076"/>
      <pc:docMkLst>
        <pc:docMk/>
      </pc:docMkLst>
      <pc:sldChg chg="modSp">
        <pc:chgData name="GHANTENAVARU OM" userId="S::o.ghantenavaru@iitg.ac.in::a63550bc-ac8f-4292-af13-f9e482e0ab6f" providerId="AD" clId="Web-{B44709D8-B476-D729-C6AD-EB453CDD58D7}" dt="2024-04-23T06:31:23.592" v="0" actId="1076"/>
        <pc:sldMkLst>
          <pc:docMk/>
          <pc:sldMk cId="1826665197" sldId="265"/>
        </pc:sldMkLst>
        <pc:grpChg chg="mod">
          <ac:chgData name="GHANTENAVARU OM" userId="S::o.ghantenavaru@iitg.ac.in::a63550bc-ac8f-4292-af13-f9e482e0ab6f" providerId="AD" clId="Web-{B44709D8-B476-D729-C6AD-EB453CDD58D7}" dt="2024-04-23T06:31:23.592" v="0" actId="1076"/>
          <ac:grpSpMkLst>
            <pc:docMk/>
            <pc:sldMk cId="1826665197" sldId="265"/>
            <ac:grpSpMk id="6" creationId="{BDAE1801-CBFB-4FE2-9DD6-EB91D38694B6}"/>
          </ac:grpSpMkLst>
        </pc:grpChg>
      </pc:sldChg>
    </pc:docChg>
  </pc:docChgLst>
  <pc:docChgLst>
    <pc:chgData name="SHREYA PAUL" userId="S::p.shreya@iitg.ac.in::5e1f6aa8-b9e1-4f0e-97b1-64498904f49c" providerId="AD" clId="Web-{C2104E02-7548-4901-AB8B-220EA4978D47}"/>
    <pc:docChg chg="modSld">
      <pc:chgData name="SHREYA PAUL" userId="S::p.shreya@iitg.ac.in::5e1f6aa8-b9e1-4f0e-97b1-64498904f49c" providerId="AD" clId="Web-{C2104E02-7548-4901-AB8B-220EA4978D47}" dt="2024-04-22T14:54:33.904" v="2" actId="1076"/>
      <pc:docMkLst>
        <pc:docMk/>
      </pc:docMkLst>
      <pc:sldChg chg="modSp">
        <pc:chgData name="SHREYA PAUL" userId="S::p.shreya@iitg.ac.in::5e1f6aa8-b9e1-4f0e-97b1-64498904f49c" providerId="AD" clId="Web-{C2104E02-7548-4901-AB8B-220EA4978D47}" dt="2024-04-22T14:54:33.904" v="2" actId="1076"/>
        <pc:sldMkLst>
          <pc:docMk/>
          <pc:sldMk cId="733451124" sldId="264"/>
        </pc:sldMkLst>
        <pc:picChg chg="mod">
          <ac:chgData name="SHREYA PAUL" userId="S::p.shreya@iitg.ac.in::5e1f6aa8-b9e1-4f0e-97b1-64498904f49c" providerId="AD" clId="Web-{C2104E02-7548-4901-AB8B-220EA4978D47}" dt="2024-04-22T14:54:33.904" v="2" actId="1076"/>
          <ac:picMkLst>
            <pc:docMk/>
            <pc:sldMk cId="733451124" sldId="264"/>
            <ac:picMk id="2050" creationId="{19F5298E-49E2-49E6-AC76-5D66D528555A}"/>
          </ac:picMkLst>
        </pc:picChg>
      </pc:sldChg>
    </pc:docChg>
  </pc:docChgLst>
  <pc:docChgLst>
    <pc:chgData name="BHUKYA KOUSHIK KRISHNA RATHOD" userId="S::b.rathod@iitg.ac.in::aeca8632-4bcc-482f-bee9-3ddf53b95bc0" providerId="AD" clId="Web-{C6ADCE24-EBCF-4640-8B5C-640C350E1FAA}"/>
    <pc:docChg chg="modSld">
      <pc:chgData name="BHUKYA KOUSHIK KRISHNA RATHOD" userId="S::b.rathod@iitg.ac.in::aeca8632-4bcc-482f-bee9-3ddf53b95bc0" providerId="AD" clId="Web-{C6ADCE24-EBCF-4640-8B5C-640C350E1FAA}" dt="2024-04-23T10:29:21.277" v="16" actId="1076"/>
      <pc:docMkLst>
        <pc:docMk/>
      </pc:docMkLst>
      <pc:sldChg chg="modSp">
        <pc:chgData name="BHUKYA KOUSHIK KRISHNA RATHOD" userId="S::b.rathod@iitg.ac.in::aeca8632-4bcc-482f-bee9-3ddf53b95bc0" providerId="AD" clId="Web-{C6ADCE24-EBCF-4640-8B5C-640C350E1FAA}" dt="2024-04-23T10:21:53.789" v="1" actId="1076"/>
        <pc:sldMkLst>
          <pc:docMk/>
          <pc:sldMk cId="414980721" sldId="257"/>
        </pc:sldMkLst>
        <pc:spChg chg="mod">
          <ac:chgData name="BHUKYA KOUSHIK KRISHNA RATHOD" userId="S::b.rathod@iitg.ac.in::aeca8632-4bcc-482f-bee9-3ddf53b95bc0" providerId="AD" clId="Web-{C6ADCE24-EBCF-4640-8B5C-640C350E1FAA}" dt="2024-04-23T10:21:51.054" v="0" actId="14100"/>
          <ac:spMkLst>
            <pc:docMk/>
            <pc:sldMk cId="414980721" sldId="257"/>
            <ac:spMk id="8" creationId="{00000000-0000-0000-0000-000000000000}"/>
          </ac:spMkLst>
        </pc:spChg>
        <pc:picChg chg="mod">
          <ac:chgData name="BHUKYA KOUSHIK KRISHNA RATHOD" userId="S::b.rathod@iitg.ac.in::aeca8632-4bcc-482f-bee9-3ddf53b95bc0" providerId="AD" clId="Web-{C6ADCE24-EBCF-4640-8B5C-640C350E1FAA}" dt="2024-04-23T10:21:53.789" v="1" actId="1076"/>
          <ac:picMkLst>
            <pc:docMk/>
            <pc:sldMk cId="414980721" sldId="257"/>
            <ac:picMk id="4098" creationId="{864179AE-A69E-4453-9F9E-8CDEC9EE8A43}"/>
          </ac:picMkLst>
        </pc:picChg>
      </pc:sldChg>
      <pc:sldChg chg="modSp">
        <pc:chgData name="BHUKYA KOUSHIK KRISHNA RATHOD" userId="S::b.rathod@iitg.ac.in::aeca8632-4bcc-482f-bee9-3ddf53b95bc0" providerId="AD" clId="Web-{C6ADCE24-EBCF-4640-8B5C-640C350E1FAA}" dt="2024-04-23T10:24:54.337" v="7" actId="14100"/>
        <pc:sldMkLst>
          <pc:docMk/>
          <pc:sldMk cId="400495674" sldId="260"/>
        </pc:sldMkLst>
        <pc:spChg chg="mod">
          <ac:chgData name="BHUKYA KOUSHIK KRISHNA RATHOD" userId="S::b.rathod@iitg.ac.in::aeca8632-4bcc-482f-bee9-3ddf53b95bc0" providerId="AD" clId="Web-{C6ADCE24-EBCF-4640-8B5C-640C350E1FAA}" dt="2024-04-23T10:24:54.337" v="7" actId="14100"/>
          <ac:spMkLst>
            <pc:docMk/>
            <pc:sldMk cId="400495674" sldId="260"/>
            <ac:spMk id="5" creationId="{00000000-0000-0000-0000-000000000000}"/>
          </ac:spMkLst>
        </pc:spChg>
        <pc:picChg chg="mod">
          <ac:chgData name="BHUKYA KOUSHIK KRISHNA RATHOD" userId="S::b.rathod@iitg.ac.in::aeca8632-4bcc-482f-bee9-3ddf53b95bc0" providerId="AD" clId="Web-{C6ADCE24-EBCF-4640-8B5C-640C350E1FAA}" dt="2024-04-23T10:24:42.400" v="5" actId="1076"/>
          <ac:picMkLst>
            <pc:docMk/>
            <pc:sldMk cId="400495674" sldId="260"/>
            <ac:picMk id="7" creationId="{70486B67-9824-4B30-BDAA-7C5795D59637}"/>
          </ac:picMkLst>
        </pc:picChg>
      </pc:sldChg>
      <pc:sldChg chg="modSp">
        <pc:chgData name="BHUKYA KOUSHIK KRISHNA RATHOD" userId="S::b.rathod@iitg.ac.in::aeca8632-4bcc-482f-bee9-3ddf53b95bc0" providerId="AD" clId="Web-{C6ADCE24-EBCF-4640-8B5C-640C350E1FAA}" dt="2024-04-23T10:29:21.277" v="16" actId="1076"/>
        <pc:sldMkLst>
          <pc:docMk/>
          <pc:sldMk cId="1693377841" sldId="262"/>
        </pc:sldMkLst>
        <pc:spChg chg="mod">
          <ac:chgData name="BHUKYA KOUSHIK KRISHNA RATHOD" userId="S::b.rathod@iitg.ac.in::aeca8632-4bcc-482f-bee9-3ddf53b95bc0" providerId="AD" clId="Web-{C6ADCE24-EBCF-4640-8B5C-640C350E1FAA}" dt="2024-04-23T10:29:21.277" v="16" actId="1076"/>
          <ac:spMkLst>
            <pc:docMk/>
            <pc:sldMk cId="1693377841" sldId="262"/>
            <ac:spMk id="5" creationId="{00000000-0000-0000-0000-000000000000}"/>
          </ac:spMkLst>
        </pc:spChg>
      </pc:sldChg>
      <pc:sldChg chg="modSp">
        <pc:chgData name="BHUKYA KOUSHIK KRISHNA RATHOD" userId="S::b.rathod@iitg.ac.in::aeca8632-4bcc-482f-bee9-3ddf53b95bc0" providerId="AD" clId="Web-{C6ADCE24-EBCF-4640-8B5C-640C350E1FAA}" dt="2024-04-23T10:27:53.683" v="13" actId="14100"/>
        <pc:sldMkLst>
          <pc:docMk/>
          <pc:sldMk cId="733451124" sldId="264"/>
        </pc:sldMkLst>
        <pc:picChg chg="mod">
          <ac:chgData name="BHUKYA KOUSHIK KRISHNA RATHOD" userId="S::b.rathod@iitg.ac.in::aeca8632-4bcc-482f-bee9-3ddf53b95bc0" providerId="AD" clId="Web-{C6ADCE24-EBCF-4640-8B5C-640C350E1FAA}" dt="2024-04-23T10:27:53.683" v="13" actId="14100"/>
          <ac:picMkLst>
            <pc:docMk/>
            <pc:sldMk cId="733451124" sldId="264"/>
            <ac:picMk id="2050" creationId="{19F5298E-49E2-49E6-AC76-5D66D528555A}"/>
          </ac:picMkLst>
        </pc:picChg>
      </pc:sldChg>
    </pc:docChg>
  </pc:docChgLst>
  <pc:docChgLst>
    <pc:chgData name="SAURAV" userId="S::saurav.4097@iitg.ac.in::b4033196-6970-4b30-a8a2-abca25ad373b" providerId="AD" clId="Web-{00C04597-2AFD-16E5-5029-DF78F365B83C}"/>
    <pc:docChg chg="modSld">
      <pc:chgData name="SAURAV" userId="S::saurav.4097@iitg.ac.in::b4033196-6970-4b30-a8a2-abca25ad373b" providerId="AD" clId="Web-{00C04597-2AFD-16E5-5029-DF78F365B83C}" dt="2024-04-23T20:24:52.651" v="2" actId="1076"/>
      <pc:docMkLst>
        <pc:docMk/>
      </pc:docMkLst>
      <pc:sldChg chg="modSp">
        <pc:chgData name="SAURAV" userId="S::saurav.4097@iitg.ac.in::b4033196-6970-4b30-a8a2-abca25ad373b" providerId="AD" clId="Web-{00C04597-2AFD-16E5-5029-DF78F365B83C}" dt="2024-04-23T20:02:14.958" v="1" actId="14100"/>
        <pc:sldMkLst>
          <pc:docMk/>
          <pc:sldMk cId="1173594514" sldId="258"/>
        </pc:sldMkLst>
        <pc:spChg chg="mod">
          <ac:chgData name="SAURAV" userId="S::saurav.4097@iitg.ac.in::b4033196-6970-4b30-a8a2-abca25ad373b" providerId="AD" clId="Web-{00C04597-2AFD-16E5-5029-DF78F365B83C}" dt="2024-04-23T20:02:14.958" v="1" actId="14100"/>
          <ac:spMkLst>
            <pc:docMk/>
            <pc:sldMk cId="1173594514" sldId="258"/>
            <ac:spMk id="5" creationId="{00000000-0000-0000-0000-000000000000}"/>
          </ac:spMkLst>
        </pc:spChg>
      </pc:sldChg>
      <pc:sldChg chg="modSp">
        <pc:chgData name="SAURAV" userId="S::saurav.4097@iitg.ac.in::b4033196-6970-4b30-a8a2-abca25ad373b" providerId="AD" clId="Web-{00C04597-2AFD-16E5-5029-DF78F365B83C}" dt="2024-04-23T20:24:52.651" v="2" actId="1076"/>
        <pc:sldMkLst>
          <pc:docMk/>
          <pc:sldMk cId="2994426979" sldId="259"/>
        </pc:sldMkLst>
        <pc:picChg chg="mod">
          <ac:chgData name="SAURAV" userId="S::saurav.4097@iitg.ac.in::b4033196-6970-4b30-a8a2-abca25ad373b" providerId="AD" clId="Web-{00C04597-2AFD-16E5-5029-DF78F365B83C}" dt="2024-04-23T20:24:52.651" v="2" actId="1076"/>
          <ac:picMkLst>
            <pc:docMk/>
            <pc:sldMk cId="2994426979" sldId="259"/>
            <ac:picMk id="5" creationId="{00000000-0000-0000-0000-000000000000}"/>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6499B3FC-AFFF-42E6-9029-D88BB622D641}" type="datetimeFigureOut">
              <a:rPr lang="en-IN" smtClean="0"/>
              <a:t>24-04-2024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B3AEE06-FD72-4530-8B7B-6CAC5D5CBAA4}" type="slidenum">
              <a:rPr lang="en-IN" smtClean="0"/>
              <a:t>‹#›</a:t>
            </a:fld>
            <a:endParaRPr lang="en-IN"/>
          </a:p>
        </p:txBody>
      </p:sp>
    </p:spTree>
    <p:extLst>
      <p:ext uri="{BB962C8B-B14F-4D97-AF65-F5344CB8AC3E}">
        <p14:creationId xmlns:p14="http://schemas.microsoft.com/office/powerpoint/2010/main" val="20513946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6499B3FC-AFFF-42E6-9029-D88BB622D641}" type="datetimeFigureOut">
              <a:rPr lang="en-IN" smtClean="0"/>
              <a:t>24-04-2024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B3AEE06-FD72-4530-8B7B-6CAC5D5CBAA4}" type="slidenum">
              <a:rPr lang="en-IN" smtClean="0"/>
              <a:t>‹#›</a:t>
            </a:fld>
            <a:endParaRPr lang="en-IN"/>
          </a:p>
        </p:txBody>
      </p:sp>
    </p:spTree>
    <p:extLst>
      <p:ext uri="{BB962C8B-B14F-4D97-AF65-F5344CB8AC3E}">
        <p14:creationId xmlns:p14="http://schemas.microsoft.com/office/powerpoint/2010/main" val="188532392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6499B3FC-AFFF-42E6-9029-D88BB622D641}" type="datetimeFigureOut">
              <a:rPr lang="en-IN" smtClean="0"/>
              <a:t>24-04-2024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B3AEE06-FD72-4530-8B7B-6CAC5D5CBAA4}" type="slidenum">
              <a:rPr lang="en-IN" smtClean="0"/>
              <a:t>‹#›</a:t>
            </a:fld>
            <a:endParaRPr lang="en-IN"/>
          </a:p>
        </p:txBody>
      </p:sp>
    </p:spTree>
    <p:extLst>
      <p:ext uri="{BB962C8B-B14F-4D97-AF65-F5344CB8AC3E}">
        <p14:creationId xmlns:p14="http://schemas.microsoft.com/office/powerpoint/2010/main" val="149011071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6499B3FC-AFFF-42E6-9029-D88BB622D641}" type="datetimeFigureOut">
              <a:rPr lang="en-IN" smtClean="0"/>
              <a:t>24-04-2024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B3AEE06-FD72-4530-8B7B-6CAC5D5CBAA4}" type="slidenum">
              <a:rPr lang="en-IN" smtClean="0"/>
              <a:t>‹#›</a:t>
            </a:fld>
            <a:endParaRPr lang="en-IN"/>
          </a:p>
        </p:txBody>
      </p:sp>
    </p:spTree>
    <p:extLst>
      <p:ext uri="{BB962C8B-B14F-4D97-AF65-F5344CB8AC3E}">
        <p14:creationId xmlns:p14="http://schemas.microsoft.com/office/powerpoint/2010/main" val="18700180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6499B3FC-AFFF-42E6-9029-D88BB622D641}" type="datetimeFigureOut">
              <a:rPr lang="en-IN" smtClean="0"/>
              <a:t>24-04-2024</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5B3AEE06-FD72-4530-8B7B-6CAC5D5CBAA4}" type="slidenum">
              <a:rPr lang="en-IN" smtClean="0"/>
              <a:t>‹#›</a:t>
            </a:fld>
            <a:endParaRPr lang="en-IN"/>
          </a:p>
        </p:txBody>
      </p:sp>
    </p:spTree>
    <p:extLst>
      <p:ext uri="{BB962C8B-B14F-4D97-AF65-F5344CB8AC3E}">
        <p14:creationId xmlns:p14="http://schemas.microsoft.com/office/powerpoint/2010/main" val="538878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6499B3FC-AFFF-42E6-9029-D88BB622D641}" type="datetimeFigureOut">
              <a:rPr lang="en-IN" smtClean="0"/>
              <a:t>24-04-2024</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5B3AEE06-FD72-4530-8B7B-6CAC5D5CBAA4}" type="slidenum">
              <a:rPr lang="en-IN" smtClean="0"/>
              <a:t>‹#›</a:t>
            </a:fld>
            <a:endParaRPr lang="en-IN"/>
          </a:p>
        </p:txBody>
      </p:sp>
    </p:spTree>
    <p:extLst>
      <p:ext uri="{BB962C8B-B14F-4D97-AF65-F5344CB8AC3E}">
        <p14:creationId xmlns:p14="http://schemas.microsoft.com/office/powerpoint/2010/main" val="409957432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499B3FC-AFFF-42E6-9029-D88BB622D641}" type="datetimeFigureOut">
              <a:rPr lang="en-IN" smtClean="0"/>
              <a:t>24-04-2024</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5B3AEE06-FD72-4530-8B7B-6CAC5D5CBAA4}" type="slidenum">
              <a:rPr lang="en-IN" smtClean="0"/>
              <a:t>‹#›</a:t>
            </a:fld>
            <a:endParaRPr lang="en-IN"/>
          </a:p>
        </p:txBody>
      </p:sp>
    </p:spTree>
    <p:extLst>
      <p:ext uri="{BB962C8B-B14F-4D97-AF65-F5344CB8AC3E}">
        <p14:creationId xmlns:p14="http://schemas.microsoft.com/office/powerpoint/2010/main" val="419732103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6499B3FC-AFFF-42E6-9029-D88BB622D641}" type="datetimeFigureOut">
              <a:rPr lang="en-IN" smtClean="0"/>
              <a:t>24-04-2024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B3AEE06-FD72-4530-8B7B-6CAC5D5CBAA4}" type="slidenum">
              <a:rPr lang="en-IN" smtClean="0"/>
              <a:t>‹#›</a:t>
            </a:fld>
            <a:endParaRPr lang="en-IN"/>
          </a:p>
        </p:txBody>
      </p:sp>
    </p:spTree>
    <p:extLst>
      <p:ext uri="{BB962C8B-B14F-4D97-AF65-F5344CB8AC3E}">
        <p14:creationId xmlns:p14="http://schemas.microsoft.com/office/powerpoint/2010/main" val="11412719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6499B3FC-AFFF-42E6-9029-D88BB622D641}" type="datetimeFigureOut">
              <a:rPr lang="en-IN" smtClean="0"/>
              <a:t>24-04-2024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B3AEE06-FD72-4530-8B7B-6CAC5D5CBAA4}" type="slidenum">
              <a:rPr lang="en-IN" smtClean="0"/>
              <a:t>‹#›</a:t>
            </a:fld>
            <a:endParaRPr lang="en-IN"/>
          </a:p>
        </p:txBody>
      </p:sp>
    </p:spTree>
    <p:extLst>
      <p:ext uri="{BB962C8B-B14F-4D97-AF65-F5344CB8AC3E}">
        <p14:creationId xmlns:p14="http://schemas.microsoft.com/office/powerpoint/2010/main" val="141860854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6499B3FC-AFFF-42E6-9029-D88BB622D641}" type="datetimeFigureOut">
              <a:rPr lang="en-IN" smtClean="0"/>
              <a:t>24-04-2024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B3AEE06-FD72-4530-8B7B-6CAC5D5CBAA4}" type="slidenum">
              <a:rPr lang="en-IN" smtClean="0"/>
              <a:t>‹#›</a:t>
            </a:fld>
            <a:endParaRPr lang="en-IN"/>
          </a:p>
        </p:txBody>
      </p:sp>
    </p:spTree>
    <p:extLst>
      <p:ext uri="{BB962C8B-B14F-4D97-AF65-F5344CB8AC3E}">
        <p14:creationId xmlns:p14="http://schemas.microsoft.com/office/powerpoint/2010/main" val="77354582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6499B3FC-AFFF-42E6-9029-D88BB622D641}" type="datetimeFigureOut">
              <a:rPr lang="en-IN" smtClean="0"/>
              <a:t>24-04-2024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B3AEE06-FD72-4530-8B7B-6CAC5D5CBAA4}" type="slidenum">
              <a:rPr lang="en-IN" smtClean="0"/>
              <a:t>‹#›</a:t>
            </a:fld>
            <a:endParaRPr lang="en-IN"/>
          </a:p>
        </p:txBody>
      </p:sp>
    </p:spTree>
    <p:extLst>
      <p:ext uri="{BB962C8B-B14F-4D97-AF65-F5344CB8AC3E}">
        <p14:creationId xmlns:p14="http://schemas.microsoft.com/office/powerpoint/2010/main" val="33717990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499B3FC-AFFF-42E6-9029-D88BB622D641}" type="datetimeFigureOut">
              <a:rPr lang="en-IN" smtClean="0"/>
              <a:t>24-04-2024</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B3AEE06-FD72-4530-8B7B-6CAC5D5CBAA4}" type="slidenum">
              <a:rPr lang="en-IN" smtClean="0"/>
              <a:t>‹#›</a:t>
            </a:fld>
            <a:endParaRPr lang="en-IN"/>
          </a:p>
        </p:txBody>
      </p:sp>
    </p:spTree>
    <p:extLst>
      <p:ext uri="{BB962C8B-B14F-4D97-AF65-F5344CB8AC3E}">
        <p14:creationId xmlns:p14="http://schemas.microsoft.com/office/powerpoint/2010/main" val="329354418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505092" y="457200"/>
            <a:ext cx="2144754" cy="584775"/>
          </a:xfrm>
          <a:prstGeom prst="rect">
            <a:avLst/>
          </a:prstGeom>
          <a:noFill/>
        </p:spPr>
        <p:txBody>
          <a:bodyPr wrap="none" rtlCol="0">
            <a:spAutoFit/>
          </a:bodyPr>
          <a:lstStyle/>
          <a:p>
            <a:r>
              <a:rPr lang="en-IN" sz="3200"/>
              <a:t>Visual Cycle</a:t>
            </a:r>
          </a:p>
        </p:txBody>
      </p:sp>
      <p:sp>
        <p:nvSpPr>
          <p:cNvPr id="5" name="TextBox 4"/>
          <p:cNvSpPr txBox="1"/>
          <p:nvPr/>
        </p:nvSpPr>
        <p:spPr>
          <a:xfrm>
            <a:off x="1081664" y="1605776"/>
            <a:ext cx="9645804" cy="2862322"/>
          </a:xfrm>
          <a:prstGeom prst="rect">
            <a:avLst/>
          </a:prstGeom>
          <a:noFill/>
        </p:spPr>
        <p:txBody>
          <a:bodyPr wrap="square" rtlCol="0">
            <a:spAutoFit/>
          </a:bodyPr>
          <a:lstStyle/>
          <a:p>
            <a:pPr marL="342900" indent="-342900" algn="just">
              <a:buFont typeface="Wingdings" panose="05000000000000000000" pitchFamily="2" charset="2"/>
              <a:buChar char="q"/>
            </a:pPr>
            <a:r>
              <a:rPr lang="en-IN" sz="2000">
                <a:solidFill>
                  <a:schemeClr val="accent3">
                    <a:lumMod val="50000"/>
                  </a:schemeClr>
                </a:solidFill>
              </a:rPr>
              <a:t>It is a process by which light (or photon) is converted into electrical signals in the rod, cone and photosensitive ganglion cells of the retina of the eye. </a:t>
            </a:r>
          </a:p>
          <a:p>
            <a:pPr marL="342900" indent="-342900" algn="just">
              <a:buFont typeface="Wingdings" panose="05000000000000000000" pitchFamily="2" charset="2"/>
              <a:buChar char="q"/>
            </a:pPr>
            <a:endParaRPr lang="en-IN" sz="2000">
              <a:solidFill>
                <a:schemeClr val="accent3">
                  <a:lumMod val="50000"/>
                </a:schemeClr>
              </a:solidFill>
            </a:endParaRPr>
          </a:p>
          <a:p>
            <a:pPr marL="342900" indent="-342900" algn="just">
              <a:buFont typeface="Wingdings" panose="05000000000000000000" pitchFamily="2" charset="2"/>
              <a:buChar char="q"/>
            </a:pPr>
            <a:r>
              <a:rPr lang="en-IN" sz="2000">
                <a:solidFill>
                  <a:schemeClr val="accent3">
                    <a:lumMod val="50000"/>
                  </a:schemeClr>
                </a:solidFill>
              </a:rPr>
              <a:t>This cycle was elucidated by </a:t>
            </a:r>
            <a:r>
              <a:rPr lang="en-IN" sz="2000" b="1">
                <a:solidFill>
                  <a:schemeClr val="accent3">
                    <a:lumMod val="50000"/>
                  </a:schemeClr>
                </a:solidFill>
              </a:rPr>
              <a:t>George Wald</a:t>
            </a:r>
            <a:r>
              <a:rPr lang="en-IN" sz="2000">
                <a:solidFill>
                  <a:schemeClr val="accent3">
                    <a:lumMod val="50000"/>
                  </a:schemeClr>
                </a:solidFill>
              </a:rPr>
              <a:t> (1906–1997) for which he received the Nobel Prize in 1967. </a:t>
            </a:r>
          </a:p>
          <a:p>
            <a:pPr marL="342900" indent="-342900" algn="just">
              <a:buFont typeface="Wingdings" panose="05000000000000000000" pitchFamily="2" charset="2"/>
              <a:buChar char="q"/>
            </a:pPr>
            <a:endParaRPr lang="en-IN" sz="2000">
              <a:solidFill>
                <a:schemeClr val="accent3">
                  <a:lumMod val="50000"/>
                </a:schemeClr>
              </a:solidFill>
            </a:endParaRPr>
          </a:p>
          <a:p>
            <a:pPr marL="342900" indent="-342900" algn="just">
              <a:buFont typeface="Wingdings" panose="05000000000000000000" pitchFamily="2" charset="2"/>
              <a:buChar char="q"/>
            </a:pPr>
            <a:r>
              <a:rPr lang="en-IN" sz="2000">
                <a:solidFill>
                  <a:schemeClr val="accent3">
                    <a:lumMod val="50000"/>
                  </a:schemeClr>
                </a:solidFill>
              </a:rPr>
              <a:t>It is called </a:t>
            </a:r>
            <a:r>
              <a:rPr lang="en-IN" sz="2000" b="1">
                <a:solidFill>
                  <a:schemeClr val="accent3">
                    <a:lumMod val="50000"/>
                  </a:schemeClr>
                </a:solidFill>
              </a:rPr>
              <a:t>‘Wald's Visual Cycle’ </a:t>
            </a:r>
            <a:r>
              <a:rPr lang="en-IN" sz="2000">
                <a:solidFill>
                  <a:schemeClr val="accent3">
                    <a:lumMod val="50000"/>
                  </a:schemeClr>
                </a:solidFill>
              </a:rPr>
              <a:t>after him. </a:t>
            </a:r>
          </a:p>
          <a:p>
            <a:pPr marL="342900" indent="-342900" algn="just">
              <a:buFont typeface="Wingdings" panose="05000000000000000000" pitchFamily="2" charset="2"/>
              <a:buChar char="q"/>
            </a:pPr>
            <a:endParaRPr lang="en-IN" sz="2000">
              <a:solidFill>
                <a:schemeClr val="accent3">
                  <a:lumMod val="50000"/>
                </a:schemeClr>
              </a:solidFill>
            </a:endParaRPr>
          </a:p>
          <a:p>
            <a:pPr marL="342900" indent="-342900" algn="just">
              <a:buFont typeface="Wingdings" panose="05000000000000000000" pitchFamily="2" charset="2"/>
              <a:buChar char="q"/>
            </a:pPr>
            <a:r>
              <a:rPr lang="en-IN" sz="2000">
                <a:solidFill>
                  <a:schemeClr val="accent3">
                    <a:lumMod val="50000"/>
                  </a:schemeClr>
                </a:solidFill>
              </a:rPr>
              <a:t>It is also known as </a:t>
            </a:r>
            <a:r>
              <a:rPr lang="en-IN" sz="2000" b="1">
                <a:solidFill>
                  <a:schemeClr val="accent3">
                    <a:lumMod val="50000"/>
                  </a:schemeClr>
                </a:solidFill>
              </a:rPr>
              <a:t>visual phototransduction</a:t>
            </a:r>
            <a:r>
              <a:rPr lang="en-IN" sz="2000">
                <a:solidFill>
                  <a:schemeClr val="accent3">
                    <a:lumMod val="50000"/>
                  </a:schemeClr>
                </a:solidFill>
              </a:rPr>
              <a:t>.</a:t>
            </a:r>
          </a:p>
        </p:txBody>
      </p:sp>
    </p:spTree>
    <p:extLst>
      <p:ext uri="{BB962C8B-B14F-4D97-AF65-F5344CB8AC3E}">
        <p14:creationId xmlns:p14="http://schemas.microsoft.com/office/powerpoint/2010/main" val="117359451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4137104" y="439882"/>
            <a:ext cx="2727221" cy="584775"/>
          </a:xfrm>
          <a:prstGeom prst="rect">
            <a:avLst/>
          </a:prstGeom>
          <a:noFill/>
        </p:spPr>
        <p:txBody>
          <a:bodyPr wrap="none" rtlCol="0">
            <a:spAutoFit/>
          </a:bodyPr>
          <a:lstStyle/>
          <a:p>
            <a:r>
              <a:rPr lang="en-IN" sz="3200" err="1"/>
              <a:t>Photopigments</a:t>
            </a:r>
            <a:endParaRPr lang="en-IN" sz="3200"/>
          </a:p>
        </p:txBody>
      </p:sp>
      <p:sp>
        <p:nvSpPr>
          <p:cNvPr id="8" name="TextBox 7"/>
          <p:cNvSpPr txBox="1"/>
          <p:nvPr/>
        </p:nvSpPr>
        <p:spPr>
          <a:xfrm>
            <a:off x="631274" y="1299995"/>
            <a:ext cx="7469937" cy="4247317"/>
          </a:xfrm>
          <a:prstGeom prst="rect">
            <a:avLst/>
          </a:prstGeom>
          <a:noFill/>
        </p:spPr>
        <p:txBody>
          <a:bodyPr wrap="square" rtlCol="0">
            <a:spAutoFit/>
          </a:bodyPr>
          <a:lstStyle/>
          <a:p>
            <a:pPr marL="285750" indent="-285750" algn="just">
              <a:buFont typeface="Wingdings" panose="05000000000000000000" pitchFamily="2" charset="2"/>
              <a:buChar char="§"/>
            </a:pPr>
            <a:r>
              <a:rPr lang="en-IN">
                <a:solidFill>
                  <a:schemeClr val="tx2">
                    <a:lumMod val="50000"/>
                  </a:schemeClr>
                </a:solidFill>
              </a:rPr>
              <a:t>All </a:t>
            </a:r>
            <a:r>
              <a:rPr lang="en-IN" err="1">
                <a:solidFill>
                  <a:schemeClr val="tx2">
                    <a:lumMod val="50000"/>
                  </a:schemeClr>
                </a:solidFill>
              </a:rPr>
              <a:t>photopigments</a:t>
            </a:r>
            <a:r>
              <a:rPr lang="en-IN">
                <a:solidFill>
                  <a:schemeClr val="tx2">
                    <a:lumMod val="50000"/>
                  </a:schemeClr>
                </a:solidFill>
              </a:rPr>
              <a:t> associated with vision contain two parts:</a:t>
            </a:r>
          </a:p>
          <a:p>
            <a:pPr marL="285750" indent="-285750" algn="just">
              <a:buFont typeface="Wingdings" panose="05000000000000000000" pitchFamily="2" charset="2"/>
              <a:buChar char="§"/>
            </a:pPr>
            <a:endParaRPr lang="en-IN">
              <a:solidFill>
                <a:schemeClr val="tx2">
                  <a:lumMod val="50000"/>
                </a:schemeClr>
              </a:solidFill>
            </a:endParaRPr>
          </a:p>
          <a:p>
            <a:pPr algn="just"/>
            <a:r>
              <a:rPr lang="en-IN">
                <a:solidFill>
                  <a:schemeClr val="tx2">
                    <a:lumMod val="50000"/>
                  </a:schemeClr>
                </a:solidFill>
              </a:rPr>
              <a:t>        1. A glycoprotein known as </a:t>
            </a:r>
            <a:r>
              <a:rPr lang="en-IN" b="1">
                <a:solidFill>
                  <a:schemeClr val="tx2">
                    <a:lumMod val="50000"/>
                  </a:schemeClr>
                </a:solidFill>
              </a:rPr>
              <a:t>opsin</a:t>
            </a:r>
            <a:r>
              <a:rPr lang="en-IN">
                <a:solidFill>
                  <a:schemeClr val="tx2">
                    <a:lumMod val="50000"/>
                  </a:schemeClr>
                </a:solidFill>
              </a:rPr>
              <a:t> and </a:t>
            </a:r>
          </a:p>
          <a:p>
            <a:pPr algn="just"/>
            <a:r>
              <a:rPr lang="en-IN">
                <a:solidFill>
                  <a:schemeClr val="tx2">
                    <a:lumMod val="50000"/>
                  </a:schemeClr>
                </a:solidFill>
              </a:rPr>
              <a:t>        2. derivative of vitamin A called </a:t>
            </a:r>
            <a:r>
              <a:rPr lang="en-IN" b="1">
                <a:solidFill>
                  <a:schemeClr val="tx2">
                    <a:lumMod val="50000"/>
                  </a:schemeClr>
                </a:solidFill>
              </a:rPr>
              <a:t>retinal</a:t>
            </a:r>
            <a:r>
              <a:rPr lang="en-IN">
                <a:solidFill>
                  <a:schemeClr val="tx2">
                    <a:lumMod val="50000"/>
                  </a:schemeClr>
                </a:solidFill>
              </a:rPr>
              <a:t>.</a:t>
            </a:r>
          </a:p>
          <a:p>
            <a:pPr marL="342900" indent="-342900" algn="just">
              <a:buFont typeface="Wingdings" panose="05000000000000000000" pitchFamily="2" charset="2"/>
              <a:buChar char="§"/>
            </a:pPr>
            <a:endParaRPr lang="en-IN">
              <a:solidFill>
                <a:schemeClr val="tx2">
                  <a:lumMod val="50000"/>
                </a:schemeClr>
              </a:solidFill>
            </a:endParaRPr>
          </a:p>
          <a:p>
            <a:pPr marL="285750" indent="-285750" algn="just">
              <a:buFont typeface="Wingdings" panose="05000000000000000000" pitchFamily="2" charset="2"/>
              <a:buChar char="§"/>
            </a:pPr>
            <a:r>
              <a:rPr lang="en-IN">
                <a:solidFill>
                  <a:schemeClr val="tx2">
                    <a:lumMod val="50000"/>
                  </a:schemeClr>
                </a:solidFill>
              </a:rPr>
              <a:t>Vitamin A derivatives are formed from carotene, the plant pigment that gives carrots their orange colour.</a:t>
            </a:r>
          </a:p>
          <a:p>
            <a:pPr marL="285750" indent="-285750" algn="just">
              <a:buFont typeface="Wingdings" panose="05000000000000000000" pitchFamily="2" charset="2"/>
              <a:buChar char="§"/>
            </a:pPr>
            <a:endParaRPr lang="en-IN">
              <a:solidFill>
                <a:schemeClr val="tx2">
                  <a:lumMod val="50000"/>
                </a:schemeClr>
              </a:solidFill>
            </a:endParaRPr>
          </a:p>
          <a:p>
            <a:pPr marL="285750" indent="-285750" algn="just">
              <a:buFont typeface="Wingdings" panose="05000000000000000000" pitchFamily="2" charset="2"/>
              <a:buChar char="§"/>
            </a:pPr>
            <a:r>
              <a:rPr lang="en-IN">
                <a:solidFill>
                  <a:schemeClr val="tx2">
                    <a:lumMod val="50000"/>
                  </a:schemeClr>
                </a:solidFill>
              </a:rPr>
              <a:t>Good vision depends on adequate dietary intake of carotene-rich vegetables such as carrots, spinach, broccoli, or foods that contain vitamin A, e.g. liver.</a:t>
            </a:r>
          </a:p>
          <a:p>
            <a:pPr marL="285750" indent="-285750" algn="just">
              <a:buFont typeface="Wingdings" panose="05000000000000000000" pitchFamily="2" charset="2"/>
              <a:buChar char="§"/>
            </a:pPr>
            <a:endParaRPr lang="en-IN">
              <a:solidFill>
                <a:schemeClr val="tx2">
                  <a:lumMod val="50000"/>
                </a:schemeClr>
              </a:solidFill>
            </a:endParaRPr>
          </a:p>
          <a:p>
            <a:pPr marL="285750" indent="-285750" algn="just">
              <a:buFont typeface="Wingdings" panose="05000000000000000000" pitchFamily="2" charset="2"/>
              <a:buChar char="§"/>
            </a:pPr>
            <a:r>
              <a:rPr lang="en-IN">
                <a:solidFill>
                  <a:schemeClr val="tx2">
                    <a:lumMod val="50000"/>
                  </a:schemeClr>
                </a:solidFill>
              </a:rPr>
              <a:t>Retinal is the light absorbing part of all </a:t>
            </a:r>
            <a:r>
              <a:rPr lang="en-IN" err="1">
                <a:solidFill>
                  <a:schemeClr val="tx2">
                    <a:lumMod val="50000"/>
                  </a:schemeClr>
                </a:solidFill>
              </a:rPr>
              <a:t>photopigments</a:t>
            </a:r>
            <a:r>
              <a:rPr lang="en-IN">
                <a:solidFill>
                  <a:schemeClr val="tx2">
                    <a:lumMod val="50000"/>
                  </a:schemeClr>
                </a:solidFill>
              </a:rPr>
              <a:t>. There are 4 types of opsins in human retina, 3 in the cones and 1 in the rods (Rhodopsin), depending on small variations in the amino acid sequences.</a:t>
            </a:r>
          </a:p>
        </p:txBody>
      </p:sp>
      <p:pic>
        <p:nvPicPr>
          <p:cNvPr id="9" name="Picture 2" descr="The Visual Cycle &amp; Cone Photoreceptor Function &amp; Survival - YouTube">
            <a:extLst>
              <a:ext uri="{FF2B5EF4-FFF2-40B4-BE49-F238E27FC236}">
                <a16:creationId xmlns:a16="http://schemas.microsoft.com/office/drawing/2014/main" id="{87FB970F-05A2-4491-ABB2-4DA81307FC27}"/>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36040" t="16968" r="29772" b="13594"/>
          <a:stretch/>
        </p:blipFill>
        <p:spPr bwMode="auto">
          <a:xfrm>
            <a:off x="8297769" y="2313215"/>
            <a:ext cx="3655272" cy="4176211"/>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pic>
        <p:nvPicPr>
          <p:cNvPr id="4098" name="Picture 2" descr="The process by which the sensitivity to a certain stimulus is modified by  previous exposure is called sensory ______. A) transduction B) adaptation.  - ppt download">
            <a:extLst>
              <a:ext uri="{FF2B5EF4-FFF2-40B4-BE49-F238E27FC236}">
                <a16:creationId xmlns:a16="http://schemas.microsoft.com/office/drawing/2014/main" id="{864179AE-A69E-4453-9F9E-8CDEC9EE8A43}"/>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70894" t="28670" b="29524"/>
          <a:stretch/>
        </p:blipFill>
        <p:spPr bwMode="auto">
          <a:xfrm>
            <a:off x="9948450" y="581936"/>
            <a:ext cx="1609861" cy="1732644"/>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498072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BDAE1801-CBFB-4FE2-9DD6-EB91D38694B6}"/>
              </a:ext>
            </a:extLst>
          </p:cNvPr>
          <p:cNvGrpSpPr/>
          <p:nvPr/>
        </p:nvGrpSpPr>
        <p:grpSpPr>
          <a:xfrm>
            <a:off x="5735676" y="1264722"/>
            <a:ext cx="5973288" cy="4732317"/>
            <a:chOff x="1212230" y="1743191"/>
            <a:chExt cx="4263018" cy="3711099"/>
          </a:xfrm>
        </p:grpSpPr>
        <p:pic>
          <p:nvPicPr>
            <p:cNvPr id="7" name="Picture 6">
              <a:extLst>
                <a:ext uri="{FF2B5EF4-FFF2-40B4-BE49-F238E27FC236}">
                  <a16:creationId xmlns:a16="http://schemas.microsoft.com/office/drawing/2014/main" id="{5C2CAB6B-4B0C-4458-AA1B-73F0EBFCA40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12230" y="1743191"/>
              <a:ext cx="4263018" cy="3574999"/>
            </a:xfrm>
            <a:prstGeom prst="rect">
              <a:avLst/>
            </a:prstGeom>
          </p:spPr>
        </p:pic>
        <p:sp>
          <p:nvSpPr>
            <p:cNvPr id="8" name="TextBox 7">
              <a:extLst>
                <a:ext uri="{FF2B5EF4-FFF2-40B4-BE49-F238E27FC236}">
                  <a16:creationId xmlns:a16="http://schemas.microsoft.com/office/drawing/2014/main" id="{DB47516A-0CDF-4BF3-AD98-16C507800258}"/>
                </a:ext>
              </a:extLst>
            </p:cNvPr>
            <p:cNvSpPr txBox="1"/>
            <p:nvPr/>
          </p:nvSpPr>
          <p:spPr>
            <a:xfrm>
              <a:off x="1212230" y="5084958"/>
              <a:ext cx="1073770" cy="369332"/>
            </a:xfrm>
            <a:prstGeom prst="rect">
              <a:avLst/>
            </a:prstGeom>
            <a:solidFill>
              <a:schemeClr val="bg1"/>
            </a:solidFill>
          </p:spPr>
          <p:txBody>
            <a:bodyPr wrap="square" rtlCol="0">
              <a:spAutoFit/>
            </a:bodyPr>
            <a:lstStyle/>
            <a:p>
              <a:endParaRPr lang="en-IN"/>
            </a:p>
          </p:txBody>
        </p:sp>
      </p:grpSp>
      <p:pic>
        <p:nvPicPr>
          <p:cNvPr id="5124" name="Picture 4" descr="Module 1">
            <a:extLst>
              <a:ext uri="{FF2B5EF4-FFF2-40B4-BE49-F238E27FC236}">
                <a16:creationId xmlns:a16="http://schemas.microsoft.com/office/drawing/2014/main" id="{3CC6F71E-7AD6-4334-A5B5-A0E6F8AC322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8671" y="1116281"/>
            <a:ext cx="5063371" cy="4880758"/>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8712105D-E1F1-43AD-963B-4EA839FEE277}"/>
              </a:ext>
            </a:extLst>
          </p:cNvPr>
          <p:cNvSpPr txBox="1"/>
          <p:nvPr/>
        </p:nvSpPr>
        <p:spPr>
          <a:xfrm>
            <a:off x="4278431" y="276186"/>
            <a:ext cx="2727221" cy="584775"/>
          </a:xfrm>
          <a:prstGeom prst="rect">
            <a:avLst/>
          </a:prstGeom>
          <a:noFill/>
        </p:spPr>
        <p:txBody>
          <a:bodyPr wrap="none" rtlCol="0">
            <a:spAutoFit/>
          </a:bodyPr>
          <a:lstStyle/>
          <a:p>
            <a:r>
              <a:rPr lang="en-IN" sz="3200" err="1"/>
              <a:t>Photopigments</a:t>
            </a:r>
            <a:endParaRPr lang="en-IN" sz="3200"/>
          </a:p>
        </p:txBody>
      </p:sp>
    </p:spTree>
    <p:extLst>
      <p:ext uri="{BB962C8B-B14F-4D97-AF65-F5344CB8AC3E}">
        <p14:creationId xmlns:p14="http://schemas.microsoft.com/office/powerpoint/2010/main" val="18266651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The Special Senses Smell, taste, vision, hearing and equilibrium - ppt  video online download">
            <a:extLst>
              <a:ext uri="{FF2B5EF4-FFF2-40B4-BE49-F238E27FC236}">
                <a16:creationId xmlns:a16="http://schemas.microsoft.com/office/drawing/2014/main" id="{19F5298E-49E2-49E6-AC76-5D66D528555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2" y="4232"/>
            <a:ext cx="12192000"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3345112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74653" y="603074"/>
            <a:ext cx="6243562" cy="5564574"/>
          </a:xfrm>
          <a:prstGeom prst="rect">
            <a:avLst/>
          </a:prstGeom>
        </p:spPr>
      </p:pic>
      <p:pic>
        <p:nvPicPr>
          <p:cNvPr id="6" name="Picture 5"/>
          <p:cNvPicPr>
            <a:picLocks noChangeAspect="1"/>
          </p:cNvPicPr>
          <p:nvPr/>
        </p:nvPicPr>
        <p:blipFill rotWithShape="1">
          <a:blip r:embed="rId3">
            <a:extLst>
              <a:ext uri="{28A0092B-C50C-407E-A947-70E740481C1C}">
                <a14:useLocalDpi xmlns:a14="http://schemas.microsoft.com/office/drawing/2010/main" val="0"/>
              </a:ext>
            </a:extLst>
          </a:blip>
          <a:srcRect b="11564"/>
          <a:stretch/>
        </p:blipFill>
        <p:spPr>
          <a:xfrm>
            <a:off x="7907299" y="724714"/>
            <a:ext cx="4168684" cy="4217676"/>
          </a:xfrm>
          <a:prstGeom prst="rect">
            <a:avLst/>
          </a:prstGeom>
        </p:spPr>
      </p:pic>
      <p:cxnSp>
        <p:nvCxnSpPr>
          <p:cNvPr id="8" name="Straight Connector 7"/>
          <p:cNvCxnSpPr/>
          <p:nvPr/>
        </p:nvCxnSpPr>
        <p:spPr>
          <a:xfrm flipH="1" flipV="1">
            <a:off x="6734215" y="936702"/>
            <a:ext cx="1707258" cy="372450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flipH="1">
            <a:off x="6835699" y="4661210"/>
            <a:ext cx="1605774" cy="163922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7" name="TextBox 16"/>
          <p:cNvSpPr txBox="1"/>
          <p:nvPr/>
        </p:nvSpPr>
        <p:spPr>
          <a:xfrm>
            <a:off x="4505092" y="141742"/>
            <a:ext cx="3647922" cy="461665"/>
          </a:xfrm>
          <a:prstGeom prst="rect">
            <a:avLst/>
          </a:prstGeom>
          <a:noFill/>
        </p:spPr>
        <p:txBody>
          <a:bodyPr wrap="none" rtlCol="0">
            <a:spAutoFit/>
          </a:bodyPr>
          <a:lstStyle/>
          <a:p>
            <a:r>
              <a:rPr lang="en-IN" sz="2400"/>
              <a:t>Visual cycle – the process …</a:t>
            </a:r>
          </a:p>
        </p:txBody>
      </p:sp>
    </p:spTree>
    <p:extLst>
      <p:ext uri="{BB962C8B-B14F-4D97-AF65-F5344CB8AC3E}">
        <p14:creationId xmlns:p14="http://schemas.microsoft.com/office/powerpoint/2010/main" val="299442697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471639" y="520883"/>
            <a:ext cx="3258841" cy="461665"/>
          </a:xfrm>
          <a:prstGeom prst="rect">
            <a:avLst/>
          </a:prstGeom>
          <a:noFill/>
        </p:spPr>
        <p:txBody>
          <a:bodyPr wrap="none" rtlCol="0">
            <a:spAutoFit/>
          </a:bodyPr>
          <a:lstStyle/>
          <a:p>
            <a:r>
              <a:rPr lang="en-IN" sz="2400"/>
              <a:t>Some important notes …</a:t>
            </a:r>
          </a:p>
        </p:txBody>
      </p:sp>
      <p:sp>
        <p:nvSpPr>
          <p:cNvPr id="5" name="TextBox 4"/>
          <p:cNvSpPr txBox="1"/>
          <p:nvPr/>
        </p:nvSpPr>
        <p:spPr>
          <a:xfrm>
            <a:off x="204898" y="1713011"/>
            <a:ext cx="11800994" cy="2862322"/>
          </a:xfrm>
          <a:prstGeom prst="rect">
            <a:avLst/>
          </a:prstGeom>
          <a:noFill/>
        </p:spPr>
        <p:txBody>
          <a:bodyPr wrap="square" rtlCol="0">
            <a:spAutoFit/>
          </a:bodyPr>
          <a:lstStyle/>
          <a:p>
            <a:pPr marL="285750" indent="-285750" algn="just">
              <a:buFont typeface="Wingdings" panose="05000000000000000000" pitchFamily="2" charset="2"/>
              <a:buChar char="q"/>
            </a:pPr>
            <a:r>
              <a:rPr lang="en-IN"/>
              <a:t>The pigmented layer of the retina adjacent to the photoreceptors stores a large quantity of vitamin A and contributes to the regeneration process in rods.</a:t>
            </a:r>
          </a:p>
          <a:p>
            <a:pPr marL="285750" indent="-285750" algn="just">
              <a:buFont typeface="Wingdings" panose="05000000000000000000" pitchFamily="2" charset="2"/>
              <a:buChar char="q"/>
            </a:pPr>
            <a:endParaRPr lang="en-IN"/>
          </a:p>
          <a:p>
            <a:pPr marL="285750" indent="-285750" algn="just">
              <a:buFont typeface="Wingdings" panose="05000000000000000000" pitchFamily="2" charset="2"/>
              <a:buChar char="q"/>
            </a:pPr>
            <a:r>
              <a:rPr lang="en-IN"/>
              <a:t>The extent of rhodopsin generation decreases drastically if the retina detaches from the pigmented layer.</a:t>
            </a:r>
          </a:p>
          <a:p>
            <a:pPr marL="285750" indent="-285750" algn="just">
              <a:buFont typeface="Wingdings" panose="05000000000000000000" pitchFamily="2" charset="2"/>
              <a:buChar char="q"/>
            </a:pPr>
            <a:endParaRPr lang="en-IN"/>
          </a:p>
          <a:p>
            <a:pPr marL="285750" indent="-285750" algn="just">
              <a:buFont typeface="Wingdings" panose="05000000000000000000" pitchFamily="2" charset="2"/>
              <a:buChar char="q"/>
            </a:pPr>
            <a:r>
              <a:rPr lang="en-IN"/>
              <a:t>Cone </a:t>
            </a:r>
            <a:r>
              <a:rPr lang="en-IN" err="1"/>
              <a:t>photopigments</a:t>
            </a:r>
            <a:r>
              <a:rPr lang="en-IN"/>
              <a:t> regenerate much more quickly than rhodopsin in rods and are less dependent on the pigmented layer.</a:t>
            </a:r>
          </a:p>
          <a:p>
            <a:pPr algn="just"/>
            <a:endParaRPr lang="en-IN"/>
          </a:p>
          <a:p>
            <a:pPr algn="just"/>
            <a:r>
              <a:rPr lang="en-IN"/>
              <a:t>              </a:t>
            </a:r>
            <a:r>
              <a:rPr lang="en-IN">
                <a:solidFill>
                  <a:srgbClr val="0070C0"/>
                </a:solidFill>
              </a:rPr>
              <a:t>Half of all rod pigments take 5 minutes to regenerate.</a:t>
            </a:r>
          </a:p>
          <a:p>
            <a:pPr algn="just"/>
            <a:r>
              <a:rPr lang="en-IN">
                <a:solidFill>
                  <a:srgbClr val="0070C0"/>
                </a:solidFill>
              </a:rPr>
              <a:t>              Half of all cone pigments take 90 seconds only.</a:t>
            </a:r>
          </a:p>
        </p:txBody>
      </p:sp>
    </p:spTree>
    <p:extLst>
      <p:ext uri="{BB962C8B-B14F-4D97-AF65-F5344CB8AC3E}">
        <p14:creationId xmlns:p14="http://schemas.microsoft.com/office/powerpoint/2010/main" val="169337784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092501" y="498576"/>
            <a:ext cx="3919856" cy="523220"/>
          </a:xfrm>
          <a:prstGeom prst="rect">
            <a:avLst/>
          </a:prstGeom>
          <a:noFill/>
        </p:spPr>
        <p:txBody>
          <a:bodyPr wrap="none" rtlCol="0">
            <a:spAutoFit/>
          </a:bodyPr>
          <a:lstStyle/>
          <a:p>
            <a:r>
              <a:rPr lang="en-IN" sz="2800"/>
              <a:t>Light and dark adaptation</a:t>
            </a:r>
          </a:p>
        </p:txBody>
      </p:sp>
      <p:sp>
        <p:nvSpPr>
          <p:cNvPr id="5" name="TextBox 4"/>
          <p:cNvSpPr txBox="1"/>
          <p:nvPr/>
        </p:nvSpPr>
        <p:spPr>
          <a:xfrm>
            <a:off x="1416205" y="1313017"/>
            <a:ext cx="5436008" cy="923330"/>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wrap="square" rtlCol="0">
            <a:spAutoFit/>
          </a:bodyPr>
          <a:lstStyle/>
          <a:p>
            <a:r>
              <a:rPr lang="en-IN"/>
              <a:t>Light adaptation:    Dark                             Light   </a:t>
            </a:r>
          </a:p>
          <a:p>
            <a:endParaRPr lang="en-IN"/>
          </a:p>
          <a:p>
            <a:r>
              <a:rPr lang="en-IN"/>
              <a:t>Fast. Happens in seconds </a:t>
            </a:r>
          </a:p>
        </p:txBody>
      </p:sp>
      <p:cxnSp>
        <p:nvCxnSpPr>
          <p:cNvPr id="7" name="Straight Arrow Connector 6"/>
          <p:cNvCxnSpPr/>
          <p:nvPr/>
        </p:nvCxnSpPr>
        <p:spPr>
          <a:xfrm>
            <a:off x="3820072" y="1503016"/>
            <a:ext cx="1332000" cy="0"/>
          </a:xfrm>
          <a:prstGeom prst="straightConnector1">
            <a:avLst/>
          </a:prstGeom>
          <a:ln w="44450">
            <a:tailEnd type="triangle"/>
          </a:ln>
        </p:spPr>
        <p:style>
          <a:lnRef idx="3">
            <a:schemeClr val="accent5"/>
          </a:lnRef>
          <a:fillRef idx="0">
            <a:schemeClr val="accent5"/>
          </a:fillRef>
          <a:effectRef idx="2">
            <a:schemeClr val="accent5"/>
          </a:effectRef>
          <a:fontRef idx="minor">
            <a:schemeClr val="tx1"/>
          </a:fontRef>
        </p:style>
      </p:cxnSp>
      <p:sp>
        <p:nvSpPr>
          <p:cNvPr id="10" name="TextBox 9"/>
          <p:cNvSpPr txBox="1"/>
          <p:nvPr/>
        </p:nvSpPr>
        <p:spPr>
          <a:xfrm>
            <a:off x="5152072" y="4656366"/>
            <a:ext cx="5436008" cy="923330"/>
          </a:xfrm>
          <a:prstGeom prst="rect">
            <a:avLst/>
          </a:prstGeom>
        </p:spPr>
        <p:style>
          <a:lnRef idx="3">
            <a:schemeClr val="lt1"/>
          </a:lnRef>
          <a:fillRef idx="1">
            <a:schemeClr val="dk1"/>
          </a:fillRef>
          <a:effectRef idx="1">
            <a:schemeClr val="dk1"/>
          </a:effectRef>
          <a:fontRef idx="minor">
            <a:schemeClr val="lt1"/>
          </a:fontRef>
        </p:style>
        <p:txBody>
          <a:bodyPr wrap="square" rtlCol="0">
            <a:spAutoFit/>
          </a:bodyPr>
          <a:lstStyle/>
          <a:p>
            <a:r>
              <a:rPr lang="en-IN"/>
              <a:t>Dark adaptation:    Light                             Dark   </a:t>
            </a:r>
          </a:p>
          <a:p>
            <a:endParaRPr lang="en-IN"/>
          </a:p>
          <a:p>
            <a:r>
              <a:rPr lang="en-IN"/>
              <a:t>Slow. Takes many minutes</a:t>
            </a:r>
          </a:p>
        </p:txBody>
      </p:sp>
      <p:cxnSp>
        <p:nvCxnSpPr>
          <p:cNvPr id="11" name="Straight Arrow Connector 10"/>
          <p:cNvCxnSpPr/>
          <p:nvPr/>
        </p:nvCxnSpPr>
        <p:spPr>
          <a:xfrm>
            <a:off x="7554701" y="4838454"/>
            <a:ext cx="1332000" cy="0"/>
          </a:xfrm>
          <a:prstGeom prst="straightConnector1">
            <a:avLst/>
          </a:prstGeom>
          <a:ln w="44450">
            <a:tailEnd type="triangle"/>
          </a:ln>
        </p:spPr>
        <p:style>
          <a:lnRef idx="3">
            <a:schemeClr val="accent5"/>
          </a:lnRef>
          <a:fillRef idx="0">
            <a:schemeClr val="accent5"/>
          </a:fillRef>
          <a:effectRef idx="2">
            <a:schemeClr val="accent5"/>
          </a:effectRef>
          <a:fontRef idx="minor">
            <a:schemeClr val="tx1"/>
          </a:fontRef>
        </p:style>
      </p:cxnSp>
      <p:sp>
        <p:nvSpPr>
          <p:cNvPr id="12" name="Line Callout 1 11"/>
          <p:cNvSpPr/>
          <p:nvPr/>
        </p:nvSpPr>
        <p:spPr>
          <a:xfrm>
            <a:off x="8220701" y="1313017"/>
            <a:ext cx="3565002" cy="3177960"/>
          </a:xfrm>
          <a:prstGeom prst="borderCallout1">
            <a:avLst>
              <a:gd name="adj1" fmla="val 18750"/>
              <a:gd name="adj2" fmla="val -865"/>
              <a:gd name="adj3" fmla="val 18544"/>
              <a:gd name="adj4" fmla="val -37359"/>
            </a:avLst>
          </a:prstGeom>
          <a:ln/>
        </p:spPr>
        <p:style>
          <a:lnRef idx="1">
            <a:schemeClr val="accent4"/>
          </a:lnRef>
          <a:fillRef idx="2">
            <a:schemeClr val="accent4"/>
          </a:fillRef>
          <a:effectRef idx="1">
            <a:schemeClr val="accent4"/>
          </a:effectRef>
          <a:fontRef idx="minor">
            <a:schemeClr val="dk1"/>
          </a:fontRef>
        </p:style>
        <p:txBody>
          <a:bodyPr rtlCol="0" anchor="ctr"/>
          <a:lstStyle/>
          <a:p>
            <a:pPr algn="ctr"/>
            <a:r>
              <a:rPr lang="en-IN"/>
              <a:t>As light level increases, more and more </a:t>
            </a:r>
            <a:r>
              <a:rPr lang="en-IN" err="1"/>
              <a:t>photopigments</a:t>
            </a:r>
            <a:r>
              <a:rPr lang="en-IN"/>
              <a:t> are bleached. While light is bleaching some pigment molecules, others are being regenerated. In daylight regeneration of rhodopsin cannot keep up with the bleaching process. Hence rods contribute little to daylight vision. In contrast, cone </a:t>
            </a:r>
            <a:r>
              <a:rPr lang="en-IN" err="1"/>
              <a:t>photopigments</a:t>
            </a:r>
            <a:r>
              <a:rPr lang="en-IN"/>
              <a:t> regenerate rapidly enough even in bright light.</a:t>
            </a:r>
          </a:p>
        </p:txBody>
      </p:sp>
      <p:sp>
        <p:nvSpPr>
          <p:cNvPr id="13" name="Line Callout 1 12"/>
          <p:cNvSpPr/>
          <p:nvPr/>
        </p:nvSpPr>
        <p:spPr>
          <a:xfrm>
            <a:off x="381964" y="2426346"/>
            <a:ext cx="3568793" cy="4298545"/>
          </a:xfrm>
          <a:prstGeom prst="borderCallout1">
            <a:avLst>
              <a:gd name="adj1" fmla="val 57364"/>
              <a:gd name="adj2" fmla="val 101346"/>
              <a:gd name="adj3" fmla="val 57194"/>
              <a:gd name="adj4" fmla="val 133230"/>
            </a:avLst>
          </a:prstGeom>
          <a:ln w="31750">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IN"/>
              <a:t>If light level decreases abruptly, sensitivity increases rapidly at first and then more slowly. In complete darkness, full regeneration of cone pigments occurs during the first 8 minutes of dark adaptation. During this time, a threshold light flash is seen as having colour. Rhodopsin regenerates more slowly, and our visual sensitivity increases until even a single photon can be detected. At very low light levels, objects appear as shades of grey since only the rods are functioning.</a:t>
            </a:r>
          </a:p>
        </p:txBody>
      </p:sp>
    </p:spTree>
    <p:extLst>
      <p:ext uri="{BB962C8B-B14F-4D97-AF65-F5344CB8AC3E}">
        <p14:creationId xmlns:p14="http://schemas.microsoft.com/office/powerpoint/2010/main" val="293606091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3870" y="947851"/>
            <a:ext cx="6591642" cy="4016484"/>
          </a:xfrm>
          <a:prstGeom prst="rect">
            <a:avLst/>
          </a:prstGeom>
          <a:solidFill>
            <a:schemeClr val="accent3">
              <a:lumMod val="20000"/>
              <a:lumOff val="80000"/>
            </a:schemeClr>
          </a:solidFill>
        </p:spPr>
        <p:txBody>
          <a:bodyPr wrap="square" lIns="91440" tIns="45720" rIns="91440" bIns="45720" rtlCol="0" anchor="t">
            <a:spAutoFit/>
          </a:bodyPr>
          <a:lstStyle/>
          <a:p>
            <a:pPr marL="342900" indent="-342900" algn="just">
              <a:buFont typeface="+mj-lt"/>
              <a:buAutoNum type="arabicPeriod"/>
            </a:pPr>
            <a:r>
              <a:rPr lang="en-IN" sz="1700">
                <a:solidFill>
                  <a:srgbClr val="002060"/>
                </a:solidFill>
              </a:rPr>
              <a:t>In darkness, retinal has a bent shape, called cis-retinal, which fits snugly into the opsin. When cis-retinal absorbs a photon of light, it straightens out to a shape called trans-retinal. This cis-to-trans conversion is called </a:t>
            </a:r>
            <a:r>
              <a:rPr lang="en-IN" sz="1700" b="1">
                <a:solidFill>
                  <a:srgbClr val="002060"/>
                </a:solidFill>
              </a:rPr>
              <a:t>isomerization</a:t>
            </a:r>
            <a:r>
              <a:rPr lang="en-IN" sz="1700">
                <a:solidFill>
                  <a:srgbClr val="002060"/>
                </a:solidFill>
              </a:rPr>
              <a:t> and is the first step in visual cycle. Several unstable chemical intermediates  (e.g. ions) form and disappear in this stage, leading to production of a receptor potential.</a:t>
            </a:r>
          </a:p>
          <a:p>
            <a:pPr marL="342900" indent="-342900" algn="just">
              <a:buFont typeface="+mj-lt"/>
              <a:buAutoNum type="arabicPeriod"/>
            </a:pPr>
            <a:endParaRPr lang="en-IN" sz="1700">
              <a:solidFill>
                <a:srgbClr val="002060"/>
              </a:solidFill>
            </a:endParaRPr>
          </a:p>
          <a:p>
            <a:pPr marL="342900" indent="-342900" algn="just">
              <a:buFont typeface="+mj-lt"/>
              <a:buAutoNum type="arabicPeriod"/>
            </a:pPr>
            <a:r>
              <a:rPr lang="en-IN" sz="1700">
                <a:solidFill>
                  <a:srgbClr val="002060"/>
                </a:solidFill>
              </a:rPr>
              <a:t>In about a minute, trans-retinal completely separates from opsin. This part of the cycle is called </a:t>
            </a:r>
            <a:r>
              <a:rPr lang="en-IN" sz="1700" b="1">
                <a:solidFill>
                  <a:srgbClr val="002060"/>
                </a:solidFill>
              </a:rPr>
              <a:t>bleaching</a:t>
            </a:r>
            <a:r>
              <a:rPr lang="en-IN" sz="1700">
                <a:solidFill>
                  <a:srgbClr val="002060"/>
                </a:solidFill>
              </a:rPr>
              <a:t> of photopigment.</a:t>
            </a:r>
            <a:endParaRPr lang="en-IN" sz="1700">
              <a:solidFill>
                <a:srgbClr val="002060"/>
              </a:solidFill>
              <a:cs typeface="Calibri"/>
            </a:endParaRPr>
          </a:p>
          <a:p>
            <a:pPr marL="342900" indent="-342900" algn="just">
              <a:buFont typeface="+mj-lt"/>
              <a:buAutoNum type="arabicPeriod"/>
            </a:pPr>
            <a:endParaRPr lang="en-IN" sz="1700">
              <a:solidFill>
                <a:srgbClr val="002060"/>
              </a:solidFill>
            </a:endParaRPr>
          </a:p>
          <a:p>
            <a:pPr marL="342900" indent="-342900" algn="just">
              <a:buFont typeface="+mj-lt"/>
              <a:buAutoNum type="arabicPeriod"/>
            </a:pPr>
            <a:r>
              <a:rPr lang="en-IN" sz="1700">
                <a:solidFill>
                  <a:srgbClr val="002060"/>
                </a:solidFill>
              </a:rPr>
              <a:t>An enzyme called </a:t>
            </a:r>
            <a:r>
              <a:rPr lang="en-IN" sz="1700" b="1">
                <a:solidFill>
                  <a:srgbClr val="002060"/>
                </a:solidFill>
              </a:rPr>
              <a:t>retinal isomerase </a:t>
            </a:r>
            <a:r>
              <a:rPr lang="en-IN" sz="1700">
                <a:solidFill>
                  <a:srgbClr val="002060"/>
                </a:solidFill>
              </a:rPr>
              <a:t>converts trans-retinal back to cis-retinal.</a:t>
            </a:r>
            <a:endParaRPr lang="en-IN" sz="1700">
              <a:solidFill>
                <a:srgbClr val="002060"/>
              </a:solidFill>
              <a:cs typeface="Calibri"/>
            </a:endParaRPr>
          </a:p>
          <a:p>
            <a:pPr marL="342900" indent="-342900" algn="just">
              <a:buFont typeface="+mj-lt"/>
              <a:buAutoNum type="arabicPeriod"/>
            </a:pPr>
            <a:endParaRPr lang="en-IN" sz="1700">
              <a:solidFill>
                <a:srgbClr val="002060"/>
              </a:solidFill>
            </a:endParaRPr>
          </a:p>
          <a:p>
            <a:pPr marL="342900" indent="-342900" algn="just">
              <a:buFont typeface="+mj-lt"/>
              <a:buAutoNum type="arabicPeriod"/>
            </a:pPr>
            <a:r>
              <a:rPr lang="en-IN" sz="1700">
                <a:solidFill>
                  <a:srgbClr val="002060"/>
                </a:solidFill>
              </a:rPr>
              <a:t>The cis-retinal then can again bind to opsin, reforming a functional photopigment. This part of the cycle is called </a:t>
            </a:r>
            <a:r>
              <a:rPr lang="en-IN" sz="1700" b="1">
                <a:solidFill>
                  <a:srgbClr val="002060"/>
                </a:solidFill>
              </a:rPr>
              <a:t>regeneration</a:t>
            </a:r>
            <a:r>
              <a:rPr lang="en-IN" sz="1700">
                <a:solidFill>
                  <a:srgbClr val="002060"/>
                </a:solidFill>
              </a:rPr>
              <a:t>.</a:t>
            </a:r>
            <a:endParaRPr lang="en-IN" sz="1700">
              <a:solidFill>
                <a:srgbClr val="002060"/>
              </a:solidFill>
              <a:cs typeface="Calibri"/>
            </a:endParaRPr>
          </a:p>
        </p:txBody>
      </p:sp>
      <p:sp>
        <p:nvSpPr>
          <p:cNvPr id="6" name="TextBox 5"/>
          <p:cNvSpPr txBox="1"/>
          <p:nvPr/>
        </p:nvSpPr>
        <p:spPr>
          <a:xfrm>
            <a:off x="4505092" y="141742"/>
            <a:ext cx="3647922" cy="461665"/>
          </a:xfrm>
          <a:prstGeom prst="rect">
            <a:avLst/>
          </a:prstGeom>
          <a:noFill/>
        </p:spPr>
        <p:txBody>
          <a:bodyPr wrap="none" rtlCol="0">
            <a:spAutoFit/>
          </a:bodyPr>
          <a:lstStyle/>
          <a:p>
            <a:r>
              <a:rPr lang="en-IN" sz="2400"/>
              <a:t>Visual cycle – the process …</a:t>
            </a:r>
          </a:p>
        </p:txBody>
      </p:sp>
      <p:pic>
        <p:nvPicPr>
          <p:cNvPr id="7" name="Picture 2" descr="Origin of phototransduction, the visual cycle, photoreceptors and retina">
            <a:extLst>
              <a:ext uri="{FF2B5EF4-FFF2-40B4-BE49-F238E27FC236}">
                <a16:creationId xmlns:a16="http://schemas.microsoft.com/office/drawing/2014/main" id="{70486B67-9824-4B30-BDAA-7C5795D59637}"/>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6970" r="15627"/>
          <a:stretch/>
        </p:blipFill>
        <p:spPr bwMode="auto">
          <a:xfrm>
            <a:off x="6678191" y="596211"/>
            <a:ext cx="5335453" cy="593684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049567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252622627FE0BB42A7311AF50D73D144" ma:contentTypeVersion="10" ma:contentTypeDescription="Create a new document." ma:contentTypeScope="" ma:versionID="c7caf746f9f59231fcc88430109f7c93">
  <xsd:schema xmlns:xsd="http://www.w3.org/2001/XMLSchema" xmlns:xs="http://www.w3.org/2001/XMLSchema" xmlns:p="http://schemas.microsoft.com/office/2006/metadata/properties" xmlns:ns2="f3d90b6b-40ba-4cf1-9177-eadded3cce4b" xmlns:ns3="469ac0c8-6c93-45a5-801f-5dae600c78f6" targetNamespace="http://schemas.microsoft.com/office/2006/metadata/properties" ma:root="true" ma:fieldsID="d77bf9fd42b4d7e102237062b1ace12d" ns2:_="" ns3:_="">
    <xsd:import namespace="f3d90b6b-40ba-4cf1-9177-eadded3cce4b"/>
    <xsd:import namespace="469ac0c8-6c93-45a5-801f-5dae600c78f6"/>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ServiceObjectDetectorVersions" minOccurs="0"/>
                <xsd:element ref="ns2:MediaServiceGenerationTime" minOccurs="0"/>
                <xsd:element ref="ns2:MediaServiceEventHashCode" minOccurs="0"/>
                <xsd:element ref="ns2:MediaLengthInSeconds" minOccurs="0"/>
                <xsd:element ref="ns2:MediaServiceSearchProperties" minOccurs="0"/>
                <xsd:element ref="ns3:SharedWithUsers" minOccurs="0"/>
                <xsd:element ref="ns3:SharedWithDetail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3d90b6b-40ba-4cf1-9177-eadded3cce4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dexed="true" ma:internalName="MediaServiceDateTaken" ma:readOnly="true">
      <xsd:simpleType>
        <xsd:restriction base="dms:Text"/>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element name="MediaServiceSearchProperties" ma:index="15"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469ac0c8-6c93-45a5-801f-5dae600c78f6" elementFormDefault="qualified">
    <xsd:import namespace="http://schemas.microsoft.com/office/2006/documentManagement/types"/>
    <xsd:import namespace="http://schemas.microsoft.com/office/infopath/2007/PartnerControls"/>
    <xsd:element name="SharedWithUsers" ma:index="16"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7"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EFE6414A-ECA0-47E7-B898-FD4ABAE2DEE4}">
  <ds:schemaRefs>
    <ds:schemaRef ds:uri="http://schemas.microsoft.com/office/2006/metadata/properties"/>
    <ds:schemaRef ds:uri="http://schemas.microsoft.com/office/infopath/2007/PartnerControls"/>
  </ds:schemaRefs>
</ds:datastoreItem>
</file>

<file path=customXml/itemProps2.xml><?xml version="1.0" encoding="utf-8"?>
<ds:datastoreItem xmlns:ds="http://schemas.openxmlformats.org/officeDocument/2006/customXml" ds:itemID="{D1BBEE8F-3AE0-4A51-96AF-10CE5E3F7E42}">
  <ds:schemaRefs>
    <ds:schemaRef ds:uri="http://schemas.microsoft.com/sharepoint/v3/contenttype/forms"/>
  </ds:schemaRefs>
</ds:datastoreItem>
</file>

<file path=customXml/itemProps3.xml><?xml version="1.0" encoding="utf-8"?>
<ds:datastoreItem xmlns:ds="http://schemas.openxmlformats.org/officeDocument/2006/customXml" ds:itemID="{B75333AD-2E44-407E-98FB-8B6730ABB7E1}">
  <ds:schemaRefs>
    <ds:schemaRef ds:uri="469ac0c8-6c93-45a5-801f-5dae600c78f6"/>
    <ds:schemaRef ds:uri="f3d90b6b-40ba-4cf1-9177-eadded3cce4b"/>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8</Slides>
  <Notes>0</Notes>
  <HiddenSlides>0</HiddenSlides>
  <ScaleCrop>false</ScaleCrop>
  <HeadingPairs>
    <vt:vector size="4" baseType="variant">
      <vt:variant>
        <vt:lpstr>Theme</vt:lpstr>
      </vt:variant>
      <vt:variant>
        <vt:i4>1</vt:i4>
      </vt:variant>
      <vt:variant>
        <vt:lpstr>Slide Titles</vt:lpstr>
      </vt:variant>
      <vt:variant>
        <vt:i4>8</vt:i4>
      </vt:variant>
    </vt:vector>
  </HeadingPairs>
  <TitlesOfParts>
    <vt:vector size="9"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IITG</dc:creator>
  <cp:revision>1</cp:revision>
  <dcterms:created xsi:type="dcterms:W3CDTF">2018-03-21T07:42:02Z</dcterms:created>
  <dcterms:modified xsi:type="dcterms:W3CDTF">2024-04-24T10:48:27Z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0x010100252622627FE0BB42A7311AF50D73D144</vt:lpwstr>
  </property>
</Properties>
</file>