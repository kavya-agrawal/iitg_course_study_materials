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61" r:id="rId8"/>
    <p:sldId id="260" r:id="rId9"/>
    <p:sldId id="263" r:id="rId10"/>
    <p:sldId id="259" r:id="rId11"/>
    <p:sldId id="262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2E7FAA-331E-A495-DDBF-D67FCD06FC88}" v="4" dt="2024-04-23T16:58:21.606"/>
    <p1510:client id="{64EB56E9-5B36-F25F-163C-EED5D9E218BD}" v="39" dt="2024-04-24T07:22:18.168"/>
    <p1510:client id="{7FA4C36E-592C-8087-7489-6ABD4BD2A35C}" v="6" dt="2024-04-23T18:54:18.515"/>
    <p1510:client id="{FFDF5811-9747-F17C-98E5-2B21875F14DC}" v="3" dt="2024-04-24T11:59:01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KUMAR" userId="S::ayushk.4022@iitg.ac.in::3375db3d-597a-4997-87de-995d8c88d259" providerId="AD" clId="Web-{64EB56E9-5B36-F25F-163C-EED5D9E218BD}"/>
    <pc:docChg chg="modSld">
      <pc:chgData name="AYUSH KUMAR" userId="S::ayushk.4022@iitg.ac.in::3375db3d-597a-4997-87de-995d8c88d259" providerId="AD" clId="Web-{64EB56E9-5B36-F25F-163C-EED5D9E218BD}" dt="2024-04-24T07:22:18.168" v="36" actId="14100"/>
      <pc:docMkLst>
        <pc:docMk/>
      </pc:docMkLst>
      <pc:sldChg chg="modSp">
        <pc:chgData name="AYUSH KUMAR" userId="S::ayushk.4022@iitg.ac.in::3375db3d-597a-4997-87de-995d8c88d259" providerId="AD" clId="Web-{64EB56E9-5B36-F25F-163C-EED5D9E218BD}" dt="2024-04-24T07:11:03.130" v="34" actId="20577"/>
        <pc:sldMkLst>
          <pc:docMk/>
          <pc:sldMk cId="3987796262" sldId="258"/>
        </pc:sldMkLst>
        <pc:spChg chg="mod">
          <ac:chgData name="AYUSH KUMAR" userId="S::ayushk.4022@iitg.ac.in::3375db3d-597a-4997-87de-995d8c88d259" providerId="AD" clId="Web-{64EB56E9-5B36-F25F-163C-EED5D9E218BD}" dt="2024-04-24T07:11:03.130" v="34" actId="20577"/>
          <ac:spMkLst>
            <pc:docMk/>
            <pc:sldMk cId="3987796262" sldId="258"/>
            <ac:spMk id="4" creationId="{00000000-0000-0000-0000-000000000000}"/>
          </ac:spMkLst>
        </pc:spChg>
      </pc:sldChg>
      <pc:sldChg chg="modSp">
        <pc:chgData name="AYUSH KUMAR" userId="S::ayushk.4022@iitg.ac.in::3375db3d-597a-4997-87de-995d8c88d259" providerId="AD" clId="Web-{64EB56E9-5B36-F25F-163C-EED5D9E218BD}" dt="2024-04-24T07:17:22.118" v="35" actId="14100"/>
        <pc:sldMkLst>
          <pc:docMk/>
          <pc:sldMk cId="1488516355" sldId="260"/>
        </pc:sldMkLst>
        <pc:picChg chg="mod">
          <ac:chgData name="AYUSH KUMAR" userId="S::ayushk.4022@iitg.ac.in::3375db3d-597a-4997-87de-995d8c88d259" providerId="AD" clId="Web-{64EB56E9-5B36-F25F-163C-EED5D9E218BD}" dt="2024-04-24T07:17:22.118" v="35" actId="14100"/>
          <ac:picMkLst>
            <pc:docMk/>
            <pc:sldMk cId="1488516355" sldId="260"/>
            <ac:picMk id="4" creationId="{00000000-0000-0000-0000-000000000000}"/>
          </ac:picMkLst>
        </pc:picChg>
      </pc:sldChg>
      <pc:sldChg chg="modSp">
        <pc:chgData name="AYUSH KUMAR" userId="S::ayushk.4022@iitg.ac.in::3375db3d-597a-4997-87de-995d8c88d259" providerId="AD" clId="Web-{64EB56E9-5B36-F25F-163C-EED5D9E218BD}" dt="2024-04-24T07:22:18.168" v="36" actId="14100"/>
        <pc:sldMkLst>
          <pc:docMk/>
          <pc:sldMk cId="2308553683" sldId="264"/>
        </pc:sldMkLst>
        <pc:picChg chg="mod">
          <ac:chgData name="AYUSH KUMAR" userId="S::ayushk.4022@iitg.ac.in::3375db3d-597a-4997-87de-995d8c88d259" providerId="AD" clId="Web-{64EB56E9-5B36-F25F-163C-EED5D9E218BD}" dt="2024-04-24T07:22:18.168" v="36" actId="14100"/>
          <ac:picMkLst>
            <pc:docMk/>
            <pc:sldMk cId="2308553683" sldId="264"/>
            <ac:picMk id="4" creationId="{5AC16EAF-19CB-493C-93D9-ED0F8271A7BA}"/>
          </ac:picMkLst>
        </pc:picChg>
      </pc:sldChg>
    </pc:docChg>
  </pc:docChgLst>
  <pc:docChgLst>
    <pc:chgData name="SRAYASH SINGH" userId="S::s.srayash@iitg.ac.in::308476c7-5584-40af-89ab-e9a88c219920" providerId="AD" clId="Web-{402E7FAA-331E-A495-DDBF-D67FCD06FC88}"/>
    <pc:docChg chg="modSld">
      <pc:chgData name="SRAYASH SINGH" userId="S::s.srayash@iitg.ac.in::308476c7-5584-40af-89ab-e9a88c219920" providerId="AD" clId="Web-{402E7FAA-331E-A495-DDBF-D67FCD06FC88}" dt="2024-04-23T16:58:21.606" v="3" actId="14100"/>
      <pc:docMkLst>
        <pc:docMk/>
      </pc:docMkLst>
      <pc:sldChg chg="modSp">
        <pc:chgData name="SRAYASH SINGH" userId="S::s.srayash@iitg.ac.in::308476c7-5584-40af-89ab-e9a88c219920" providerId="AD" clId="Web-{402E7FAA-331E-A495-DDBF-D67FCD06FC88}" dt="2024-04-23T16:58:21.606" v="3" actId="14100"/>
        <pc:sldMkLst>
          <pc:docMk/>
          <pc:sldMk cId="2308553683" sldId="264"/>
        </pc:sldMkLst>
        <pc:picChg chg="mod">
          <ac:chgData name="SRAYASH SINGH" userId="S::s.srayash@iitg.ac.in::308476c7-5584-40af-89ab-e9a88c219920" providerId="AD" clId="Web-{402E7FAA-331E-A495-DDBF-D67FCD06FC88}" dt="2024-04-23T16:58:21.606" v="3" actId="14100"/>
          <ac:picMkLst>
            <pc:docMk/>
            <pc:sldMk cId="2308553683" sldId="264"/>
            <ac:picMk id="4" creationId="{5AC16EAF-19CB-493C-93D9-ED0F8271A7BA}"/>
          </ac:picMkLst>
        </pc:picChg>
      </pc:sldChg>
    </pc:docChg>
  </pc:docChgLst>
  <pc:docChgLst>
    <pc:chgData name="JARUPULA ROOPESH" userId="S::r.jarupula@iitg.ac.in::b897c0fe-3390-40b9-beb5-f522125584d8" providerId="AD" clId="Web-{7FA4C36E-592C-8087-7489-6ABD4BD2A35C}"/>
    <pc:docChg chg="modSld">
      <pc:chgData name="JARUPULA ROOPESH" userId="S::r.jarupula@iitg.ac.in::b897c0fe-3390-40b9-beb5-f522125584d8" providerId="AD" clId="Web-{7FA4C36E-592C-8087-7489-6ABD4BD2A35C}" dt="2024-04-23T18:54:18.515" v="5" actId="688"/>
      <pc:docMkLst>
        <pc:docMk/>
      </pc:docMkLst>
      <pc:sldChg chg="modSp">
        <pc:chgData name="JARUPULA ROOPESH" userId="S::r.jarupula@iitg.ac.in::b897c0fe-3390-40b9-beb5-f522125584d8" providerId="AD" clId="Web-{7FA4C36E-592C-8087-7489-6ABD4BD2A35C}" dt="2024-04-23T18:49:02.053" v="1" actId="1076"/>
        <pc:sldMkLst>
          <pc:docMk/>
          <pc:sldMk cId="713717558" sldId="261"/>
        </pc:sldMkLst>
        <pc:picChg chg="mod">
          <ac:chgData name="JARUPULA ROOPESH" userId="S::r.jarupula@iitg.ac.in::b897c0fe-3390-40b9-beb5-f522125584d8" providerId="AD" clId="Web-{7FA4C36E-592C-8087-7489-6ABD4BD2A35C}" dt="2024-04-23T18:49:02.053" v="1" actId="1076"/>
          <ac:picMkLst>
            <pc:docMk/>
            <pc:sldMk cId="713717558" sldId="261"/>
            <ac:picMk id="5" creationId="{00000000-0000-0000-0000-000000000000}"/>
          </ac:picMkLst>
        </pc:picChg>
      </pc:sldChg>
      <pc:sldChg chg="modSp">
        <pc:chgData name="JARUPULA ROOPESH" userId="S::r.jarupula@iitg.ac.in::b897c0fe-3390-40b9-beb5-f522125584d8" providerId="AD" clId="Web-{7FA4C36E-592C-8087-7489-6ABD4BD2A35C}" dt="2024-04-23T18:54:18.515" v="5" actId="688"/>
        <pc:sldMkLst>
          <pc:docMk/>
          <pc:sldMk cId="2308553683" sldId="264"/>
        </pc:sldMkLst>
        <pc:picChg chg="mod">
          <ac:chgData name="JARUPULA ROOPESH" userId="S::r.jarupula@iitg.ac.in::b897c0fe-3390-40b9-beb5-f522125584d8" providerId="AD" clId="Web-{7FA4C36E-592C-8087-7489-6ABD4BD2A35C}" dt="2024-04-23T18:54:18.515" v="5" actId="688"/>
          <ac:picMkLst>
            <pc:docMk/>
            <pc:sldMk cId="2308553683" sldId="264"/>
            <ac:picMk id="4" creationId="{5AC16EAF-19CB-493C-93D9-ED0F8271A7BA}"/>
          </ac:picMkLst>
        </pc:picChg>
      </pc:sldChg>
    </pc:docChg>
  </pc:docChgLst>
  <pc:docChgLst>
    <pc:chgData name="YOGESH BHANWARIA" userId="S::y.bhanwaria@iitg.ac.in::b6dde1c7-12eb-41d4-ad16-22239e1c589e" providerId="AD" clId="Web-{FFDF5811-9747-F17C-98E5-2B21875F14DC}"/>
    <pc:docChg chg="modSld">
      <pc:chgData name="YOGESH BHANWARIA" userId="S::y.bhanwaria@iitg.ac.in::b6dde1c7-12eb-41d4-ad16-22239e1c589e" providerId="AD" clId="Web-{FFDF5811-9747-F17C-98E5-2B21875F14DC}" dt="2024-04-24T11:59:01.442" v="2" actId="1076"/>
      <pc:docMkLst>
        <pc:docMk/>
      </pc:docMkLst>
      <pc:sldChg chg="modSp">
        <pc:chgData name="YOGESH BHANWARIA" userId="S::y.bhanwaria@iitg.ac.in::b6dde1c7-12eb-41d4-ad16-22239e1c589e" providerId="AD" clId="Web-{FFDF5811-9747-F17C-98E5-2B21875F14DC}" dt="2024-04-24T11:59:01.442" v="2" actId="1076"/>
        <pc:sldMkLst>
          <pc:docMk/>
          <pc:sldMk cId="2572915743" sldId="259"/>
        </pc:sldMkLst>
        <pc:picChg chg="mod">
          <ac:chgData name="YOGESH BHANWARIA" userId="S::y.bhanwaria@iitg.ac.in::b6dde1c7-12eb-41d4-ad16-22239e1c589e" providerId="AD" clId="Web-{FFDF5811-9747-F17C-98E5-2B21875F14DC}" dt="2024-04-24T11:59:01.442" v="2" actId="1076"/>
          <ac:picMkLst>
            <pc:docMk/>
            <pc:sldMk cId="2572915743" sldId="259"/>
            <ac:picMk id="4" creationId="{00000000-0000-0000-0000-000000000000}"/>
          </ac:picMkLst>
        </pc:picChg>
        <pc:picChg chg="mod">
          <ac:chgData name="YOGESH BHANWARIA" userId="S::y.bhanwaria@iitg.ac.in::b6dde1c7-12eb-41d4-ad16-22239e1c589e" providerId="AD" clId="Web-{FFDF5811-9747-F17C-98E5-2B21875F14DC}" dt="2024-04-24T11:58:00.096" v="1" actId="1076"/>
          <ac:picMkLst>
            <pc:docMk/>
            <pc:sldMk cId="2572915743" sldId="259"/>
            <ac:picMk id="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40292-1E11-429E-AEAA-701B66F77009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606FCD-6961-4628-A01C-FDBB5E6C5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461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FCD-6961-4628-A01C-FDBB5E6C5CB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416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94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912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25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419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991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488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53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51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916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084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87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96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6770" y="446566"/>
            <a:ext cx="10894742" cy="54014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400" b="1" i="0" u="none" strike="noStrike" baseline="0">
                <a:solidFill>
                  <a:schemeClr val="accent2">
                    <a:lumMod val="75000"/>
                  </a:schemeClr>
                </a:solidFill>
                <a:latin typeface="CIDFont+F1"/>
              </a:rPr>
              <a:t>BT 101                                 MODERN BIOLOGY                                     3 0 0 6</a:t>
            </a:r>
          </a:p>
          <a:p>
            <a:endParaRPr lang="en-IN" sz="2400" b="1" i="0" u="none" strike="noStrike" baseline="0">
              <a:solidFill>
                <a:schemeClr val="accent2">
                  <a:lumMod val="75000"/>
                </a:schemeClr>
              </a:solidFill>
              <a:latin typeface="CIDFont+F1"/>
            </a:endParaRPr>
          </a:p>
          <a:p>
            <a:r>
              <a:rPr lang="en-IN" sz="2000" b="0" i="0" u="none" strike="noStrike" baseline="0">
                <a:solidFill>
                  <a:srgbClr val="000000"/>
                </a:solidFill>
                <a:latin typeface="CIDFont+F1"/>
              </a:rPr>
              <a:t>Pre-requisite: Nil</a:t>
            </a:r>
          </a:p>
          <a:p>
            <a:endParaRPr lang="en-IN" sz="1400">
              <a:solidFill>
                <a:srgbClr val="000000"/>
              </a:solidFill>
              <a:latin typeface="CIDFont+F4"/>
            </a:endParaRPr>
          </a:p>
          <a:p>
            <a:r>
              <a:rPr lang="en-IN" sz="1400" b="1" u="sng">
                <a:solidFill>
                  <a:srgbClr val="000000"/>
                </a:solidFill>
                <a:latin typeface="CIDFont+F4"/>
              </a:rPr>
              <a:t>Division IV:</a:t>
            </a:r>
          </a:p>
          <a:p>
            <a:endParaRPr lang="en-IN" sz="1400">
              <a:solidFill>
                <a:srgbClr val="000000"/>
              </a:solidFill>
              <a:latin typeface="CIDFont+F4"/>
            </a:endParaRPr>
          </a:p>
          <a:p>
            <a:r>
              <a:rPr lang="en-IN" sz="1400" b="1" u="sng">
                <a:solidFill>
                  <a:srgbClr val="000000"/>
                </a:solidFill>
                <a:latin typeface="CIDFont+F4"/>
              </a:rPr>
              <a:t>Human physiology: biological axons and neurons, neuromuscular and synaptic junctions; sensory systems - hearing, taste, smell and visual receptors.</a:t>
            </a:r>
            <a:r>
              <a:rPr lang="en-IN" sz="1400" b="1">
                <a:solidFill>
                  <a:srgbClr val="000000"/>
                </a:solidFill>
                <a:latin typeface="CIDFont+F4"/>
              </a:rPr>
              <a:t>  </a:t>
            </a:r>
            <a:r>
              <a:rPr lang="en-IN" sz="1400" err="1">
                <a:solidFill>
                  <a:srgbClr val="7030A0"/>
                </a:solidFill>
                <a:latin typeface="CIDFont+F4"/>
              </a:rPr>
              <a:t>Dr.</a:t>
            </a:r>
            <a:r>
              <a:rPr lang="en-IN" sz="1400">
                <a:solidFill>
                  <a:srgbClr val="7030A0"/>
                </a:solidFill>
                <a:latin typeface="CIDFont+F4"/>
              </a:rPr>
              <a:t> </a:t>
            </a:r>
            <a:r>
              <a:rPr lang="en-IN" sz="1400" err="1">
                <a:solidFill>
                  <a:srgbClr val="7030A0"/>
                </a:solidFill>
                <a:latin typeface="CIDFont+F4"/>
              </a:rPr>
              <a:t>Souptick</a:t>
            </a:r>
            <a:r>
              <a:rPr lang="en-IN" sz="1400">
                <a:solidFill>
                  <a:srgbClr val="7030A0"/>
                </a:solidFill>
                <a:latin typeface="CIDFont+F4"/>
              </a:rPr>
              <a:t> </a:t>
            </a:r>
            <a:r>
              <a:rPr lang="en-IN" sz="1400" err="1">
                <a:solidFill>
                  <a:srgbClr val="7030A0"/>
                </a:solidFill>
                <a:latin typeface="CIDFont+F4"/>
              </a:rPr>
              <a:t>Chanda</a:t>
            </a:r>
            <a:endParaRPr lang="en-IN" sz="1400">
              <a:solidFill>
                <a:srgbClr val="7030A0"/>
              </a:solidFill>
              <a:latin typeface="CIDFont+F4"/>
            </a:endParaRPr>
          </a:p>
          <a:p>
            <a:endParaRPr lang="en-IN" sz="1400">
              <a:solidFill>
                <a:srgbClr val="000000"/>
              </a:solidFill>
              <a:latin typeface="CIDFont+F1"/>
            </a:endParaRPr>
          </a:p>
          <a:p>
            <a:r>
              <a:rPr lang="en-IN" sz="1100" b="0" i="0" u="none" strike="noStrike" baseline="0">
                <a:solidFill>
                  <a:srgbClr val="000000"/>
                </a:solidFill>
                <a:latin typeface="CIDFont+F1"/>
              </a:rPr>
              <a:t>Texts: </a:t>
            </a:r>
          </a:p>
          <a:p>
            <a:pPr marL="342900" indent="-342900">
              <a:buAutoNum type="arabicPeriod"/>
            </a:pPr>
            <a:r>
              <a:rPr lang="en-IN" sz="1400">
                <a:solidFill>
                  <a:srgbClr val="000000"/>
                </a:solidFill>
                <a:latin typeface="CIDFont+F4"/>
              </a:rPr>
              <a:t>J. L. </a:t>
            </a:r>
            <a:r>
              <a:rPr lang="en-IN" sz="1400" err="1">
                <a:solidFill>
                  <a:srgbClr val="000000"/>
                </a:solidFill>
                <a:latin typeface="CIDFont+F4"/>
              </a:rPr>
              <a:t>Tymoczko</a:t>
            </a:r>
            <a:r>
              <a:rPr lang="en-IN" sz="1400">
                <a:solidFill>
                  <a:srgbClr val="000000"/>
                </a:solidFill>
                <a:latin typeface="CIDFont+F4"/>
              </a:rPr>
              <a:t>, J. M. Berg and L. </a:t>
            </a:r>
            <a:r>
              <a:rPr lang="en-IN" sz="1400" err="1">
                <a:solidFill>
                  <a:srgbClr val="000000"/>
                </a:solidFill>
                <a:latin typeface="CIDFont+F4"/>
              </a:rPr>
              <a:t>Stryer</a:t>
            </a:r>
            <a:r>
              <a:rPr lang="en-IN" sz="1400">
                <a:solidFill>
                  <a:srgbClr val="000000"/>
                </a:solidFill>
                <a:latin typeface="CIDFont+F4"/>
              </a:rPr>
              <a:t>, Biochemistry, 5</a:t>
            </a:r>
            <a:r>
              <a:rPr lang="en-IN" sz="600" b="0" i="0" u="none" strike="noStrike" baseline="0">
                <a:solidFill>
                  <a:srgbClr val="000000"/>
                </a:solidFill>
                <a:latin typeface="CIDFont+F4"/>
              </a:rPr>
              <a:t>th </a:t>
            </a:r>
            <a:r>
              <a:rPr lang="en-IN" sz="1400">
                <a:solidFill>
                  <a:srgbClr val="000000"/>
                </a:solidFill>
                <a:latin typeface="CIDFont+F4"/>
              </a:rPr>
              <a:t>Ed, W. H. Freeman &amp; Co, 2002. 2. D. L. Nelson and M. M. Cox, </a:t>
            </a:r>
            <a:r>
              <a:rPr lang="en-IN" sz="1400" err="1">
                <a:solidFill>
                  <a:srgbClr val="000000"/>
                </a:solidFill>
                <a:latin typeface="CIDFont+F4"/>
              </a:rPr>
              <a:t>Lehninger</a:t>
            </a:r>
            <a:r>
              <a:rPr lang="en-IN" sz="1400">
                <a:solidFill>
                  <a:srgbClr val="000000"/>
                </a:solidFill>
                <a:latin typeface="CIDFont+F4"/>
              </a:rPr>
              <a:t> Principles of Biochemistry, Macmillan Worth, 2000. </a:t>
            </a:r>
          </a:p>
          <a:p>
            <a:endParaRPr lang="en-IN" sz="1100" b="0" i="0" u="none" strike="noStrike" baseline="0">
              <a:solidFill>
                <a:srgbClr val="000000"/>
              </a:solidFill>
              <a:latin typeface="CIDFont+F1"/>
            </a:endParaRPr>
          </a:p>
          <a:p>
            <a:r>
              <a:rPr lang="en-IN" sz="1100" b="0" i="0" u="none" strike="noStrike" baseline="0">
                <a:solidFill>
                  <a:srgbClr val="000000"/>
                </a:solidFill>
                <a:latin typeface="CIDFont+F1"/>
              </a:rPr>
              <a:t>References</a:t>
            </a:r>
            <a:r>
              <a:rPr lang="en-IN" sz="1100" b="0" i="0" u="none" strike="noStrike" baseline="0">
                <a:solidFill>
                  <a:srgbClr val="000000"/>
                </a:solidFill>
                <a:latin typeface="CIDFont+F4"/>
              </a:rPr>
              <a:t>: </a:t>
            </a:r>
          </a:p>
          <a:p>
            <a:pPr marL="342900" indent="-342900">
              <a:buAutoNum type="arabicPeriod"/>
            </a:pPr>
            <a:r>
              <a:rPr lang="en-IN" sz="1400">
                <a:solidFill>
                  <a:srgbClr val="000000"/>
                </a:solidFill>
                <a:latin typeface="CIDFont+F4"/>
              </a:rPr>
              <a:t>N. Hopkins, J. W. Roberts, J. A. </a:t>
            </a:r>
            <a:r>
              <a:rPr lang="en-IN" sz="1400" err="1">
                <a:solidFill>
                  <a:srgbClr val="000000"/>
                </a:solidFill>
                <a:latin typeface="CIDFont+F4"/>
              </a:rPr>
              <a:t>Steitz</a:t>
            </a:r>
            <a:r>
              <a:rPr lang="en-IN" sz="1400">
                <a:solidFill>
                  <a:srgbClr val="000000"/>
                </a:solidFill>
                <a:latin typeface="CIDFont+F4"/>
              </a:rPr>
              <a:t>, J. Watson and A. M. Weiner, Molecular Biology of the Gene, 4</a:t>
            </a:r>
            <a:r>
              <a:rPr lang="en-IN" sz="600" b="0" i="0" u="none" strike="noStrike" baseline="0">
                <a:solidFill>
                  <a:srgbClr val="000000"/>
                </a:solidFill>
                <a:latin typeface="CIDFont+F4"/>
              </a:rPr>
              <a:t>th </a:t>
            </a:r>
            <a:r>
              <a:rPr lang="en-IN" sz="1400">
                <a:solidFill>
                  <a:srgbClr val="000000"/>
                </a:solidFill>
                <a:latin typeface="CIDFont+F4"/>
              </a:rPr>
              <a:t>Ed, Benjamin Cummings, 1987. </a:t>
            </a:r>
          </a:p>
          <a:p>
            <a:pPr marL="342900" indent="-342900">
              <a:buAutoNum type="arabicPeriod"/>
            </a:pPr>
            <a:r>
              <a:rPr lang="en-IN" sz="1400">
                <a:solidFill>
                  <a:srgbClr val="000000"/>
                </a:solidFill>
                <a:latin typeface="CIDFont+F4"/>
              </a:rPr>
              <a:t>C. R. Cantor and P. R. </a:t>
            </a:r>
            <a:r>
              <a:rPr lang="en-IN" sz="1400" err="1">
                <a:solidFill>
                  <a:srgbClr val="000000"/>
                </a:solidFill>
                <a:latin typeface="CIDFont+F4"/>
              </a:rPr>
              <a:t>Schimmel</a:t>
            </a:r>
            <a:r>
              <a:rPr lang="en-IN" sz="1400">
                <a:solidFill>
                  <a:srgbClr val="000000"/>
                </a:solidFill>
                <a:latin typeface="CIDFont+F4"/>
              </a:rPr>
              <a:t>, Biophysical Chemistry (Parts I, II and III), W.H. Freeman &amp; Co., 1980.</a:t>
            </a:r>
          </a:p>
          <a:p>
            <a:r>
              <a:rPr lang="en-IN" sz="1400">
                <a:solidFill>
                  <a:srgbClr val="000000"/>
                </a:solidFill>
                <a:latin typeface="CIDFont+F4"/>
              </a:rPr>
              <a:t>3.    </a:t>
            </a:r>
            <a:r>
              <a:rPr lang="en-IN" sz="1400" b="1">
                <a:solidFill>
                  <a:srgbClr val="000000"/>
                </a:solidFill>
                <a:latin typeface="CIDFont+F4"/>
              </a:rPr>
              <a:t>C. C. Chatterjee, Human Physiology, Vol 1 &amp; 2, 11</a:t>
            </a:r>
            <a:r>
              <a:rPr lang="en-IN" sz="600" b="1" i="0" u="none" strike="noStrike" baseline="0">
                <a:solidFill>
                  <a:srgbClr val="000000"/>
                </a:solidFill>
                <a:latin typeface="CIDFont+F4"/>
              </a:rPr>
              <a:t>th </a:t>
            </a:r>
            <a:r>
              <a:rPr lang="en-IN" sz="1400" b="1">
                <a:solidFill>
                  <a:srgbClr val="000000"/>
                </a:solidFill>
                <a:latin typeface="CIDFont+F4"/>
              </a:rPr>
              <a:t>Ed, Medical Allied Agency, 1987</a:t>
            </a:r>
            <a:r>
              <a:rPr lang="en-IN" sz="2000" b="1" i="0" u="none" strike="noStrike" baseline="0">
                <a:solidFill>
                  <a:srgbClr val="000000"/>
                </a:solidFill>
                <a:latin typeface="CIDFont+F4"/>
              </a:rPr>
              <a:t>. </a:t>
            </a:r>
          </a:p>
          <a:p>
            <a:endParaRPr lang="en-IN" b="0" i="0" u="none" strike="noStrike" baseline="0">
              <a:solidFill>
                <a:srgbClr val="000000"/>
              </a:solidFill>
              <a:latin typeface="CIDFont+F4"/>
            </a:endParaRPr>
          </a:p>
          <a:p>
            <a:r>
              <a:rPr lang="en-IN" sz="1600" b="0" i="0" u="none" strike="noStrike" baseline="0">
                <a:solidFill>
                  <a:srgbClr val="0563C2"/>
                </a:solidFill>
                <a:latin typeface="CIDFont+F4"/>
              </a:rPr>
              <a:t>http://shilloi.iitg.ernet.in/~biotech/BT%20Syllabus/BT%20101.htm</a:t>
            </a:r>
          </a:p>
          <a:p>
            <a:endParaRPr lang="en-IN" sz="2000" b="0" i="0" u="none" strike="noStrike" baseline="0">
              <a:solidFill>
                <a:srgbClr val="000000"/>
              </a:solidFill>
              <a:latin typeface="CIDFont+F6"/>
            </a:endParaRPr>
          </a:p>
          <a:p>
            <a:r>
              <a:rPr lang="en-IN" sz="1600" b="0" i="0" u="none" strike="noStrike" baseline="0">
                <a:solidFill>
                  <a:srgbClr val="000000"/>
                </a:solidFill>
                <a:latin typeface="CIDFont+F6"/>
              </a:rPr>
              <a:t>Text book of Medical physiology, Guyton and Hall</a:t>
            </a:r>
            <a:endParaRPr lang="en-IN" sz="1000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735980" y="929549"/>
            <a:ext cx="10671718" cy="4460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198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26636" y="836344"/>
            <a:ext cx="947853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i="0" u="none" strike="noStrike" baseline="0">
                <a:latin typeface="CIDFont+F7"/>
              </a:rPr>
              <a:t>Grading Pattern</a:t>
            </a:r>
          </a:p>
          <a:p>
            <a:endParaRPr lang="en-IN" sz="3600" b="0" i="0" u="none" strike="noStrike" baseline="0">
              <a:latin typeface="CIDFont+F7"/>
            </a:endParaRPr>
          </a:p>
          <a:p>
            <a:r>
              <a:rPr lang="en-IN" sz="2400">
                <a:latin typeface="CIDFont+F4"/>
              </a:rPr>
              <a:t>• </a:t>
            </a:r>
            <a:r>
              <a:rPr lang="en-IN" sz="2400">
                <a:latin typeface="CIDFont+F5"/>
              </a:rPr>
              <a:t>Mid semester:  50 marks</a:t>
            </a:r>
          </a:p>
          <a:p>
            <a:r>
              <a:rPr lang="en-IN" sz="2400">
                <a:latin typeface="CIDFont+F4"/>
              </a:rPr>
              <a:t>• </a:t>
            </a:r>
            <a:r>
              <a:rPr lang="en-IN" sz="2400" strike="sngStrike">
                <a:latin typeface="CIDFont+F5"/>
              </a:rPr>
              <a:t>Quiz </a:t>
            </a:r>
            <a:r>
              <a:rPr lang="en-IN" sz="2400" u="sng" strike="sngStrike">
                <a:latin typeface="CIDFont+F5"/>
              </a:rPr>
              <a:t>before</a:t>
            </a:r>
            <a:r>
              <a:rPr lang="en-IN" sz="2400" strike="sngStrike">
                <a:latin typeface="CIDFont+F5"/>
              </a:rPr>
              <a:t> mid semester:  10 marks</a:t>
            </a:r>
          </a:p>
          <a:p>
            <a:r>
              <a:rPr lang="en-IN" sz="2400">
                <a:latin typeface="CIDFont+F4"/>
              </a:rPr>
              <a:t>• </a:t>
            </a:r>
            <a:r>
              <a:rPr lang="en-IN" sz="2400">
                <a:latin typeface="CIDFont+F5"/>
              </a:rPr>
              <a:t>Final semester :  50 marks</a:t>
            </a:r>
          </a:p>
          <a:p>
            <a:pPr lvl="0"/>
            <a:r>
              <a:rPr lang="en-IN" sz="2400">
                <a:latin typeface="CIDFont+F4"/>
              </a:rPr>
              <a:t>• </a:t>
            </a:r>
            <a:r>
              <a:rPr lang="en-IN" sz="2400" strike="sngStrike">
                <a:latin typeface="CIDFont+F5"/>
              </a:rPr>
              <a:t>Quiz </a:t>
            </a:r>
            <a:r>
              <a:rPr lang="en-IN" sz="2400" u="sng" strike="sngStrike">
                <a:latin typeface="CIDFont+F5"/>
              </a:rPr>
              <a:t>after</a:t>
            </a:r>
            <a:r>
              <a:rPr lang="en-IN" sz="2400" strike="sngStrike">
                <a:latin typeface="CIDFont+F5"/>
              </a:rPr>
              <a:t> mid semester:  10 marks</a:t>
            </a:r>
          </a:p>
          <a:p>
            <a:pPr lvl="0"/>
            <a:endParaRPr lang="en-IN" sz="2400">
              <a:latin typeface="CIDFont+F5"/>
            </a:endParaRPr>
          </a:p>
          <a:p>
            <a:pPr lvl="0"/>
            <a:endParaRPr lang="en-IN" sz="2400">
              <a:latin typeface="CIDFont+F5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>
                <a:solidFill>
                  <a:srgbClr val="FF0000"/>
                </a:solidFill>
                <a:latin typeface="CIDFont+F5"/>
              </a:rPr>
              <a:t>No re-examination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>
              <a:solidFill>
                <a:srgbClr val="FF0000"/>
              </a:solidFill>
              <a:latin typeface="CIDFont+F5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>
                <a:solidFill>
                  <a:srgbClr val="FF0000"/>
                </a:solidFill>
                <a:latin typeface="CIDFont+F5"/>
              </a:rPr>
              <a:t>Attendance guidelines shall be strictly followed</a:t>
            </a:r>
            <a:endParaRPr lang="en-IN" sz="2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191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37423" y="836341"/>
            <a:ext cx="9255514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IN" sz="3600">
                <a:latin typeface="CIDFont+F1"/>
              </a:rPr>
              <a:t>Human physiology:</a:t>
            </a:r>
          </a:p>
          <a:p>
            <a:endParaRPr lang="en-IN" sz="2400">
              <a:latin typeface="CIDFont+F1"/>
            </a:endParaRPr>
          </a:p>
          <a:p>
            <a:r>
              <a:rPr lang="en-IN" sz="2400">
                <a:latin typeface="CIDFont+F1"/>
              </a:rPr>
              <a:t>Nervous system, biological axons and neurons, neuromuscular and synaptic junctions;</a:t>
            </a:r>
          </a:p>
          <a:p>
            <a:endParaRPr lang="en-IN" sz="2400">
              <a:latin typeface="CIDFont+F1"/>
            </a:endParaRPr>
          </a:p>
          <a:p>
            <a:r>
              <a:rPr lang="en-IN" sz="2400">
                <a:latin typeface="CIDFont+F1"/>
              </a:rPr>
              <a:t>Sensory systems - hearing, taste, smell and visual receptors;</a:t>
            </a:r>
          </a:p>
          <a:p>
            <a:r>
              <a:rPr lang="en-IN" sz="2400">
                <a:latin typeface="CIDFont+F1"/>
              </a:rPr>
              <a:t>Introduction to ANN.</a:t>
            </a:r>
            <a:endParaRPr lang="en-IN" sz="2400"/>
          </a:p>
        </p:txBody>
      </p:sp>
      <p:sp>
        <p:nvSpPr>
          <p:cNvPr id="2" name="Rectangle 1"/>
          <p:cNvSpPr/>
          <p:nvPr/>
        </p:nvSpPr>
        <p:spPr>
          <a:xfrm>
            <a:off x="8456342" y="4834276"/>
            <a:ext cx="27840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Times New Roman" charset="0"/>
                <a:ea typeface="Times New Roman" charset="0"/>
                <a:cs typeface="Times New Roman" charset="0"/>
              </a:rPr>
              <a:t>Dr. Souptick Chanda,</a:t>
            </a:r>
          </a:p>
          <a:p>
            <a:r>
              <a:rPr lang="en-US">
                <a:latin typeface="Times New Roman" charset="0"/>
                <a:ea typeface="Times New Roman" charset="0"/>
                <a:cs typeface="Times New Roman" charset="0"/>
              </a:rPr>
              <a:t>BSBE, IIT Guwahati</a:t>
            </a:r>
          </a:p>
        </p:txBody>
      </p:sp>
    </p:spTree>
    <p:extLst>
      <p:ext uri="{BB962C8B-B14F-4D97-AF65-F5344CB8AC3E}">
        <p14:creationId xmlns:p14="http://schemas.microsoft.com/office/powerpoint/2010/main" val="3987796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986" y="829114"/>
            <a:ext cx="9883581" cy="575844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166638" y="306480"/>
            <a:ext cx="37417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>
                <a:latin typeface="CIDFont+F1"/>
              </a:rPr>
              <a:t>The Nervous System</a:t>
            </a:r>
            <a:endParaRPr lang="en-IN" sz="2800" b="1"/>
          </a:p>
        </p:txBody>
      </p:sp>
    </p:spTree>
    <p:extLst>
      <p:ext uri="{BB962C8B-B14F-4D97-AF65-F5344CB8AC3E}">
        <p14:creationId xmlns:p14="http://schemas.microsoft.com/office/powerpoint/2010/main" val="713717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" b="2468"/>
          <a:stretch/>
        </p:blipFill>
        <p:spPr>
          <a:xfrm>
            <a:off x="-84632" y="1"/>
            <a:ext cx="8543050" cy="699321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536659" y="2137410"/>
            <a:ext cx="300764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>
                <a:latin typeface="CIDFont+F1"/>
              </a:rPr>
              <a:t>The major components and functions of the</a:t>
            </a:r>
            <a:r>
              <a:rPr lang="en-IN" sz="2800" u="sng">
                <a:latin typeface="CIDFont+F1"/>
              </a:rPr>
              <a:t> central nervous system (CNS)</a:t>
            </a:r>
            <a:endParaRPr lang="en-IN" sz="2800" u="sng"/>
          </a:p>
        </p:txBody>
      </p:sp>
    </p:spTree>
    <p:extLst>
      <p:ext uri="{BB962C8B-B14F-4D97-AF65-F5344CB8AC3E}">
        <p14:creationId xmlns:p14="http://schemas.microsoft.com/office/powerpoint/2010/main" val="1488516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6900"/>
            <a:ext cx="4810978" cy="60370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615" y="1342275"/>
            <a:ext cx="7101385" cy="399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0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22" y="837739"/>
            <a:ext cx="8132426" cy="569269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374735" y="214542"/>
            <a:ext cx="30572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>
                <a:latin typeface="CIDFont+F1"/>
              </a:rPr>
              <a:t>The Special Senses</a:t>
            </a:r>
            <a:endParaRPr lang="en-IN" sz="2400" b="1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303" y="3640650"/>
            <a:ext cx="2891419" cy="28914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54"/>
          <a:stretch/>
        </p:blipFill>
        <p:spPr>
          <a:xfrm>
            <a:off x="8656917" y="445375"/>
            <a:ext cx="3267456" cy="304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15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6340" y="654303"/>
            <a:ext cx="10573187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>
                <a:latin typeface="CIDFont+F1"/>
              </a:rPr>
              <a:t>In short, the nervous system has three overall functions:</a:t>
            </a:r>
          </a:p>
          <a:p>
            <a:endParaRPr lang="en-IN" sz="2800" u="sng">
              <a:latin typeface="CIDFont+F1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u="sng">
                <a:latin typeface="CIDFont+F1"/>
              </a:rPr>
              <a:t>Sensory function</a:t>
            </a:r>
            <a:r>
              <a:rPr lang="en-IN" sz="2000" b="1">
                <a:latin typeface="CIDFont+F1"/>
              </a:rPr>
              <a:t> </a:t>
            </a:r>
            <a:r>
              <a:rPr lang="en-IN" sz="2000">
                <a:latin typeface="CIDFont+F1"/>
              </a:rPr>
              <a:t>-  sensory receptors detect the changes in the external environment.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>
              <a:latin typeface="CIDFont+F1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u="sng">
                <a:latin typeface="CIDFont+F1"/>
              </a:rPr>
              <a:t>Integrative function</a:t>
            </a:r>
            <a:r>
              <a:rPr lang="en-IN" sz="2000" b="1">
                <a:latin typeface="CIDFont+F1"/>
              </a:rPr>
              <a:t> </a:t>
            </a:r>
            <a:r>
              <a:rPr lang="en-IN" sz="2000">
                <a:latin typeface="CIDFont+F1"/>
              </a:rPr>
              <a:t>-  The CNS integrates this information.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>
              <a:latin typeface="CIDFont+F1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u="sng">
                <a:latin typeface="CIDFont+F1"/>
              </a:rPr>
              <a:t>Motor function</a:t>
            </a:r>
            <a:r>
              <a:rPr lang="en-IN" sz="2000" b="1">
                <a:latin typeface="CIDFont+F1"/>
              </a:rPr>
              <a:t> </a:t>
            </a:r>
            <a:r>
              <a:rPr lang="en-IN" sz="2000">
                <a:latin typeface="CIDFont+F1"/>
              </a:rPr>
              <a:t>-  effectors (muscles and glands) bring about a response.</a:t>
            </a:r>
          </a:p>
          <a:p>
            <a:endParaRPr lang="en-IN" sz="2800" u="sng">
              <a:latin typeface="CIDFont+F1"/>
            </a:endParaRPr>
          </a:p>
          <a:p>
            <a:r>
              <a:rPr lang="en-IN" sz="2400">
                <a:latin typeface="CIDFont+F1"/>
              </a:rPr>
              <a:t>Example: You are riding a bicycle and see that the traffic light has turned </a:t>
            </a:r>
            <a:r>
              <a:rPr lang="en-IN" sz="2400">
                <a:solidFill>
                  <a:srgbClr val="FF0000"/>
                </a:solidFill>
                <a:latin typeface="CIDFont+F1"/>
              </a:rPr>
              <a:t>RED</a:t>
            </a:r>
            <a:r>
              <a:rPr lang="en-IN" sz="2400">
                <a:latin typeface="CIDFont+F1"/>
              </a:rPr>
              <a:t> (</a:t>
            </a:r>
            <a:r>
              <a:rPr lang="en-IN" sz="2400" u="sng">
                <a:latin typeface="CIDFont+F1"/>
              </a:rPr>
              <a:t>sensory function</a:t>
            </a:r>
            <a:r>
              <a:rPr lang="en-IN" sz="2400">
                <a:latin typeface="CIDFont+F1"/>
              </a:rPr>
              <a:t>). Your CNS integrates the information (</a:t>
            </a:r>
            <a:r>
              <a:rPr lang="en-IN" sz="2400">
                <a:solidFill>
                  <a:srgbClr val="FF0000"/>
                </a:solidFill>
                <a:latin typeface="CIDFont+F1"/>
              </a:rPr>
              <a:t>RED</a:t>
            </a:r>
            <a:r>
              <a:rPr lang="en-IN" sz="2400">
                <a:latin typeface="CIDFont+F1"/>
              </a:rPr>
              <a:t> light means ‘</a:t>
            </a:r>
            <a:r>
              <a:rPr lang="en-IN" sz="2400">
                <a:solidFill>
                  <a:srgbClr val="FF0000"/>
                </a:solidFill>
                <a:latin typeface="CIDFont+F1"/>
              </a:rPr>
              <a:t>STOP</a:t>
            </a:r>
            <a:r>
              <a:rPr lang="en-IN" sz="2400">
                <a:latin typeface="CIDFont+F1"/>
              </a:rPr>
              <a:t>’ - </a:t>
            </a:r>
            <a:r>
              <a:rPr lang="en-IN" sz="2400" u="sng">
                <a:latin typeface="CIDFont+F1"/>
              </a:rPr>
              <a:t>integrative function</a:t>
            </a:r>
            <a:r>
              <a:rPr lang="en-IN" sz="2400">
                <a:latin typeface="CIDFont+F1"/>
              </a:rPr>
              <a:t>), and you use your muscles to apply your brakes to stop the bicycle (</a:t>
            </a:r>
            <a:r>
              <a:rPr lang="en-IN" sz="2400" u="sng">
                <a:latin typeface="CIDFont+F1"/>
              </a:rPr>
              <a:t>motor function</a:t>
            </a:r>
            <a:r>
              <a:rPr lang="en-IN" sz="2400">
                <a:latin typeface="CIDFont+F1"/>
              </a:rPr>
              <a:t>).</a:t>
            </a:r>
          </a:p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949869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C16EAF-19CB-493C-93D9-ED0F8271A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436" y="3281699"/>
            <a:ext cx="9180355" cy="276977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150A9F-A57C-40EB-8BF1-3543ABDA3F59}"/>
              </a:ext>
            </a:extLst>
          </p:cNvPr>
          <p:cNvSpPr/>
          <p:nvPr/>
        </p:nvSpPr>
        <p:spPr>
          <a:xfrm>
            <a:off x="1397329" y="1273304"/>
            <a:ext cx="91835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>
                <a:solidFill>
                  <a:srgbClr val="181818"/>
                </a:solidFill>
                <a:latin typeface="*Cambria-5526-Identity-H"/>
              </a:rPr>
              <a:t>The nervous system is composed of nervous tissue. The nervous tissue consists of two elements: Nerve cell or neuron and neuroglia. </a:t>
            </a:r>
            <a:r>
              <a:rPr lang="en-IN" b="1">
                <a:solidFill>
                  <a:srgbClr val="FF0000"/>
                </a:solidFill>
                <a:latin typeface="*Cambria-5526-Identity-H"/>
              </a:rPr>
              <a:t>The neurons are the structural and functional units.</a:t>
            </a:r>
            <a:r>
              <a:rPr lang="en-IN" b="1">
                <a:solidFill>
                  <a:srgbClr val="181818"/>
                </a:solidFill>
                <a:latin typeface="*Cambria-5526-Identity-H"/>
              </a:rPr>
              <a:t> They communicate with each other directly or indirectly through synapses. They are the electrically excitable cells and they transmit impulses via chemical and electrical signals.</a:t>
            </a:r>
            <a:endParaRPr lang="en-IN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528E71-E57A-4727-8A3E-339285758FDA}"/>
              </a:ext>
            </a:extLst>
          </p:cNvPr>
          <p:cNvSpPr txBox="1"/>
          <p:nvPr/>
        </p:nvSpPr>
        <p:spPr>
          <a:xfrm>
            <a:off x="5650461" y="518896"/>
            <a:ext cx="1304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/>
              <a:t>Neuron</a:t>
            </a:r>
          </a:p>
        </p:txBody>
      </p:sp>
    </p:spTree>
    <p:extLst>
      <p:ext uri="{BB962C8B-B14F-4D97-AF65-F5344CB8AC3E}">
        <p14:creationId xmlns:p14="http://schemas.microsoft.com/office/powerpoint/2010/main" val="2308553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2622627FE0BB42A7311AF50D73D144" ma:contentTypeVersion="10" ma:contentTypeDescription="Create a new document." ma:contentTypeScope="" ma:versionID="c7caf746f9f59231fcc88430109f7c93">
  <xsd:schema xmlns:xsd="http://www.w3.org/2001/XMLSchema" xmlns:xs="http://www.w3.org/2001/XMLSchema" xmlns:p="http://schemas.microsoft.com/office/2006/metadata/properties" xmlns:ns2="f3d90b6b-40ba-4cf1-9177-eadded3cce4b" xmlns:ns3="469ac0c8-6c93-45a5-801f-5dae600c78f6" targetNamespace="http://schemas.microsoft.com/office/2006/metadata/properties" ma:root="true" ma:fieldsID="d77bf9fd42b4d7e102237062b1ace12d" ns2:_="" ns3:_="">
    <xsd:import namespace="f3d90b6b-40ba-4cf1-9177-eadded3cce4b"/>
    <xsd:import namespace="469ac0c8-6c93-45a5-801f-5dae600c78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d90b6b-40ba-4cf1-9177-eadded3cce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9ac0c8-6c93-45a5-801f-5dae600c78f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F7D00ED-DE3A-44D9-93E6-43A642357C8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9F232DD-E249-4E02-B467-729AF916B9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E98DE4-E1F2-4408-BF2D-B2F7F6D7CDFE}">
  <ds:schemaRefs>
    <ds:schemaRef ds:uri="469ac0c8-6c93-45a5-801f-5dae600c78f6"/>
    <ds:schemaRef ds:uri="f3d90b6b-40ba-4cf1-9177-eadded3cce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IITG</dc:creator>
  <cp:revision>3</cp:revision>
  <dcterms:created xsi:type="dcterms:W3CDTF">2018-02-19T09:53:57Z</dcterms:created>
  <dcterms:modified xsi:type="dcterms:W3CDTF">2024-04-24T11:59:01Z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0x010100252622627FE0BB42A7311AF50D73D144</vt:lpwstr>
  </property>
</Properties>
</file>