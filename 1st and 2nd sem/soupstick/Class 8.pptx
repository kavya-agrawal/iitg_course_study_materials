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3"/>
  </p:sldMasterIdLst>
  <p:sldIdLst>
    <p:sldId id="256" r:id="rId4"/>
    <p:sldId id="258" r:id="rId5"/>
    <p:sldId id="257" r:id="rId6"/>
    <p:sldId id="259" r:id="rId7"/>
    <p:sldId id="260" r:id="rId8"/>
    <p:sldId id="261" r:id="rId9"/>
    <p:sldId id="262"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B6D259-EC54-4DBA-8E34-2E054A8CF58F}" v="7" dt="2024-04-23T11:58:05.098"/>
    <p1510:client id="{721F54D8-4C71-440B-B7B6-1A2E19F57B05}" v="7" dt="2024-04-23T18:10:04.520"/>
    <p1510:client id="{91ECEE1B-5247-1E1B-98DA-C9A5E067EEC6}" v="2" dt="2024-04-23T18:08:30.394"/>
    <p1510:client id="{D2A79837-5808-4B9D-B85B-B0D8BB4E485D}" v="17" dt="2024-04-23T11:49:21.2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heme" Target="theme/theme1.xml"/><Relationship Id="rId3" Type="http://schemas.openxmlformats.org/officeDocument/2006/relationships/slideMaster" Target="slideMasters/slideMaster1.xml"/><Relationship Id="rId7" Type="http://schemas.openxmlformats.org/officeDocument/2006/relationships/slide" Target="slides/slide4.xml"/><Relationship Id="rId12" Type="http://schemas.openxmlformats.org/officeDocument/2006/relationships/viewProps" Target="view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presProps" Target="presProps.xml"/><Relationship Id="rId5" Type="http://schemas.openxmlformats.org/officeDocument/2006/relationships/slide" Target="slides/slide2.xml"/><Relationship Id="rId15" Type="http://schemas.microsoft.com/office/2016/11/relationships/changesInfo" Target="changesInfos/changesInfo1.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UKYA KOUSHIK KRISHNA RATHOD" userId="S::b.rathod@iitg.ac.in::aeca8632-4bcc-482f-bee9-3ddf53b95bc0" providerId="AD" clId="Web-{07B6D259-EC54-4DBA-8E34-2E054A8CF58F}"/>
    <pc:docChg chg="modSld">
      <pc:chgData name="BHUKYA KOUSHIK KRISHNA RATHOD" userId="S::b.rathod@iitg.ac.in::aeca8632-4bcc-482f-bee9-3ddf53b95bc0" providerId="AD" clId="Web-{07B6D259-EC54-4DBA-8E34-2E054A8CF58F}" dt="2024-04-23T11:58:05.098" v="3" actId="14100"/>
      <pc:docMkLst>
        <pc:docMk/>
      </pc:docMkLst>
      <pc:sldChg chg="modSp">
        <pc:chgData name="BHUKYA KOUSHIK KRISHNA RATHOD" userId="S::b.rathod@iitg.ac.in::aeca8632-4bcc-482f-bee9-3ddf53b95bc0" providerId="AD" clId="Web-{07B6D259-EC54-4DBA-8E34-2E054A8CF58F}" dt="2024-04-23T11:58:05.098" v="3" actId="14100"/>
        <pc:sldMkLst>
          <pc:docMk/>
          <pc:sldMk cId="2533546478" sldId="260"/>
        </pc:sldMkLst>
        <pc:spChg chg="mod">
          <ac:chgData name="BHUKYA KOUSHIK KRISHNA RATHOD" userId="S::b.rathod@iitg.ac.in::aeca8632-4bcc-482f-bee9-3ddf53b95bc0" providerId="AD" clId="Web-{07B6D259-EC54-4DBA-8E34-2E054A8CF58F}" dt="2024-04-23T11:58:05.098" v="3" actId="14100"/>
          <ac:spMkLst>
            <pc:docMk/>
            <pc:sldMk cId="2533546478" sldId="260"/>
            <ac:spMk id="5" creationId="{00000000-0000-0000-0000-000000000000}"/>
          </ac:spMkLst>
        </pc:spChg>
      </pc:sldChg>
    </pc:docChg>
  </pc:docChgLst>
  <pc:docChgLst>
    <pc:chgData name="DAKSH KUMAR DHAKA" userId="S::d.daksh@iitg.ac.in::09e70e95-e310-4d2b-8aa4-87dac2ad639f" providerId="AD" clId="Web-{721F54D8-4C71-440B-B7B6-1A2E19F57B05}"/>
    <pc:docChg chg="modSld">
      <pc:chgData name="DAKSH KUMAR DHAKA" userId="S::d.daksh@iitg.ac.in::09e70e95-e310-4d2b-8aa4-87dac2ad639f" providerId="AD" clId="Web-{721F54D8-4C71-440B-B7B6-1A2E19F57B05}" dt="2024-04-23T18:10:03.817" v="3" actId="1076"/>
      <pc:docMkLst>
        <pc:docMk/>
      </pc:docMkLst>
      <pc:sldChg chg="modSp">
        <pc:chgData name="DAKSH KUMAR DHAKA" userId="S::d.daksh@iitg.ac.in::09e70e95-e310-4d2b-8aa4-87dac2ad639f" providerId="AD" clId="Web-{721F54D8-4C71-440B-B7B6-1A2E19F57B05}" dt="2024-04-23T18:10:03.817" v="3" actId="1076"/>
        <pc:sldMkLst>
          <pc:docMk/>
          <pc:sldMk cId="2414980000" sldId="256"/>
        </pc:sldMkLst>
        <pc:picChg chg="mod">
          <ac:chgData name="DAKSH KUMAR DHAKA" userId="S::d.daksh@iitg.ac.in::09e70e95-e310-4d2b-8aa4-87dac2ad639f" providerId="AD" clId="Web-{721F54D8-4C71-440B-B7B6-1A2E19F57B05}" dt="2024-04-23T18:10:03.817" v="3" actId="1076"/>
          <ac:picMkLst>
            <pc:docMk/>
            <pc:sldMk cId="2414980000" sldId="256"/>
            <ac:picMk id="6" creationId="{00000000-0000-0000-0000-000000000000}"/>
          </ac:picMkLst>
        </pc:picChg>
      </pc:sldChg>
    </pc:docChg>
  </pc:docChgLst>
  <pc:docChgLst>
    <pc:chgData name="BHUKYA KOUSHIK KRISHNA RATHOD" userId="S::b.rathod@iitg.ac.in::aeca8632-4bcc-482f-bee9-3ddf53b95bc0" providerId="AD" clId="Web-{D2A79837-5808-4B9D-B85B-B0D8BB4E485D}"/>
    <pc:docChg chg="modSld">
      <pc:chgData name="BHUKYA KOUSHIK KRISHNA RATHOD" userId="S::b.rathod@iitg.ac.in::aeca8632-4bcc-482f-bee9-3ddf53b95bc0" providerId="AD" clId="Web-{D2A79837-5808-4B9D-B85B-B0D8BB4E485D}" dt="2024-04-23T11:49:20.491" v="5" actId="20577"/>
      <pc:docMkLst>
        <pc:docMk/>
      </pc:docMkLst>
      <pc:sldChg chg="modSp">
        <pc:chgData name="BHUKYA KOUSHIK KRISHNA RATHOD" userId="S::b.rathod@iitg.ac.in::aeca8632-4bcc-482f-bee9-3ddf53b95bc0" providerId="AD" clId="Web-{D2A79837-5808-4B9D-B85B-B0D8BB4E485D}" dt="2024-04-23T11:48:44.803" v="3" actId="20577"/>
        <pc:sldMkLst>
          <pc:docMk/>
          <pc:sldMk cId="750029534" sldId="257"/>
        </pc:sldMkLst>
        <pc:spChg chg="mod">
          <ac:chgData name="BHUKYA KOUSHIK KRISHNA RATHOD" userId="S::b.rathod@iitg.ac.in::aeca8632-4bcc-482f-bee9-3ddf53b95bc0" providerId="AD" clId="Web-{D2A79837-5808-4B9D-B85B-B0D8BB4E485D}" dt="2024-04-23T11:48:44.803" v="3" actId="20577"/>
          <ac:spMkLst>
            <pc:docMk/>
            <pc:sldMk cId="750029534" sldId="257"/>
            <ac:spMk id="6" creationId="{00000000-0000-0000-0000-000000000000}"/>
          </ac:spMkLst>
        </pc:spChg>
      </pc:sldChg>
      <pc:sldChg chg="modSp">
        <pc:chgData name="BHUKYA KOUSHIK KRISHNA RATHOD" userId="S::b.rathod@iitg.ac.in::aeca8632-4bcc-482f-bee9-3ddf53b95bc0" providerId="AD" clId="Web-{D2A79837-5808-4B9D-B85B-B0D8BB4E485D}" dt="2024-04-23T11:49:20.491" v="5" actId="20577"/>
        <pc:sldMkLst>
          <pc:docMk/>
          <pc:sldMk cId="1995311740" sldId="259"/>
        </pc:sldMkLst>
        <pc:spChg chg="mod">
          <ac:chgData name="BHUKYA KOUSHIK KRISHNA RATHOD" userId="S::b.rathod@iitg.ac.in::aeca8632-4bcc-482f-bee9-3ddf53b95bc0" providerId="AD" clId="Web-{D2A79837-5808-4B9D-B85B-B0D8BB4E485D}" dt="2024-04-23T11:49:20.491" v="5" actId="20577"/>
          <ac:spMkLst>
            <pc:docMk/>
            <pc:sldMk cId="1995311740" sldId="259"/>
            <ac:spMk id="2" creationId="{00000000-0000-0000-0000-000000000000}"/>
          </ac:spMkLst>
        </pc:spChg>
      </pc:sldChg>
    </pc:docChg>
  </pc:docChgLst>
  <pc:docChgLst>
    <pc:chgData name="CHINAKSHI CHOUDHARY" userId="S::c.chinakshi@iitg.ac.in::bdf62f98-bdc6-48ac-8ad7-37251097af22" providerId="AD" clId="Web-{91ECEE1B-5247-1E1B-98DA-C9A5E067EEC6}"/>
    <pc:docChg chg="modSld">
      <pc:chgData name="CHINAKSHI CHOUDHARY" userId="S::c.chinakshi@iitg.ac.in::bdf62f98-bdc6-48ac-8ad7-37251097af22" providerId="AD" clId="Web-{91ECEE1B-5247-1E1B-98DA-C9A5E067EEC6}" dt="2024-04-23T18:08:30.394" v="1" actId="1076"/>
      <pc:docMkLst>
        <pc:docMk/>
      </pc:docMkLst>
      <pc:sldChg chg="modSp">
        <pc:chgData name="CHINAKSHI CHOUDHARY" userId="S::c.chinakshi@iitg.ac.in::bdf62f98-bdc6-48ac-8ad7-37251097af22" providerId="AD" clId="Web-{91ECEE1B-5247-1E1B-98DA-C9A5E067EEC6}" dt="2024-04-23T18:08:30.394" v="1" actId="1076"/>
        <pc:sldMkLst>
          <pc:docMk/>
          <pc:sldMk cId="3947228909" sldId="258"/>
        </pc:sldMkLst>
        <pc:picChg chg="mod">
          <ac:chgData name="CHINAKSHI CHOUDHARY" userId="S::c.chinakshi@iitg.ac.in::bdf62f98-bdc6-48ac-8ad7-37251097af22" providerId="AD" clId="Web-{91ECEE1B-5247-1E1B-98DA-C9A5E067EEC6}" dt="2024-04-23T18:08:30.394" v="1" actId="1076"/>
          <ac:picMkLst>
            <pc:docMk/>
            <pc:sldMk cId="3947228909" sldId="258"/>
            <ac:picMk id="4" creationId="{00000000-0000-0000-0000-00000000000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CC3FBAEC-2FB7-4AED-827B-739BCD887B3D}" type="datetimeFigureOut">
              <a:rPr lang="en-IN" smtClean="0"/>
              <a:t>23-04-2024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20A4D6-40F8-46D8-8E66-34DE51FED888}" type="slidenum">
              <a:rPr lang="en-IN" smtClean="0"/>
              <a:t>‹#›</a:t>
            </a:fld>
            <a:endParaRPr lang="en-IN"/>
          </a:p>
        </p:txBody>
      </p:sp>
    </p:spTree>
    <p:extLst>
      <p:ext uri="{BB962C8B-B14F-4D97-AF65-F5344CB8AC3E}">
        <p14:creationId xmlns:p14="http://schemas.microsoft.com/office/powerpoint/2010/main" val="28752725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C3FBAEC-2FB7-4AED-827B-739BCD887B3D}" type="datetimeFigureOut">
              <a:rPr lang="en-IN" smtClean="0"/>
              <a:t>23-04-2024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20A4D6-40F8-46D8-8E66-34DE51FED888}" type="slidenum">
              <a:rPr lang="en-IN" smtClean="0"/>
              <a:t>‹#›</a:t>
            </a:fld>
            <a:endParaRPr lang="en-IN"/>
          </a:p>
        </p:txBody>
      </p:sp>
    </p:spTree>
    <p:extLst>
      <p:ext uri="{BB962C8B-B14F-4D97-AF65-F5344CB8AC3E}">
        <p14:creationId xmlns:p14="http://schemas.microsoft.com/office/powerpoint/2010/main" val="28098175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C3FBAEC-2FB7-4AED-827B-739BCD887B3D}" type="datetimeFigureOut">
              <a:rPr lang="en-IN" smtClean="0"/>
              <a:t>23-04-2024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20A4D6-40F8-46D8-8E66-34DE51FED888}" type="slidenum">
              <a:rPr lang="en-IN" smtClean="0"/>
              <a:t>‹#›</a:t>
            </a:fld>
            <a:endParaRPr lang="en-IN"/>
          </a:p>
        </p:txBody>
      </p:sp>
    </p:spTree>
    <p:extLst>
      <p:ext uri="{BB962C8B-B14F-4D97-AF65-F5344CB8AC3E}">
        <p14:creationId xmlns:p14="http://schemas.microsoft.com/office/powerpoint/2010/main" val="7857053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CC3FBAEC-2FB7-4AED-827B-739BCD887B3D}" type="datetimeFigureOut">
              <a:rPr lang="en-IN" smtClean="0"/>
              <a:t>23-04-2024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420A4D6-40F8-46D8-8E66-34DE51FED888}" type="slidenum">
              <a:rPr lang="en-IN" smtClean="0"/>
              <a:t>‹#›</a:t>
            </a:fld>
            <a:endParaRPr lang="en-IN"/>
          </a:p>
        </p:txBody>
      </p:sp>
    </p:spTree>
    <p:extLst>
      <p:ext uri="{BB962C8B-B14F-4D97-AF65-F5344CB8AC3E}">
        <p14:creationId xmlns:p14="http://schemas.microsoft.com/office/powerpoint/2010/main" val="21827097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CC3FBAEC-2FB7-4AED-827B-739BCD887B3D}" type="datetimeFigureOut">
              <a:rPr lang="en-IN" smtClean="0"/>
              <a:t>23-04-2024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420A4D6-40F8-46D8-8E66-34DE51FED888}" type="slidenum">
              <a:rPr lang="en-IN" smtClean="0"/>
              <a:t>‹#›</a:t>
            </a:fld>
            <a:endParaRPr lang="en-IN"/>
          </a:p>
        </p:txBody>
      </p:sp>
    </p:spTree>
    <p:extLst>
      <p:ext uri="{BB962C8B-B14F-4D97-AF65-F5344CB8AC3E}">
        <p14:creationId xmlns:p14="http://schemas.microsoft.com/office/powerpoint/2010/main" val="31512551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CC3FBAEC-2FB7-4AED-827B-739BCD887B3D}" type="datetimeFigureOut">
              <a:rPr lang="en-IN" smtClean="0"/>
              <a:t>23-04-2024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420A4D6-40F8-46D8-8E66-34DE51FED888}" type="slidenum">
              <a:rPr lang="en-IN" smtClean="0"/>
              <a:t>‹#›</a:t>
            </a:fld>
            <a:endParaRPr lang="en-IN"/>
          </a:p>
        </p:txBody>
      </p:sp>
    </p:spTree>
    <p:extLst>
      <p:ext uri="{BB962C8B-B14F-4D97-AF65-F5344CB8AC3E}">
        <p14:creationId xmlns:p14="http://schemas.microsoft.com/office/powerpoint/2010/main" val="12622283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3FBAEC-2FB7-4AED-827B-739BCD887B3D}" type="datetimeFigureOut">
              <a:rPr lang="en-IN" smtClean="0"/>
              <a:t>23-04-2024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420A4D6-40F8-46D8-8E66-34DE51FED888}" type="slidenum">
              <a:rPr lang="en-IN" smtClean="0"/>
              <a:t>‹#›</a:t>
            </a:fld>
            <a:endParaRPr lang="en-IN"/>
          </a:p>
        </p:txBody>
      </p:sp>
    </p:spTree>
    <p:extLst>
      <p:ext uri="{BB962C8B-B14F-4D97-AF65-F5344CB8AC3E}">
        <p14:creationId xmlns:p14="http://schemas.microsoft.com/office/powerpoint/2010/main" val="2180070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C3FBAEC-2FB7-4AED-827B-739BCD887B3D}" type="datetimeFigureOut">
              <a:rPr lang="en-IN" smtClean="0"/>
              <a:t>23-04-2024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420A4D6-40F8-46D8-8E66-34DE51FED888}" type="slidenum">
              <a:rPr lang="en-IN" smtClean="0"/>
              <a:t>‹#›</a:t>
            </a:fld>
            <a:endParaRPr lang="en-IN"/>
          </a:p>
        </p:txBody>
      </p:sp>
    </p:spTree>
    <p:extLst>
      <p:ext uri="{BB962C8B-B14F-4D97-AF65-F5344CB8AC3E}">
        <p14:creationId xmlns:p14="http://schemas.microsoft.com/office/powerpoint/2010/main" val="2520677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C3FBAEC-2FB7-4AED-827B-739BCD887B3D}" type="datetimeFigureOut">
              <a:rPr lang="en-IN" smtClean="0"/>
              <a:t>23-04-2024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420A4D6-40F8-46D8-8E66-34DE51FED888}" type="slidenum">
              <a:rPr lang="en-IN" smtClean="0"/>
              <a:t>‹#›</a:t>
            </a:fld>
            <a:endParaRPr lang="en-IN"/>
          </a:p>
        </p:txBody>
      </p:sp>
    </p:spTree>
    <p:extLst>
      <p:ext uri="{BB962C8B-B14F-4D97-AF65-F5344CB8AC3E}">
        <p14:creationId xmlns:p14="http://schemas.microsoft.com/office/powerpoint/2010/main" val="33426286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C3FBAEC-2FB7-4AED-827B-739BCD887B3D}" type="datetimeFigureOut">
              <a:rPr lang="en-IN" smtClean="0"/>
              <a:t>23-04-2024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20A4D6-40F8-46D8-8E66-34DE51FED888}" type="slidenum">
              <a:rPr lang="en-IN" smtClean="0"/>
              <a:t>‹#›</a:t>
            </a:fld>
            <a:endParaRPr lang="en-IN"/>
          </a:p>
        </p:txBody>
      </p:sp>
    </p:spTree>
    <p:extLst>
      <p:ext uri="{BB962C8B-B14F-4D97-AF65-F5344CB8AC3E}">
        <p14:creationId xmlns:p14="http://schemas.microsoft.com/office/powerpoint/2010/main" val="1268678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C3FBAEC-2FB7-4AED-827B-739BCD887B3D}" type="datetimeFigureOut">
              <a:rPr lang="en-IN" smtClean="0"/>
              <a:t>23-04-2024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20A4D6-40F8-46D8-8E66-34DE51FED888}" type="slidenum">
              <a:rPr lang="en-IN" smtClean="0"/>
              <a:t>‹#›</a:t>
            </a:fld>
            <a:endParaRPr lang="en-IN"/>
          </a:p>
        </p:txBody>
      </p:sp>
    </p:spTree>
    <p:extLst>
      <p:ext uri="{BB962C8B-B14F-4D97-AF65-F5344CB8AC3E}">
        <p14:creationId xmlns:p14="http://schemas.microsoft.com/office/powerpoint/2010/main" val="34955956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3FBAEC-2FB7-4AED-827B-739BCD887B3D}" type="datetimeFigureOut">
              <a:rPr lang="en-IN" smtClean="0"/>
              <a:t>23-04-2024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20A4D6-40F8-46D8-8E66-34DE51FED888}" type="slidenum">
              <a:rPr lang="en-IN" smtClean="0"/>
              <a:t>‹#›</a:t>
            </a:fld>
            <a:endParaRPr lang="en-IN"/>
          </a:p>
        </p:txBody>
      </p:sp>
    </p:spTree>
    <p:extLst>
      <p:ext uri="{BB962C8B-B14F-4D97-AF65-F5344CB8AC3E}">
        <p14:creationId xmlns:p14="http://schemas.microsoft.com/office/powerpoint/2010/main" val="9011478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493941" y="256480"/>
            <a:ext cx="2275175" cy="523220"/>
          </a:xfrm>
          <a:prstGeom prst="rect">
            <a:avLst/>
          </a:prstGeom>
          <a:noFill/>
        </p:spPr>
        <p:txBody>
          <a:bodyPr wrap="none" rtlCol="0">
            <a:spAutoFit/>
          </a:bodyPr>
          <a:lstStyle/>
          <a:p>
            <a:r>
              <a:rPr lang="en-IN" sz="2800"/>
              <a:t>Neural circuits</a:t>
            </a:r>
          </a:p>
        </p:txBody>
      </p:sp>
      <p:sp>
        <p:nvSpPr>
          <p:cNvPr id="5" name="TextBox 4"/>
          <p:cNvSpPr txBox="1"/>
          <p:nvPr/>
        </p:nvSpPr>
        <p:spPr>
          <a:xfrm>
            <a:off x="936707" y="930685"/>
            <a:ext cx="10458119" cy="1308050"/>
          </a:xfrm>
          <a:prstGeom prst="rect">
            <a:avLst/>
          </a:prstGeom>
          <a:noFill/>
        </p:spPr>
        <p:txBody>
          <a:bodyPr wrap="none" rtlCol="0">
            <a:spAutoFit/>
          </a:bodyPr>
          <a:lstStyle/>
          <a:p>
            <a:pPr marL="285750" indent="-285750">
              <a:buFont typeface="Arial" panose="020B0604020202020204" pitchFamily="34" charset="0"/>
              <a:buChar char="•"/>
            </a:pPr>
            <a:r>
              <a:rPr lang="en-IN"/>
              <a:t>CNS contains billions of neurons organized into complicated networks called </a:t>
            </a:r>
            <a:r>
              <a:rPr lang="en-IN" b="1"/>
              <a:t>neural circuits</a:t>
            </a:r>
            <a:r>
              <a:rPr lang="en-IN"/>
              <a:t>.</a:t>
            </a:r>
          </a:p>
          <a:p>
            <a:pPr marL="285750" indent="-285750">
              <a:buFont typeface="Arial" panose="020B0604020202020204" pitchFamily="34" charset="0"/>
              <a:buChar char="•"/>
            </a:pPr>
            <a:endParaRPr lang="en-IN" sz="1100"/>
          </a:p>
          <a:p>
            <a:pPr marL="285750" indent="-285750">
              <a:buFont typeface="Arial" panose="020B0604020202020204" pitchFamily="34" charset="0"/>
              <a:buChar char="•"/>
            </a:pPr>
            <a:r>
              <a:rPr lang="en-IN"/>
              <a:t>These are </a:t>
            </a:r>
            <a:r>
              <a:rPr lang="en-IN" b="1"/>
              <a:t>functional groups of neurons </a:t>
            </a:r>
            <a:r>
              <a:rPr lang="en-IN"/>
              <a:t>that process specific types of information.</a:t>
            </a:r>
          </a:p>
          <a:p>
            <a:pPr marL="285750" indent="-285750">
              <a:buFont typeface="Arial" panose="020B0604020202020204" pitchFamily="34" charset="0"/>
              <a:buChar char="•"/>
            </a:pPr>
            <a:endParaRPr lang="en-IN" sz="1400"/>
          </a:p>
          <a:p>
            <a:pPr marL="285750" indent="-285750">
              <a:buFont typeface="Arial" panose="020B0604020202020204" pitchFamily="34" charset="0"/>
              <a:buChar char="•"/>
            </a:pPr>
            <a:r>
              <a:rPr lang="en-IN"/>
              <a:t>The simplest neural circuit may consist of </a:t>
            </a:r>
            <a:r>
              <a:rPr lang="en-IN" b="1"/>
              <a:t>one series connection</a:t>
            </a:r>
            <a:r>
              <a:rPr lang="en-IN"/>
              <a:t>, but in most cases they are </a:t>
            </a:r>
            <a:r>
              <a:rPr lang="en-IN" b="1"/>
              <a:t>very complex</a:t>
            </a:r>
            <a:r>
              <a:rPr lang="en-IN"/>
              <a:t>. </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1376" y="2970974"/>
            <a:ext cx="7636726" cy="3545623"/>
          </a:xfrm>
          <a:prstGeom prst="rect">
            <a:avLst/>
          </a:prstGeom>
          <a:ln>
            <a:noFill/>
          </a:ln>
          <a:effectLst>
            <a:outerShdw blurRad="190500" algn="tl" rotWithShape="0">
              <a:srgbClr val="000000">
                <a:alpha val="70000"/>
              </a:srgbClr>
            </a:outerShdw>
          </a:effectLst>
        </p:spPr>
      </p:pic>
      <p:sp>
        <p:nvSpPr>
          <p:cNvPr id="7" name="TextBox 6"/>
          <p:cNvSpPr txBox="1"/>
          <p:nvPr/>
        </p:nvSpPr>
        <p:spPr>
          <a:xfrm>
            <a:off x="1975621" y="2473347"/>
            <a:ext cx="7491759" cy="400110"/>
          </a:xfrm>
          <a:prstGeom prst="rect">
            <a:avLst/>
          </a:prstGeom>
          <a:noFill/>
        </p:spPr>
        <p:txBody>
          <a:bodyPr wrap="square" rtlCol="0">
            <a:spAutoFit/>
          </a:bodyPr>
          <a:lstStyle/>
          <a:p>
            <a:r>
              <a:rPr lang="en-IN" sz="2000">
                <a:solidFill>
                  <a:srgbClr val="002060"/>
                </a:solidFill>
              </a:rPr>
              <a:t>These are not branches of trees, but neural circuits of our brain …</a:t>
            </a:r>
          </a:p>
        </p:txBody>
      </p:sp>
    </p:spTree>
    <p:extLst>
      <p:ext uri="{BB962C8B-B14F-4D97-AF65-F5344CB8AC3E}">
        <p14:creationId xmlns:p14="http://schemas.microsoft.com/office/powerpoint/2010/main" val="2414980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down)">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t="8293" b="34472"/>
          <a:stretch/>
        </p:blipFill>
        <p:spPr>
          <a:xfrm>
            <a:off x="698808" y="1260086"/>
            <a:ext cx="10650687" cy="4572002"/>
          </a:xfrm>
          <a:prstGeom prst="rect">
            <a:avLst/>
          </a:prstGeom>
        </p:spPr>
      </p:pic>
      <p:sp>
        <p:nvSpPr>
          <p:cNvPr id="5" name="TextBox 4"/>
          <p:cNvSpPr txBox="1"/>
          <p:nvPr/>
        </p:nvSpPr>
        <p:spPr>
          <a:xfrm>
            <a:off x="4402457" y="356841"/>
            <a:ext cx="3243388" cy="523220"/>
          </a:xfrm>
          <a:prstGeom prst="rect">
            <a:avLst/>
          </a:prstGeom>
          <a:noFill/>
        </p:spPr>
        <p:txBody>
          <a:bodyPr wrap="none" rtlCol="0">
            <a:spAutoFit/>
          </a:bodyPr>
          <a:lstStyle/>
          <a:p>
            <a:r>
              <a:rPr lang="en-IN" sz="2800"/>
              <a:t>Neural circuits: types</a:t>
            </a:r>
          </a:p>
        </p:txBody>
      </p:sp>
    </p:spTree>
    <p:extLst>
      <p:ext uri="{BB962C8B-B14F-4D97-AF65-F5344CB8AC3E}">
        <p14:creationId xmlns:p14="http://schemas.microsoft.com/office/powerpoint/2010/main" val="39472289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384981" y="1209071"/>
            <a:ext cx="9279209" cy="4524315"/>
          </a:xfrm>
          <a:prstGeom prst="rect">
            <a:avLst/>
          </a:prstGeom>
          <a:noFill/>
        </p:spPr>
        <p:txBody>
          <a:bodyPr wrap="square" lIns="91440" tIns="45720" rIns="91440" bIns="45720" rtlCol="0" anchor="t">
            <a:spAutoFit/>
          </a:bodyPr>
          <a:lstStyle/>
          <a:p>
            <a:pPr algn="just"/>
            <a:r>
              <a:rPr lang="en-IN" b="1">
                <a:solidFill>
                  <a:srgbClr val="7030A0"/>
                </a:solidFill>
              </a:rPr>
              <a:t>Diverging</a:t>
            </a:r>
            <a:r>
              <a:rPr lang="en-IN"/>
              <a:t> – A single presynaptic neuron may synapse with several postsynaptic neurons. </a:t>
            </a:r>
          </a:p>
          <a:p>
            <a:pPr algn="just"/>
            <a:r>
              <a:rPr lang="en-IN"/>
              <a:t>Example: Sensory signals are arranged in diverging circuits, allowing a sensory impulse to be relayed to several regions of the brain. </a:t>
            </a:r>
            <a:r>
              <a:rPr lang="en-IN">
                <a:highlight>
                  <a:srgbClr val="FFFF00"/>
                </a:highlight>
              </a:rPr>
              <a:t>This arrangement amplifies the signal.</a:t>
            </a:r>
            <a:endParaRPr lang="en-IN">
              <a:highlight>
                <a:srgbClr val="FFFF00"/>
              </a:highlight>
              <a:cs typeface="Calibri"/>
            </a:endParaRPr>
          </a:p>
          <a:p>
            <a:pPr algn="just"/>
            <a:endParaRPr lang="en-IN"/>
          </a:p>
          <a:p>
            <a:pPr algn="just"/>
            <a:r>
              <a:rPr lang="en-IN" b="1">
                <a:solidFill>
                  <a:srgbClr val="7030A0"/>
                </a:solidFill>
              </a:rPr>
              <a:t>Converging</a:t>
            </a:r>
            <a:r>
              <a:rPr lang="en-IN"/>
              <a:t> – Several presynaptic neurons synapse with a single post synaptic neuron.</a:t>
            </a:r>
            <a:r>
              <a:rPr lang="en-IN">
                <a:highlight>
                  <a:srgbClr val="FFFF00"/>
                </a:highlight>
              </a:rPr>
              <a:t> This arrangement permits more effective simulation or inhibition of the postsynaptic neuron.</a:t>
            </a:r>
            <a:endParaRPr lang="en-IN">
              <a:highlight>
                <a:srgbClr val="FFFF00"/>
              </a:highlight>
              <a:cs typeface="Calibri"/>
            </a:endParaRPr>
          </a:p>
          <a:p>
            <a:pPr algn="just"/>
            <a:r>
              <a:rPr lang="en-IN"/>
              <a:t>Example: A single motor neuron that synapses with skeletal muscle fibres at neuromuscular junctions receives input from several pathways that originate in different brain regions.</a:t>
            </a:r>
          </a:p>
          <a:p>
            <a:pPr algn="just"/>
            <a:endParaRPr lang="en-IN"/>
          </a:p>
          <a:p>
            <a:pPr algn="just"/>
            <a:r>
              <a:rPr lang="en-IN" b="1">
                <a:solidFill>
                  <a:srgbClr val="7030A0"/>
                </a:solidFill>
              </a:rPr>
              <a:t>Reverberating</a:t>
            </a:r>
            <a:r>
              <a:rPr lang="en-IN"/>
              <a:t> – Branches from later neurons synapse with earlier ones, thereby sending impulses back through the circuit again and again.</a:t>
            </a:r>
          </a:p>
          <a:p>
            <a:pPr algn="just"/>
            <a:r>
              <a:rPr lang="en-IN"/>
              <a:t>Example: </a:t>
            </a:r>
            <a:r>
              <a:rPr lang="en-IN">
                <a:highlight>
                  <a:srgbClr val="FFFF00"/>
                </a:highlight>
              </a:rPr>
              <a:t>The activities of breathing and waking up are considered to be a result of such circuit.</a:t>
            </a:r>
            <a:endParaRPr lang="en-IN">
              <a:highlight>
                <a:srgbClr val="FFFF00"/>
              </a:highlight>
              <a:cs typeface="Calibri"/>
            </a:endParaRPr>
          </a:p>
          <a:p>
            <a:pPr algn="just"/>
            <a:endParaRPr lang="en-IN"/>
          </a:p>
          <a:p>
            <a:pPr algn="just"/>
            <a:r>
              <a:rPr lang="en-IN" b="1">
                <a:solidFill>
                  <a:srgbClr val="7030A0"/>
                </a:solidFill>
              </a:rPr>
              <a:t>Parallel after-discharge </a:t>
            </a:r>
            <a:r>
              <a:rPr lang="en-IN"/>
              <a:t>– A single presynaptic cell stimulates a group of neurons, each of which synapses with a common postsynaptic cell.</a:t>
            </a:r>
          </a:p>
          <a:p>
            <a:pPr algn="just"/>
            <a:r>
              <a:rPr lang="en-IN"/>
              <a:t>Example:</a:t>
            </a:r>
            <a:r>
              <a:rPr lang="en-IN">
                <a:highlight>
                  <a:srgbClr val="FFFF00"/>
                </a:highlight>
              </a:rPr>
              <a:t> Mathematical calculations.</a:t>
            </a:r>
            <a:endParaRPr lang="en-IN">
              <a:highlight>
                <a:srgbClr val="FFFF00"/>
              </a:highlight>
              <a:cs typeface="Calibri"/>
            </a:endParaRPr>
          </a:p>
        </p:txBody>
      </p:sp>
      <p:sp>
        <p:nvSpPr>
          <p:cNvPr id="7" name="TextBox 6"/>
          <p:cNvSpPr txBox="1"/>
          <p:nvPr/>
        </p:nvSpPr>
        <p:spPr>
          <a:xfrm>
            <a:off x="4402457" y="402561"/>
            <a:ext cx="1763688" cy="523220"/>
          </a:xfrm>
          <a:prstGeom prst="rect">
            <a:avLst/>
          </a:prstGeom>
          <a:noFill/>
        </p:spPr>
        <p:txBody>
          <a:bodyPr wrap="none" rtlCol="0">
            <a:spAutoFit/>
          </a:bodyPr>
          <a:lstStyle/>
          <a:p>
            <a:r>
              <a:rPr lang="en-IN" sz="2800"/>
              <a:t>Definitions</a:t>
            </a:r>
          </a:p>
        </p:txBody>
      </p:sp>
    </p:spTree>
    <p:extLst>
      <p:ext uri="{BB962C8B-B14F-4D97-AF65-F5344CB8AC3E}">
        <p14:creationId xmlns:p14="http://schemas.microsoft.com/office/powerpoint/2010/main" val="7500295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716657" y="516861"/>
            <a:ext cx="4136132" cy="523220"/>
          </a:xfrm>
          <a:prstGeom prst="rect">
            <a:avLst/>
          </a:prstGeom>
          <a:noFill/>
        </p:spPr>
        <p:txBody>
          <a:bodyPr wrap="none" rtlCol="0">
            <a:spAutoFit/>
          </a:bodyPr>
          <a:lstStyle/>
          <a:p>
            <a:r>
              <a:rPr lang="en-IN" sz="2800" dirty="0"/>
              <a:t>Plasticity and Regeneration</a:t>
            </a:r>
          </a:p>
        </p:txBody>
      </p:sp>
      <p:sp>
        <p:nvSpPr>
          <p:cNvPr id="2" name="TextBox 1"/>
          <p:cNvSpPr txBox="1"/>
          <p:nvPr/>
        </p:nvSpPr>
        <p:spPr>
          <a:xfrm>
            <a:off x="1397248" y="1766632"/>
            <a:ext cx="9049772" cy="2862322"/>
          </a:xfrm>
          <a:prstGeom prst="rect">
            <a:avLst/>
          </a:prstGeom>
          <a:noFill/>
        </p:spPr>
        <p:txBody>
          <a:bodyPr wrap="square" lIns="91440" tIns="45720" rIns="91440" bIns="45720" rtlCol="0" anchor="t">
            <a:spAutoFit/>
          </a:bodyPr>
          <a:lstStyle/>
          <a:p>
            <a:pPr marL="285750" indent="-285750" algn="just">
              <a:buFont typeface="Wingdings" panose="05000000000000000000" pitchFamily="2" charset="2"/>
              <a:buChar char="q"/>
            </a:pPr>
            <a:r>
              <a:rPr lang="en-IN" dirty="0">
                <a:highlight>
                  <a:srgbClr val="FFFF00"/>
                </a:highlight>
              </a:rPr>
              <a:t>The nervous system exhibits capabilities to change based on experience. This property of the neurons is called </a:t>
            </a:r>
            <a:r>
              <a:rPr lang="en-IN" b="1" dirty="0">
                <a:solidFill>
                  <a:srgbClr val="C00000"/>
                </a:solidFill>
                <a:highlight>
                  <a:srgbClr val="FFFF00"/>
                </a:highlight>
              </a:rPr>
              <a:t>plasticity</a:t>
            </a:r>
            <a:r>
              <a:rPr lang="en-IN" dirty="0">
                <a:highlight>
                  <a:srgbClr val="FFFF00"/>
                </a:highlight>
              </a:rPr>
              <a:t>.</a:t>
            </a:r>
            <a:r>
              <a:rPr lang="en-IN" dirty="0"/>
              <a:t> This changes may include sprouting of new dendrites, synthesis of new proteins, and changes in synaptic contacts with other neurons. Both chemical and electrical signals drive these changes.</a:t>
            </a:r>
          </a:p>
          <a:p>
            <a:pPr marL="285750" indent="-285750" algn="just">
              <a:buFont typeface="Wingdings" panose="05000000000000000000" pitchFamily="2" charset="2"/>
              <a:buChar char="q"/>
            </a:pPr>
            <a:endParaRPr lang="en-IN"/>
          </a:p>
          <a:p>
            <a:pPr marL="285750" indent="-285750" algn="just">
              <a:buFont typeface="Wingdings" panose="05000000000000000000" pitchFamily="2" charset="2"/>
              <a:buChar char="q"/>
            </a:pPr>
            <a:endParaRPr lang="en-IN"/>
          </a:p>
          <a:p>
            <a:pPr marL="285750" indent="-285750" algn="just">
              <a:buFont typeface="Wingdings" panose="05000000000000000000" pitchFamily="2" charset="2"/>
              <a:buChar char="q"/>
            </a:pPr>
            <a:r>
              <a:rPr lang="en-IN" dirty="0">
                <a:highlight>
                  <a:srgbClr val="FFFF00"/>
                </a:highlight>
              </a:rPr>
              <a:t>The </a:t>
            </a:r>
            <a:r>
              <a:rPr lang="en-IN" b="1" dirty="0">
                <a:solidFill>
                  <a:srgbClr val="C00000"/>
                </a:solidFill>
                <a:highlight>
                  <a:srgbClr val="FFFF00"/>
                </a:highlight>
              </a:rPr>
              <a:t>regeneration</a:t>
            </a:r>
            <a:r>
              <a:rPr lang="en-IN" dirty="0">
                <a:highlight>
                  <a:srgbClr val="FFFF00"/>
                </a:highlight>
              </a:rPr>
              <a:t> of neurons is the capability to replicate or repair themselves. </a:t>
            </a:r>
            <a:r>
              <a:rPr lang="en-IN" dirty="0"/>
              <a:t>Mammalian neurons have limited capacity to regenerate. In PNS, damage to dendrites and axons may be repaired to certain extent if the cell body and the Schwann cells remain active. However, CNS exhibits little or no repair to the damage.</a:t>
            </a:r>
          </a:p>
        </p:txBody>
      </p:sp>
    </p:spTree>
    <p:extLst>
      <p:ext uri="{BB962C8B-B14F-4D97-AF65-F5344CB8AC3E}">
        <p14:creationId xmlns:p14="http://schemas.microsoft.com/office/powerpoint/2010/main" val="1995311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627449" y="505710"/>
            <a:ext cx="4764638" cy="523220"/>
          </a:xfrm>
          <a:prstGeom prst="rect">
            <a:avLst/>
          </a:prstGeom>
          <a:noFill/>
        </p:spPr>
        <p:txBody>
          <a:bodyPr wrap="none" rtlCol="0">
            <a:spAutoFit/>
          </a:bodyPr>
          <a:lstStyle/>
          <a:p>
            <a:r>
              <a:rPr lang="en-IN" sz="2800"/>
              <a:t>Artificial Neural Network (ANN)</a:t>
            </a:r>
          </a:p>
        </p:txBody>
      </p:sp>
      <p:sp>
        <p:nvSpPr>
          <p:cNvPr id="5" name="Rectangle 4"/>
          <p:cNvSpPr/>
          <p:nvPr/>
        </p:nvSpPr>
        <p:spPr>
          <a:xfrm>
            <a:off x="1305812" y="1325201"/>
            <a:ext cx="9407912" cy="923330"/>
          </a:xfrm>
          <a:prstGeom prst="rect">
            <a:avLst/>
          </a:prstGeom>
        </p:spPr>
        <p:style>
          <a:lnRef idx="0">
            <a:schemeClr val="accent4"/>
          </a:lnRef>
          <a:fillRef idx="3">
            <a:schemeClr val="accent4"/>
          </a:fillRef>
          <a:effectRef idx="3">
            <a:schemeClr val="accent4"/>
          </a:effectRef>
          <a:fontRef idx="minor">
            <a:schemeClr val="lt1"/>
          </a:fontRef>
        </p:style>
        <p:txBody>
          <a:bodyPr wrap="square" lIns="91440" tIns="45720" rIns="91440" bIns="45720" anchor="t">
            <a:spAutoFit/>
          </a:bodyPr>
          <a:lstStyle/>
          <a:p>
            <a:pPr algn="just"/>
            <a:r>
              <a:rPr lang="en-IN" b="0" i="0">
                <a:solidFill>
                  <a:schemeClr val="accent6">
                    <a:lumMod val="50000"/>
                  </a:schemeClr>
                </a:solidFill>
                <a:effectLst/>
                <a:latin typeface="Open-sans"/>
              </a:rPr>
              <a:t>An artificial neuron network (ANN) is a computational model based on the structure and functions of biological neural networks. </a:t>
            </a:r>
            <a:r>
              <a:rPr lang="en-IN" b="0" i="0">
                <a:solidFill>
                  <a:srgbClr val="333333"/>
                </a:solidFill>
                <a:effectLst/>
                <a:latin typeface="Open-sans"/>
              </a:rPr>
              <a:t>Information that flows through the network affects the structure of the ANN because a neural network changes - or learns, in a sense - based on that input and output.</a:t>
            </a:r>
            <a:endParaRPr lang="en-IN"/>
          </a:p>
        </p:txBody>
      </p:sp>
      <p:sp>
        <p:nvSpPr>
          <p:cNvPr id="6" name="Rectangle 5"/>
          <p:cNvSpPr/>
          <p:nvPr/>
        </p:nvSpPr>
        <p:spPr>
          <a:xfrm>
            <a:off x="1984917" y="2643384"/>
            <a:ext cx="8728807" cy="2862322"/>
          </a:xfrm>
          <a:prstGeom prst="rect">
            <a:avLst/>
          </a:prstGeom>
        </p:spPr>
        <p:txBody>
          <a:bodyPr wrap="square">
            <a:spAutoFit/>
          </a:bodyPr>
          <a:lstStyle/>
          <a:p>
            <a:pPr marL="285750" indent="-285750" algn="just">
              <a:buFont typeface="Wingdings" panose="05000000000000000000" pitchFamily="2" charset="2"/>
              <a:buChar char="ü"/>
            </a:pPr>
            <a:r>
              <a:rPr lang="en-IN" b="0" i="0">
                <a:solidFill>
                  <a:srgbClr val="333333"/>
                </a:solidFill>
                <a:effectLst/>
                <a:latin typeface="Open-sans"/>
              </a:rPr>
              <a:t>ANNs are considered nonlinear statistical data modelling tools where the complex relationships between inputs and outputs are modelled or patterns are found.</a:t>
            </a:r>
          </a:p>
          <a:p>
            <a:pPr marL="285750" indent="-285750" algn="just">
              <a:buFont typeface="Wingdings" panose="05000000000000000000" pitchFamily="2" charset="2"/>
              <a:buChar char="ü"/>
            </a:pPr>
            <a:endParaRPr lang="en-IN">
              <a:solidFill>
                <a:srgbClr val="333333"/>
              </a:solidFill>
              <a:latin typeface="Open-sans"/>
            </a:endParaRPr>
          </a:p>
          <a:p>
            <a:pPr marL="285750" indent="-285750" algn="just">
              <a:buFont typeface="Wingdings" panose="05000000000000000000" pitchFamily="2" charset="2"/>
              <a:buChar char="ü"/>
            </a:pPr>
            <a:r>
              <a:rPr lang="en-IN">
                <a:solidFill>
                  <a:srgbClr val="333333"/>
                </a:solidFill>
                <a:latin typeface="Open-sans"/>
              </a:rPr>
              <a:t>ANN can actually learn from observing data sets. In this way, it is used as a random function approximation tool.</a:t>
            </a:r>
          </a:p>
          <a:p>
            <a:pPr marL="285750" indent="-285750" algn="just">
              <a:buFont typeface="Wingdings" panose="05000000000000000000" pitchFamily="2" charset="2"/>
              <a:buChar char="ü"/>
            </a:pPr>
            <a:endParaRPr lang="en-IN">
              <a:solidFill>
                <a:srgbClr val="333333"/>
              </a:solidFill>
              <a:latin typeface="Open-sans"/>
            </a:endParaRPr>
          </a:p>
          <a:p>
            <a:pPr marL="285750" indent="-285750" algn="just">
              <a:buFont typeface="Wingdings" panose="05000000000000000000" pitchFamily="2" charset="2"/>
              <a:buChar char="ü"/>
            </a:pPr>
            <a:r>
              <a:rPr lang="en-IN">
                <a:solidFill>
                  <a:srgbClr val="333333"/>
                </a:solidFill>
                <a:latin typeface="Open-sans"/>
              </a:rPr>
              <a:t>Training an artificial neural network involves choosing from allowed models for which there are several associated algorithms.</a:t>
            </a:r>
          </a:p>
          <a:p>
            <a:pPr marL="285750" indent="-285750" algn="just">
              <a:buFont typeface="Wingdings" panose="05000000000000000000" pitchFamily="2" charset="2"/>
              <a:buChar char="ü"/>
            </a:pPr>
            <a:endParaRPr lang="en-IN">
              <a:solidFill>
                <a:srgbClr val="333333"/>
              </a:solidFill>
              <a:latin typeface="Open-sans"/>
            </a:endParaRPr>
          </a:p>
          <a:p>
            <a:pPr marL="285750" indent="-285750" algn="just">
              <a:buFont typeface="Wingdings" panose="05000000000000000000" pitchFamily="2" charset="2"/>
              <a:buChar char="ü"/>
            </a:pPr>
            <a:r>
              <a:rPr lang="en-IN">
                <a:solidFill>
                  <a:srgbClr val="333333"/>
                </a:solidFill>
                <a:latin typeface="Open-sans"/>
              </a:rPr>
              <a:t>Usage: Machine Learning, Artificial Intelligence</a:t>
            </a:r>
          </a:p>
        </p:txBody>
      </p:sp>
    </p:spTree>
    <p:extLst>
      <p:ext uri="{BB962C8B-B14F-4D97-AF65-F5344CB8AC3E}">
        <p14:creationId xmlns:p14="http://schemas.microsoft.com/office/powerpoint/2010/main" val="2533546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240766" y="427652"/>
            <a:ext cx="2679003" cy="523220"/>
          </a:xfrm>
          <a:prstGeom prst="rect">
            <a:avLst/>
          </a:prstGeom>
          <a:noFill/>
        </p:spPr>
        <p:txBody>
          <a:bodyPr wrap="none" rtlCol="0">
            <a:spAutoFit/>
          </a:bodyPr>
          <a:lstStyle/>
          <a:p>
            <a:r>
              <a:rPr lang="en-IN" sz="2800"/>
              <a:t>Structure of ANN</a:t>
            </a:r>
          </a:p>
        </p:txBody>
      </p:sp>
      <p:sp>
        <p:nvSpPr>
          <p:cNvPr id="5" name="Rectangle 4"/>
          <p:cNvSpPr/>
          <p:nvPr/>
        </p:nvSpPr>
        <p:spPr>
          <a:xfrm>
            <a:off x="1862254" y="4830717"/>
            <a:ext cx="8497229" cy="1200329"/>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pPr algn="just"/>
            <a:r>
              <a:rPr lang="en-IN" b="1">
                <a:solidFill>
                  <a:srgbClr val="222222"/>
                </a:solidFill>
                <a:latin typeface="arial" panose="020B0604020202020204" pitchFamily="34" charset="0"/>
              </a:rPr>
              <a:t>Backpropagation</a:t>
            </a:r>
            <a:r>
              <a:rPr lang="en-IN">
                <a:solidFill>
                  <a:srgbClr val="222222"/>
                </a:solidFill>
                <a:latin typeface="arial" panose="020B0604020202020204" pitchFamily="34" charset="0"/>
              </a:rPr>
              <a:t>, short for "backward propagation of errors," is an algorithm for supervised learning of artificial neural networks using gradient descent. Given an artificial neural network and an error function, the method calculates the gradient of the error function with respect to the neural network's weights.</a:t>
            </a:r>
            <a:endParaRPr lang="en-IN"/>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5232" y="1454917"/>
            <a:ext cx="4502502" cy="2871755"/>
          </a:xfrm>
          <a:prstGeom prst="rect">
            <a:avLst/>
          </a:prstGeom>
        </p:spPr>
      </p:pic>
    </p:spTree>
    <p:extLst>
      <p:ext uri="{BB962C8B-B14F-4D97-AF65-F5344CB8AC3E}">
        <p14:creationId xmlns:p14="http://schemas.microsoft.com/office/powerpoint/2010/main" val="3283917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57653" y="316140"/>
            <a:ext cx="6286144" cy="523220"/>
          </a:xfrm>
          <a:prstGeom prst="rect">
            <a:avLst/>
          </a:prstGeom>
          <a:noFill/>
        </p:spPr>
        <p:txBody>
          <a:bodyPr wrap="none" rtlCol="0">
            <a:spAutoFit/>
          </a:bodyPr>
          <a:lstStyle/>
          <a:p>
            <a:r>
              <a:rPr lang="en-IN" sz="2800"/>
              <a:t>Back-propagation Neural Network (BPNN)</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94785" y="1028931"/>
            <a:ext cx="3870135" cy="5516835"/>
          </a:xfrm>
          <a:prstGeom prst="rect">
            <a:avLst/>
          </a:prstGeom>
        </p:spPr>
      </p:pic>
      <p:sp>
        <p:nvSpPr>
          <p:cNvPr id="7" name="TextBox 6"/>
          <p:cNvSpPr txBox="1"/>
          <p:nvPr/>
        </p:nvSpPr>
        <p:spPr>
          <a:xfrm>
            <a:off x="7657376" y="1479024"/>
            <a:ext cx="3382335" cy="2862322"/>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IN" i="1"/>
              <a:t>a1</a:t>
            </a:r>
            <a:r>
              <a:rPr lang="en-IN"/>
              <a:t>: constant of activation function for input neurons</a:t>
            </a:r>
          </a:p>
          <a:p>
            <a:endParaRPr lang="en-IN"/>
          </a:p>
          <a:p>
            <a:r>
              <a:rPr lang="en-IN" i="1"/>
              <a:t>a2</a:t>
            </a:r>
            <a:r>
              <a:rPr lang="en-IN"/>
              <a:t>: constant of activation function for hidden neurons</a:t>
            </a:r>
          </a:p>
          <a:p>
            <a:endParaRPr lang="en-IN"/>
          </a:p>
          <a:p>
            <a:r>
              <a:rPr lang="en-IN" i="1"/>
              <a:t>a3</a:t>
            </a:r>
            <a:r>
              <a:rPr lang="en-IN"/>
              <a:t>: constant of activation function for output neurons</a:t>
            </a:r>
          </a:p>
          <a:p>
            <a:endParaRPr lang="en-IN"/>
          </a:p>
          <a:p>
            <a:r>
              <a:rPr lang="en-IN" i="1"/>
              <a:t>b</a:t>
            </a:r>
            <a:r>
              <a:rPr lang="en-IN"/>
              <a:t>: bias value</a:t>
            </a:r>
          </a:p>
        </p:txBody>
      </p:sp>
    </p:spTree>
    <p:extLst>
      <p:ext uri="{BB962C8B-B14F-4D97-AF65-F5344CB8AC3E}">
        <p14:creationId xmlns:p14="http://schemas.microsoft.com/office/powerpoint/2010/main" val="42905613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52622627FE0BB42A7311AF50D73D144" ma:contentTypeVersion="10" ma:contentTypeDescription="Create a new document." ma:contentTypeScope="" ma:versionID="c7caf746f9f59231fcc88430109f7c93">
  <xsd:schema xmlns:xsd="http://www.w3.org/2001/XMLSchema" xmlns:xs="http://www.w3.org/2001/XMLSchema" xmlns:p="http://schemas.microsoft.com/office/2006/metadata/properties" xmlns:ns2="f3d90b6b-40ba-4cf1-9177-eadded3cce4b" xmlns:ns3="469ac0c8-6c93-45a5-801f-5dae600c78f6" targetNamespace="http://schemas.microsoft.com/office/2006/metadata/properties" ma:root="true" ma:fieldsID="d77bf9fd42b4d7e102237062b1ace12d" ns2:_="" ns3:_="">
    <xsd:import namespace="f3d90b6b-40ba-4cf1-9177-eadded3cce4b"/>
    <xsd:import namespace="469ac0c8-6c93-45a5-801f-5dae600c78f6"/>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MediaServiceSearchPropertie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3d90b6b-40ba-4cf1-9177-eadded3cce4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SearchProperties" ma:index="1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69ac0c8-6c93-45a5-801f-5dae600c78f6"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A0AA5E5-B3C4-43E5-9F5D-B1C9AD3990E8}">
  <ds:schemaRefs>
    <ds:schemaRef ds:uri="469ac0c8-6c93-45a5-801f-5dae600c78f6"/>
    <ds:schemaRef ds:uri="f3d90b6b-40ba-4cf1-9177-eadded3cce4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634B3DA5-290A-4FA2-9684-708FD43490C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7</Slides>
  <Notes>0</Notes>
  <HiddenSlides>0</HiddenSlide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IITG</dc:creator>
  <cp:revision>9</cp:revision>
  <dcterms:created xsi:type="dcterms:W3CDTF">2018-03-31T13:22:36Z</dcterms:created>
  <dcterms:modified xsi:type="dcterms:W3CDTF">2024-04-23T18:10:08Z</dcterms:modified>
</cp:coreProperties>
</file>