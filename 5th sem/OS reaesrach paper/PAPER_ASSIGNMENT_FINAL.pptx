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</p:sldMasterIdLst>
  <p:notesMasterIdLst>
    <p:notesMasterId r:id="rId59"/>
  </p:notesMasterIdLst>
  <p:sldIdLst>
    <p:sldId id="256" r:id="rId5"/>
    <p:sldId id="259" r:id="rId6"/>
    <p:sldId id="285" r:id="rId7"/>
    <p:sldId id="295" r:id="rId8"/>
    <p:sldId id="291" r:id="rId9"/>
    <p:sldId id="292" r:id="rId10"/>
    <p:sldId id="306" r:id="rId11"/>
    <p:sldId id="313" r:id="rId12"/>
    <p:sldId id="314" r:id="rId13"/>
    <p:sldId id="315" r:id="rId14"/>
    <p:sldId id="316" r:id="rId15"/>
    <p:sldId id="283" r:id="rId16"/>
    <p:sldId id="284" r:id="rId17"/>
    <p:sldId id="317" r:id="rId18"/>
    <p:sldId id="323" r:id="rId19"/>
    <p:sldId id="294" r:id="rId20"/>
    <p:sldId id="346" r:id="rId21"/>
    <p:sldId id="293" r:id="rId22"/>
    <p:sldId id="300" r:id="rId23"/>
    <p:sldId id="301" r:id="rId24"/>
    <p:sldId id="302" r:id="rId25"/>
    <p:sldId id="348" r:id="rId26"/>
    <p:sldId id="307" r:id="rId27"/>
    <p:sldId id="308" r:id="rId28"/>
    <p:sldId id="305" r:id="rId29"/>
    <p:sldId id="334" r:id="rId30"/>
    <p:sldId id="349" r:id="rId31"/>
    <p:sldId id="335" r:id="rId32"/>
    <p:sldId id="336" r:id="rId33"/>
    <p:sldId id="337" r:id="rId34"/>
    <p:sldId id="338" r:id="rId35"/>
    <p:sldId id="303" r:id="rId36"/>
    <p:sldId id="328" r:id="rId37"/>
    <p:sldId id="329" r:id="rId38"/>
    <p:sldId id="330" r:id="rId39"/>
    <p:sldId id="290" r:id="rId40"/>
    <p:sldId id="304" r:id="rId41"/>
    <p:sldId id="332" r:id="rId42"/>
    <p:sldId id="311" r:id="rId43"/>
    <p:sldId id="312" r:id="rId44"/>
    <p:sldId id="309" r:id="rId45"/>
    <p:sldId id="318" r:id="rId46"/>
    <p:sldId id="319" r:id="rId47"/>
    <p:sldId id="320" r:id="rId48"/>
    <p:sldId id="321" r:id="rId49"/>
    <p:sldId id="327" r:id="rId50"/>
    <p:sldId id="342" r:id="rId51"/>
    <p:sldId id="343" r:id="rId52"/>
    <p:sldId id="344" r:id="rId53"/>
    <p:sldId id="345" r:id="rId54"/>
    <p:sldId id="331" r:id="rId55"/>
    <p:sldId id="296" r:id="rId56"/>
    <p:sldId id="325" r:id="rId57"/>
    <p:sldId id="339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A45E"/>
    <a:srgbClr val="918445"/>
    <a:srgbClr val="505432"/>
    <a:srgbClr val="605B2E"/>
    <a:srgbClr val="C8BF98"/>
    <a:srgbClr val="DBD5BC"/>
    <a:srgbClr val="ECE9D8"/>
    <a:srgbClr val="DDD6B7"/>
    <a:srgbClr val="6F6935"/>
    <a:srgbClr val="D5CD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AC35A-2526-4865-BA40-5AE5D9C8DB11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F99431-7821-48A7-B074-A6921D14C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42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836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592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KAVYA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339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KAVYA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619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KAVYA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060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KAVYA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505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677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98A07-61E0-169B-10FF-D0ACF4F6C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C8036B-0F20-960F-191C-16B6D3D69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1E7CA-0002-F3AE-7B70-232EAF050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E3025-9E7A-EEAB-EE17-DE122FE91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481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2F2E0-C98D-80B9-FBD4-F63DF4B69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9E1AE-2710-05FE-E762-428B0B6A9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94343-16FE-0FC8-7BFB-F94C258FA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3DE42-4959-A11D-2FF4-ABCFC290E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225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145C3-44D1-11E5-83A1-9FFFEB5C9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934F81-F542-F3D6-BD92-68AB97770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4A0CF-06DE-63AD-8EC4-A63E8238C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B49BE-7C70-D236-0C88-D99F40597C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46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46F1C-1B14-56F2-DB17-7F391A596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33822-49DE-F7BB-00A8-229093A53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B0B286-4B03-BC3B-77BD-F88993929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F811B-5EDC-4277-A723-DA00622AF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140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575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297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D34F0-62EA-F23E-8234-4C4D03781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33377B-EF3E-D290-47C8-92A8CC1AD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FD7A2-156D-4E27-112C-7F292440E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F974D-AB68-CF43-943A-B6126AA76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7567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1C2EB-6066-61FA-77A7-07435C132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E8D53-A4C5-4F7B-DDC8-048F8B166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32359-1B34-9A4C-2034-803E8C4A2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FD9AB-670E-DF61-C9DA-AB847B17D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3139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KAVYA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6885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02E42-EBBD-0469-6E01-0FBD61D92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2EB4B3-B469-DFCF-C182-D91D23F85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9BB20-4EA8-5176-0FD0-E80228EC7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KAVYA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A7B0B-F108-4B04-72AE-A4CC2C620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7562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KAVYA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1283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KAVYA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9530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KAVYA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6512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KVAY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0898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7FBAE-2F36-06B3-8FCF-03A36F2D2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EAEACB-0A82-7E08-26B9-6FE3F7C3C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6A7D8-A312-5183-A1B1-3A895C4E0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KVAY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9A25B-39C7-438D-730E-F0684CAE5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1447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B982E-8F76-6840-6853-AE2265A1B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4FF4A-9435-BC49-9E65-0500D4C0E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A64532-26A2-EF9D-D89A-B83A3B78B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7503F-CE8D-78C2-6D68-274865700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3630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8D3A2-330D-5AE0-029E-DA094DB60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13A9A-8F93-20B1-07C6-822CB9D64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90727-71B0-67FA-723A-F8886144D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KVAY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877F6-F598-09B0-6135-6789B54B8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3457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5DB52-658E-E176-C35C-0F902EBF8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A7539-E9D9-97C4-1D85-2793B6D89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FA8247-B906-0771-AC84-5EA43FD58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59607-88C3-2B99-6A52-F788C4C5A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1431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34492-E510-5017-39C4-9D63376E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48622-A095-8188-23DD-F72DE0D37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5DB7E-15FA-9BB5-1412-17EE1D83D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B2B71-082F-66A7-5339-6B8A30E2E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7314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C9F81-CDED-E3DD-93E2-41B7F358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206D0-BA31-0C9B-B441-E84438080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E7F25-2EC5-D514-426C-BDFD0014D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9EF3C-631A-F366-8569-73961FA09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8587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755E-76C9-8FE5-CAFE-37BFF038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5FF93-2075-9AB7-6E67-F513EC7BA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DC2E5-8947-722A-CB13-341FD7A34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AFAB6-4B1F-E864-195F-16182B96F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4310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8916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9920C-F413-1BE0-E2AF-337DCAB09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4C3D27-5E64-66F3-9B9A-3CE1349B3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56689-DCD3-475F-D9A6-97A05556D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98BED-F6B2-0B23-5082-BA56C12A0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2043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99431-7821-48A7-B074-A6921D14CBDA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462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5B392-BD69-4486-BCD3-24F650901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67E7A-EE46-4FC2-B780-1D9080F8E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BF086-5922-4C8E-AF7C-C95F0E014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596E6-D62C-4A2D-8590-8C8FE423ED9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FE73E-932D-4CA7-8BF0-C40FECF84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CC858-2461-4BCD-A1B8-FC78A88B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3F793-2817-4D69-9376-AD745ED71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922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5E849-7E84-4CDF-BA92-224F4E4C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EDFD0-4584-484E-B724-3E5FF3099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40AD7-6259-41B0-B613-E35F0B500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596E6-D62C-4A2D-8590-8C8FE423ED9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43098-E60C-47FA-A0AE-FEE0F5353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D9D29-8094-4D97-9A81-5379C85B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3F793-2817-4D69-9376-AD745ED71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970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2584D-2441-4DC4-8290-72DD21A28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60909-1656-4262-95A4-33B8B68F8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315D2-B43C-4BD4-9F50-704092DF9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596E6-D62C-4A2D-8590-8C8FE423ED9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1AC10-67CC-481C-A8C2-98E536D44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2AA6-E5B9-42D1-8B45-14EB9FBC8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3F793-2817-4D69-9376-AD745ED71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16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FEC7B-3A57-4B0F-9A61-B8CB92CA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AD325-38EF-4A90-8092-205BBE84A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FE9A1-E1FD-4199-8A36-8BA625080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44B72-6B21-41DD-84B5-4531CB469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596E6-D62C-4A2D-8590-8C8FE423ED9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2A4FE6-4B3F-4FFB-9566-597E5EC4C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9D076-22DE-482E-A508-26FD7D71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3F793-2817-4D69-9376-AD745ED71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606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4017-76D3-4CBD-ABFA-C1B47E97F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2D37F-B901-4C22-ABC2-BE5AABDE2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E464F-6E83-44D2-AAF2-31BB10563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D31C00-8C4F-4809-96E7-EFBEA8627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8792EA-33B7-492F-860C-1994A998DA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E49CF4-6643-41AF-9211-58A0D3864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596E6-D62C-4A2D-8590-8C8FE423ED9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7C5E03-DF69-45ED-A905-46BD2564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0223EC-1E6D-4CA3-8980-1CEBCA1EE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3F793-2817-4D69-9376-AD745ED71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9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62FF5-706A-43A2-A4EE-767893B80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DBE75F-879B-407F-BD5B-F8D04CB49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596E6-D62C-4A2D-8590-8C8FE423ED9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8F147-76EA-4BB6-BB8A-09B03E9F6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B0623-D919-4931-81F6-757E1C06C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3F793-2817-4D69-9376-AD745ED71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318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AAEC57-03D9-4009-BD28-AABF4C79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596E6-D62C-4A2D-8590-8C8FE423ED9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A48ACD-5FF2-4725-9A1A-8255BE041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1AAF9-EF7B-46EF-8B30-538B50EA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3F793-2817-4D69-9376-AD745ED71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75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F0FCB-D957-47AA-9786-8942CB86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DAD35-3C0A-40C6-B803-4C8A0161D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BCF90-13CF-4C7A-BA03-7E6221C4C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857D-E10F-4A71-8C03-AD3625460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596E6-D62C-4A2D-8590-8C8FE423ED9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F0E7C-1D25-45D1-9A02-9177FD972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2D273-1A9C-464E-BC32-38FBCD62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3F793-2817-4D69-9376-AD745ED71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20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4EDF0-D4BA-4B47-A013-F893C90A5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6A476D-3B1E-4D9F-836A-17856E2EC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03264-939E-4384-94AC-D6A48E05F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7E567-4E19-4262-8923-D80B5B90F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596E6-D62C-4A2D-8590-8C8FE423ED9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CFFCD-FA1D-42B7-A455-FA6E8CBA6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721CD-0A29-4995-90B0-A5364987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3F793-2817-4D69-9376-AD745ED71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95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85AC0-2ED2-470F-ACFD-CD697A359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222167-1CC8-4202-B535-382673542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22374-18C3-4F76-AB54-3A29C882B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596E6-D62C-4A2D-8590-8C8FE423ED9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BE29F-0D48-4026-892B-C712114CB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574DA-A102-44DF-A2CD-D1FC1FD3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3F793-2817-4D69-9376-AD745ED71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117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608A45-D85C-4D2B-B10A-7D3869E4D5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D5B68-C7B4-4B24-8E3C-093129561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112E5-D74C-4E30-9185-D6F42196A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596E6-D62C-4A2D-8590-8C8FE423ED9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93650-C35E-4E61-883E-5CDA2142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FD97D-D28E-4A47-ADB8-1F5674020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3F793-2817-4D69-9376-AD745ED71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766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974C45-05EA-490A-8A6D-A7DF42334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F9F99-7984-45E9-976F-22EA2C18F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5F709-0080-4A6B-9A11-C4DD06A942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596E6-D62C-4A2D-8590-8C8FE423ED9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11459-1EA0-4611-936F-0E45573DD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02FB7-A0A1-427F-A9FC-56A1F08E5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3F793-2817-4D69-9376-AD745ED71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820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2.png"/><Relationship Id="rId10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.png"/><Relationship Id="rId5" Type="http://schemas.openxmlformats.org/officeDocument/2006/relationships/image" Target="../media/image16.png"/><Relationship Id="rId10" Type="http://schemas.openxmlformats.org/officeDocument/2006/relationships/image" Target="../media/image5.png"/><Relationship Id="rId4" Type="http://schemas.openxmlformats.org/officeDocument/2006/relationships/image" Target="../media/image15.png"/><Relationship Id="rId9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.png"/><Relationship Id="rId5" Type="http://schemas.openxmlformats.org/officeDocument/2006/relationships/image" Target="../media/image16.png"/><Relationship Id="rId10" Type="http://schemas.openxmlformats.org/officeDocument/2006/relationships/image" Target="../media/image5.png"/><Relationship Id="rId4" Type="http://schemas.openxmlformats.org/officeDocument/2006/relationships/image" Target="../media/image15.png"/><Relationship Id="rId9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.png"/><Relationship Id="rId5" Type="http://schemas.openxmlformats.org/officeDocument/2006/relationships/image" Target="../media/image16.png"/><Relationship Id="rId10" Type="http://schemas.openxmlformats.org/officeDocument/2006/relationships/image" Target="../media/image5.png"/><Relationship Id="rId4" Type="http://schemas.openxmlformats.org/officeDocument/2006/relationships/image" Target="../media/image15.png"/><Relationship Id="rId9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567315" y="2851422"/>
            <a:ext cx="11230431" cy="26646"/>
          </a:xfrm>
          <a:prstGeom prst="line">
            <a:avLst/>
          </a:prstGeom>
          <a:ln w="25400" cap="flat">
            <a:solidFill>
              <a:srgbClr val="2B2C30">
                <a:alpha val="96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67315" y="3029387"/>
            <a:ext cx="10820400" cy="40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2000">
                <a:latin typeface="Aptos" panose="020B0004020202020204" pitchFamily="34" charset="0"/>
              </a:rPr>
              <a:t>M5: </a:t>
            </a:r>
            <a:r>
              <a:rPr lang="en-US" sz="2000" u="sng">
                <a:latin typeface="Aptos" panose="020B0004020202020204" pitchFamily="34" charset="0"/>
              </a:rPr>
              <a:t>M</a:t>
            </a:r>
            <a:r>
              <a:rPr lang="en-US" sz="2000">
                <a:latin typeface="Aptos" panose="020B0004020202020204" pitchFamily="34" charset="0"/>
              </a:rPr>
              <a:t>astering Page </a:t>
            </a:r>
            <a:r>
              <a:rPr lang="en-US" sz="2000" u="sng">
                <a:latin typeface="Aptos" panose="020B0004020202020204" pitchFamily="34" charset="0"/>
              </a:rPr>
              <a:t>M</a:t>
            </a:r>
            <a:r>
              <a:rPr lang="en-US" sz="2000">
                <a:latin typeface="Aptos" panose="020B0004020202020204" pitchFamily="34" charset="0"/>
              </a:rPr>
              <a:t>igration and </a:t>
            </a:r>
            <a:r>
              <a:rPr lang="en-US" sz="2000" u="sng">
                <a:latin typeface="Aptos" panose="020B0004020202020204" pitchFamily="34" charset="0"/>
              </a:rPr>
              <a:t>M</a:t>
            </a:r>
            <a:r>
              <a:rPr lang="en-US" sz="2000">
                <a:latin typeface="Aptos" panose="020B0004020202020204" pitchFamily="34" charset="0"/>
              </a:rPr>
              <a:t>emory </a:t>
            </a:r>
            <a:r>
              <a:rPr lang="en-US" sz="2000" u="sng">
                <a:latin typeface="Aptos" panose="020B0004020202020204" pitchFamily="34" charset="0"/>
              </a:rPr>
              <a:t>M</a:t>
            </a:r>
            <a:r>
              <a:rPr lang="en-US" sz="2000">
                <a:latin typeface="Aptos" panose="020B0004020202020204" pitchFamily="34" charset="0"/>
              </a:rPr>
              <a:t>anagement for CXL-based Tiered </a:t>
            </a:r>
            <a:r>
              <a:rPr lang="en-US" sz="2000" u="sng">
                <a:latin typeface="Aptos" panose="020B0004020202020204" pitchFamily="34" charset="0"/>
              </a:rPr>
              <a:t>M</a:t>
            </a:r>
            <a:r>
              <a:rPr lang="en-US" sz="2000">
                <a:latin typeface="Aptos" panose="020B0004020202020204" pitchFamily="34" charset="0"/>
              </a:rPr>
              <a:t>emory Systems </a:t>
            </a:r>
            <a:endParaRPr lang="en-US" sz="2000" b="1" spc="562">
              <a:solidFill>
                <a:srgbClr val="2B2C30"/>
              </a:solidFill>
              <a:latin typeface="Aptos" panose="020B0004020202020204" pitchFamily="34" charset="0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67316" y="1554944"/>
            <a:ext cx="10938888" cy="1206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67"/>
              </a:lnSpc>
            </a:pPr>
            <a:r>
              <a:rPr lang="en-US" sz="6600" spc="55">
                <a:solidFill>
                  <a:srgbClr val="2B2C30"/>
                </a:solidFill>
                <a:latin typeface="Palatino Linotype" panose="02040502050505030304" pitchFamily="18" charset="0"/>
                <a:ea typeface="Playfair Display"/>
                <a:cs typeface="Playfair Display"/>
                <a:sym typeface="Playfair Display"/>
              </a:rPr>
              <a:t>Research Paper Assignment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7315" y="4824950"/>
            <a:ext cx="3665320" cy="2064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00"/>
              </a:lnSpc>
            </a:pPr>
            <a:r>
              <a:rPr lang="en-US" b="1" dirty="0">
                <a:solidFill>
                  <a:srgbClr val="2B2C30"/>
                </a:solidFill>
                <a:latin typeface="Aptos" panose="020B0004020202020204" pitchFamily="34" charset="0"/>
                <a:ea typeface="Public Sans"/>
                <a:cs typeface="Public Sans"/>
                <a:sym typeface="Public Sans"/>
              </a:rPr>
              <a:t>Presented By: </a:t>
            </a:r>
            <a:r>
              <a:rPr lang="en-US" dirty="0">
                <a:solidFill>
                  <a:srgbClr val="2B2C30"/>
                </a:solidFill>
                <a:latin typeface="Aptos" panose="020B0004020202020204" pitchFamily="34" charset="0"/>
                <a:ea typeface="Public Sans"/>
                <a:cs typeface="Public Sans"/>
                <a:sym typeface="Public Sans"/>
              </a:rPr>
              <a:t>Lab </a:t>
            </a:r>
            <a:r>
              <a:rPr lang="en-US" b="1" dirty="0">
                <a:solidFill>
                  <a:srgbClr val="2B2C30"/>
                </a:solidFill>
                <a:latin typeface="Aptos" panose="020B0004020202020204" pitchFamily="34" charset="0"/>
                <a:ea typeface="Public Sans"/>
                <a:cs typeface="Public Sans"/>
                <a:sym typeface="Public Sans"/>
              </a:rPr>
              <a:t>Group 1</a:t>
            </a:r>
          </a:p>
          <a:p>
            <a:pPr>
              <a:lnSpc>
                <a:spcPts val="2300"/>
              </a:lnSpc>
            </a:pPr>
            <a:br>
              <a:rPr lang="en-US" dirty="0">
                <a:solidFill>
                  <a:srgbClr val="2B2C30"/>
                </a:solidFill>
                <a:latin typeface="Aptos" panose="020B0004020202020204" pitchFamily="34" charset="0"/>
                <a:ea typeface="Public Sans"/>
                <a:cs typeface="Public Sans"/>
                <a:sym typeface="Public Sans"/>
              </a:rPr>
            </a:br>
            <a:r>
              <a:rPr lang="en-US" dirty="0">
                <a:solidFill>
                  <a:srgbClr val="2B2C30"/>
                </a:solidFill>
                <a:latin typeface="Aptos" panose="020B0004020202020204" pitchFamily="34" charset="0"/>
                <a:ea typeface="Public Sans"/>
                <a:cs typeface="Public Sans"/>
                <a:sym typeface="Public Sans"/>
              </a:rPr>
              <a:t>Kavya Kumar Agarwal – 230101053</a:t>
            </a:r>
            <a:br>
              <a:rPr lang="en-US" dirty="0">
                <a:solidFill>
                  <a:srgbClr val="2B2C30"/>
                </a:solidFill>
                <a:latin typeface="Aptos" panose="020B0004020202020204" pitchFamily="34" charset="0"/>
                <a:ea typeface="Public Sans"/>
                <a:cs typeface="Public Sans"/>
                <a:sym typeface="Public Sans"/>
              </a:rPr>
            </a:br>
            <a:r>
              <a:rPr lang="en-US" dirty="0">
                <a:solidFill>
                  <a:srgbClr val="2B2C30"/>
                </a:solidFill>
                <a:latin typeface="Aptos" panose="020B0004020202020204" pitchFamily="34" charset="0"/>
                <a:ea typeface="Public Sans"/>
                <a:cs typeface="Public Sans"/>
                <a:sym typeface="Public Sans"/>
              </a:rPr>
              <a:t>Pratyush Kumar Swain – 230101079</a:t>
            </a:r>
          </a:p>
          <a:p>
            <a:pPr>
              <a:lnSpc>
                <a:spcPts val="2300"/>
              </a:lnSpc>
            </a:pPr>
            <a:r>
              <a:rPr lang="en-US" dirty="0">
                <a:solidFill>
                  <a:srgbClr val="2B2C30"/>
                </a:solidFill>
                <a:latin typeface="Aptos" panose="020B0004020202020204" pitchFamily="34" charset="0"/>
                <a:ea typeface="Public Sans"/>
                <a:cs typeface="Public Sans"/>
                <a:sym typeface="Public Sans"/>
              </a:rPr>
              <a:t>Ritvij Gopal – 230101085</a:t>
            </a:r>
          </a:p>
          <a:p>
            <a:pPr>
              <a:lnSpc>
                <a:spcPts val="2300"/>
              </a:lnSpc>
            </a:pPr>
            <a:r>
              <a:rPr lang="en-US" dirty="0">
                <a:solidFill>
                  <a:srgbClr val="2B2C30"/>
                </a:solidFill>
                <a:latin typeface="Aptos" panose="020B0004020202020204" pitchFamily="34" charset="0"/>
                <a:ea typeface="Public Sans"/>
                <a:cs typeface="Public Sans"/>
                <a:sym typeface="Public Sans"/>
              </a:rPr>
              <a:t>Parv Goyal - 230101124</a:t>
            </a:r>
            <a:br>
              <a:rPr lang="en-US" dirty="0">
                <a:solidFill>
                  <a:srgbClr val="2B2C30"/>
                </a:solidFill>
                <a:latin typeface="Aptos" panose="020B0004020202020204" pitchFamily="34" charset="0"/>
                <a:ea typeface="Public Sans"/>
                <a:cs typeface="Public Sans"/>
                <a:sym typeface="Public Sans"/>
              </a:rPr>
            </a:br>
            <a:endParaRPr lang="en-US" dirty="0">
              <a:solidFill>
                <a:srgbClr val="2B2C30"/>
              </a:solidFill>
              <a:latin typeface="Aptos" panose="020B0004020202020204" pitchFamily="34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C30852-FAA3-C5CA-3D22-FA543D14D42E}"/>
              </a:ext>
            </a:extLst>
          </p:cNvPr>
          <p:cNvSpPr txBox="1"/>
          <p:nvPr/>
        </p:nvSpPr>
        <p:spPr>
          <a:xfrm>
            <a:off x="491901" y="3481337"/>
            <a:ext cx="11540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Topic: Memory Management                                                                                                                              Published in: ASPLOS 2025 </a:t>
            </a:r>
            <a:endParaRPr lang="en-IN" sz="1600"/>
          </a:p>
        </p:txBody>
      </p:sp>
      <p:pic>
        <p:nvPicPr>
          <p:cNvPr id="7" name="Picture 2" descr="ICANN2019">
            <a:extLst>
              <a:ext uri="{FF2B5EF4-FFF2-40B4-BE49-F238E27FC236}">
                <a16:creationId xmlns:a16="http://schemas.microsoft.com/office/drawing/2014/main" id="{A4DD7D7A-AE7D-B397-059E-01C34EE1B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322" y="182826"/>
            <a:ext cx="1277841" cy="1281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1004" y="374116"/>
            <a:ext cx="10353257" cy="9417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4400" b="1" spc="562" dirty="0">
                <a:solidFill>
                  <a:srgbClr val="2B2C30"/>
                </a:solidFill>
                <a:latin typeface="Aptos" panose="020B0004020202020204" pitchFamily="34" charset="0"/>
                <a:ea typeface="Public Sans Bold"/>
                <a:cs typeface="Public Sans Bold"/>
                <a:sym typeface="Public Sans Bold"/>
              </a:rPr>
              <a:t>CONTENTS</a:t>
            </a:r>
            <a:endParaRPr lang="en-IN" sz="4400" b="1" spc="562" dirty="0">
              <a:solidFill>
                <a:srgbClr val="2B2C30"/>
              </a:solidFill>
              <a:latin typeface="Aptos" panose="020B0004020202020204" pitchFamily="34" charset="0"/>
            </a:endParaRPr>
          </a:p>
          <a:p>
            <a:pPr>
              <a:lnSpc>
                <a:spcPts val="3467"/>
              </a:lnSpc>
              <a:spcBef>
                <a:spcPct val="0"/>
              </a:spcBef>
            </a:pPr>
            <a:endParaRPr lang="en-US" sz="4400" b="1" spc="562" dirty="0">
              <a:solidFill>
                <a:srgbClr val="2B2C30"/>
              </a:solidFill>
              <a:latin typeface="Aptos" panose="020B0004020202020204" pitchFamily="34" charset="0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298549" y="839811"/>
            <a:ext cx="10572651" cy="56244"/>
          </a:xfrm>
          <a:prstGeom prst="line">
            <a:avLst/>
          </a:prstGeom>
          <a:ln w="2540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026" name="Picture 2" descr="ICANN2019">
            <a:extLst>
              <a:ext uri="{FF2B5EF4-FFF2-40B4-BE49-F238E27FC236}">
                <a16:creationId xmlns:a16="http://schemas.microsoft.com/office/drawing/2014/main" id="{757F005D-92BB-D971-DB46-19AB90220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0301" y="1523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4"/>
          <p:cNvSpPr txBox="1"/>
          <p:nvPr/>
        </p:nvSpPr>
        <p:spPr>
          <a:xfrm>
            <a:off x="685793" y="1260098"/>
            <a:ext cx="5251456" cy="5337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3033" lvl="1" indent="-201517">
              <a:lnSpc>
                <a:spcPts val="3490"/>
              </a:lnSpc>
              <a:buFont typeface="Arial"/>
              <a:buChar char="•"/>
            </a:pPr>
            <a:r>
              <a:rPr lang="en-US" sz="1866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INTRODUCTION</a:t>
            </a:r>
          </a:p>
          <a:p>
            <a:pPr marL="403033" lvl="1" indent="-201517">
              <a:lnSpc>
                <a:spcPts val="3490"/>
              </a:lnSpc>
              <a:buFont typeface="Arial"/>
              <a:buChar char="•"/>
            </a:pPr>
            <a:r>
              <a:rPr lang="en-US" sz="1866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CXL MEMORY AND DEVICE TYPES</a:t>
            </a:r>
          </a:p>
          <a:p>
            <a:pPr marL="403033" lvl="1" indent="-201517">
              <a:lnSpc>
                <a:spcPts val="3490"/>
              </a:lnSpc>
              <a:buFont typeface="Arial"/>
              <a:buChar char="•"/>
            </a:pPr>
            <a:r>
              <a:rPr lang="en-US" sz="1866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CXL CONTROLLER ARCHITECTURE</a:t>
            </a:r>
          </a:p>
          <a:p>
            <a:pPr marL="403033" lvl="1" indent="-201517">
              <a:lnSpc>
                <a:spcPts val="3490"/>
              </a:lnSpc>
              <a:buFont typeface="Arial"/>
              <a:buChar char="•"/>
            </a:pPr>
            <a:r>
              <a:rPr lang="en-US" sz="1866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CONTRIBUTIONS</a:t>
            </a:r>
          </a:p>
          <a:p>
            <a:pPr marL="403033" lvl="1" indent="-201517">
              <a:lnSpc>
                <a:spcPts val="3490"/>
              </a:lnSpc>
              <a:buFont typeface="Arial"/>
              <a:buChar char="•"/>
            </a:pPr>
            <a:r>
              <a:rPr lang="en-US" sz="1866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CPU-DRIVEN SOLUTIONS</a:t>
            </a:r>
          </a:p>
          <a:p>
            <a:pPr marL="403033" lvl="1" indent="-201517">
              <a:lnSpc>
                <a:spcPts val="3490"/>
              </a:lnSpc>
              <a:buFont typeface="Arial"/>
              <a:buChar char="•"/>
            </a:pPr>
            <a:r>
              <a:rPr lang="en-US" sz="1866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CXL-DRIVEN PAGE</a:t>
            </a:r>
          </a:p>
          <a:p>
            <a:pPr marL="403033" lvl="1" indent="-201517">
              <a:lnSpc>
                <a:spcPts val="3490"/>
              </a:lnSpc>
              <a:buFont typeface="Arial"/>
              <a:buChar char="•"/>
            </a:pPr>
            <a:r>
              <a:rPr lang="en-US" sz="1866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USEFULNESS AND PERFORMANCE COST</a:t>
            </a:r>
          </a:p>
          <a:p>
            <a:pPr marL="403033" lvl="1" indent="-201517">
              <a:lnSpc>
                <a:spcPts val="3490"/>
              </a:lnSpc>
              <a:buFont typeface="Arial"/>
              <a:buChar char="•"/>
            </a:pPr>
            <a:r>
              <a:rPr lang="en-US" sz="1866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M5</a:t>
            </a:r>
          </a:p>
          <a:p>
            <a:pPr marL="403033" lvl="1" indent="-201517">
              <a:lnSpc>
                <a:spcPts val="3490"/>
              </a:lnSpc>
              <a:buFont typeface="Arial"/>
              <a:buChar char="•"/>
            </a:pPr>
            <a:r>
              <a:rPr lang="en-US" sz="1866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EVALUATION SETUP AND EVALUATION</a:t>
            </a:r>
          </a:p>
          <a:p>
            <a:pPr marL="403033" lvl="1" indent="-201517">
              <a:lnSpc>
                <a:spcPts val="3490"/>
              </a:lnSpc>
              <a:buFont typeface="Arial"/>
              <a:buChar char="•"/>
            </a:pPr>
            <a:r>
              <a:rPr lang="en-US" sz="1866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DISCUSSION</a:t>
            </a:r>
          </a:p>
          <a:p>
            <a:pPr marL="403033" lvl="1" indent="-201517">
              <a:lnSpc>
                <a:spcPts val="3490"/>
              </a:lnSpc>
              <a:buFont typeface="Arial"/>
              <a:buChar char="•"/>
            </a:pPr>
            <a:r>
              <a:rPr lang="en-US" sz="1866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RELATED WORKS</a:t>
            </a:r>
          </a:p>
          <a:p>
            <a:pPr marL="403033" lvl="1" indent="-201517">
              <a:lnSpc>
                <a:spcPts val="3490"/>
              </a:lnSpc>
              <a:buFont typeface="Arial"/>
              <a:buChar char="•"/>
            </a:pPr>
            <a:r>
              <a:rPr lang="en-US" sz="1866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03134-E302-A964-3284-FF110E08D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1B52264-7FAD-FC37-003A-2C3B583530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4"/>
          <a:stretch>
            <a:fillRect/>
          </a:stretch>
        </p:blipFill>
        <p:spPr>
          <a:xfrm>
            <a:off x="1500543" y="1226867"/>
            <a:ext cx="8886281" cy="5346214"/>
          </a:xfrm>
          <a:prstGeom prst="rect">
            <a:avLst/>
          </a:prstGeom>
        </p:spPr>
      </p:pic>
      <p:sp>
        <p:nvSpPr>
          <p:cNvPr id="24" name="TextBox 2">
            <a:extLst>
              <a:ext uri="{FF2B5EF4-FFF2-40B4-BE49-F238E27FC236}">
                <a16:creationId xmlns:a16="http://schemas.microsoft.com/office/drawing/2014/main" id="{2A2E72C4-E0AC-9F3E-5486-35C3FE1FE764}"/>
              </a:ext>
            </a:extLst>
          </p:cNvPr>
          <p:cNvSpPr txBox="1"/>
          <p:nvPr/>
        </p:nvSpPr>
        <p:spPr>
          <a:xfrm>
            <a:off x="301659" y="488287"/>
            <a:ext cx="10353257" cy="528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5400" b="1" spc="562" dirty="0">
                <a:solidFill>
                  <a:srgbClr val="6F6935"/>
                </a:solidFill>
                <a:latin typeface="Aptos" panose="020B0004020202020204" pitchFamily="34" charset="0"/>
                <a:ea typeface="Public Sans Bold"/>
                <a:cs typeface="Public Sans Bold"/>
                <a:sym typeface="Public Sans Bold"/>
              </a:rPr>
              <a:t>INTRODUCTION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E34E06-A281-88B1-CC55-CB6972D2980D}"/>
              </a:ext>
            </a:extLst>
          </p:cNvPr>
          <p:cNvSpPr/>
          <p:nvPr/>
        </p:nvSpPr>
        <p:spPr>
          <a:xfrm>
            <a:off x="13069549" y="-1771252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" descr="ICANN2019">
            <a:extLst>
              <a:ext uri="{FF2B5EF4-FFF2-40B4-BE49-F238E27FC236}">
                <a16:creationId xmlns:a16="http://schemas.microsoft.com/office/drawing/2014/main" id="{8526A1A2-76A2-B6D7-EE54-155F51231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0301" y="1523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6005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9EF9E-F13B-AAE8-A216-3D62514A7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18C2E796-241E-631A-DC05-26405ADF9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4"/>
          <a:stretch>
            <a:fillRect/>
          </a:stretch>
        </p:blipFill>
        <p:spPr>
          <a:xfrm>
            <a:off x="2880430" y="1274492"/>
            <a:ext cx="14481002" cy="8712140"/>
          </a:xfrm>
          <a:prstGeom prst="rect">
            <a:avLst/>
          </a:prstGeom>
        </p:spPr>
      </p:pic>
      <p:sp>
        <p:nvSpPr>
          <p:cNvPr id="24" name="TextBox 2">
            <a:extLst>
              <a:ext uri="{FF2B5EF4-FFF2-40B4-BE49-F238E27FC236}">
                <a16:creationId xmlns:a16="http://schemas.microsoft.com/office/drawing/2014/main" id="{016AB14E-7341-4852-5073-A30C4CC014C9}"/>
              </a:ext>
            </a:extLst>
          </p:cNvPr>
          <p:cNvSpPr txBox="1"/>
          <p:nvPr/>
        </p:nvSpPr>
        <p:spPr>
          <a:xfrm>
            <a:off x="301659" y="488287"/>
            <a:ext cx="10353257" cy="528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5400" b="1" spc="562" dirty="0">
                <a:solidFill>
                  <a:srgbClr val="6F6935"/>
                </a:solidFill>
                <a:latin typeface="Aptos" panose="020B0004020202020204" pitchFamily="34" charset="0"/>
                <a:ea typeface="Public Sans Bold"/>
                <a:cs typeface="Public Sans Bold"/>
                <a:sym typeface="Public Sans Bold"/>
              </a:rPr>
              <a:t>INTRODUCTION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28FFA2-B1B8-F8F2-F56F-050480BC4B7A}"/>
              </a:ext>
            </a:extLst>
          </p:cNvPr>
          <p:cNvSpPr/>
          <p:nvPr/>
        </p:nvSpPr>
        <p:spPr>
          <a:xfrm>
            <a:off x="7519451" y="-1355819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ICANN2019">
            <a:extLst>
              <a:ext uri="{FF2B5EF4-FFF2-40B4-BE49-F238E27FC236}">
                <a16:creationId xmlns:a16="http://schemas.microsoft.com/office/drawing/2014/main" id="{E024F0AC-6469-B6BD-D6B9-7D8A8320B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0301" y="1523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3036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38071-C8DB-19EC-2739-29BB32388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B88603C1-68A5-37BD-0624-4878E03491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4"/>
          <a:stretch>
            <a:fillRect/>
          </a:stretch>
        </p:blipFill>
        <p:spPr>
          <a:xfrm>
            <a:off x="-2014720" y="1016701"/>
            <a:ext cx="11061444" cy="6654847"/>
          </a:xfrm>
          <a:prstGeom prst="rect">
            <a:avLst/>
          </a:prstGeom>
        </p:spPr>
      </p:pic>
      <p:sp>
        <p:nvSpPr>
          <p:cNvPr id="24" name="TextBox 2">
            <a:extLst>
              <a:ext uri="{FF2B5EF4-FFF2-40B4-BE49-F238E27FC236}">
                <a16:creationId xmlns:a16="http://schemas.microsoft.com/office/drawing/2014/main" id="{F91B8EF5-B52C-9D29-B9D3-B7A1EED1E249}"/>
              </a:ext>
            </a:extLst>
          </p:cNvPr>
          <p:cNvSpPr txBox="1"/>
          <p:nvPr/>
        </p:nvSpPr>
        <p:spPr>
          <a:xfrm>
            <a:off x="301659" y="488287"/>
            <a:ext cx="10353257" cy="528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5400" b="1" spc="562" dirty="0">
                <a:solidFill>
                  <a:srgbClr val="6F6935"/>
                </a:solidFill>
                <a:latin typeface="Aptos" panose="020B0004020202020204" pitchFamily="34" charset="0"/>
                <a:ea typeface="Public Sans Bold"/>
                <a:cs typeface="Public Sans Bold"/>
                <a:sym typeface="Public Sans Bold"/>
              </a:rPr>
              <a:t>INTRODUCTION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05DBC7-D856-84FE-D1A2-7EB97205AE1C}"/>
              </a:ext>
            </a:extLst>
          </p:cNvPr>
          <p:cNvSpPr/>
          <p:nvPr/>
        </p:nvSpPr>
        <p:spPr>
          <a:xfrm>
            <a:off x="12726919" y="-184825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2CECC3-E270-A2B5-BECD-A414A07E0EB6}"/>
              </a:ext>
            </a:extLst>
          </p:cNvPr>
          <p:cNvSpPr/>
          <p:nvPr/>
        </p:nvSpPr>
        <p:spPr>
          <a:xfrm>
            <a:off x="-5291877" y="1016701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971892-2FD0-5698-833D-DFE6BD2EA560}"/>
              </a:ext>
            </a:extLst>
          </p:cNvPr>
          <p:cNvSpPr/>
          <p:nvPr/>
        </p:nvSpPr>
        <p:spPr>
          <a:xfrm>
            <a:off x="-2933689" y="5841299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368E3E47-340D-C4BE-7BB8-009F4B0B5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0301" y="1523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33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F342D-26A5-75A0-88B2-87864F3FF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89355FE-9291-4D2C-31BD-43D66D2FD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4"/>
          <a:stretch>
            <a:fillRect/>
          </a:stretch>
        </p:blipFill>
        <p:spPr>
          <a:xfrm>
            <a:off x="-1185929" y="-3410354"/>
            <a:ext cx="16814371" cy="1011595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CB780EA-1FCC-6DF9-3721-028AB182406D}"/>
              </a:ext>
            </a:extLst>
          </p:cNvPr>
          <p:cNvSpPr/>
          <p:nvPr/>
        </p:nvSpPr>
        <p:spPr>
          <a:xfrm>
            <a:off x="9575157" y="-3249038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0183EF-BD20-BA2E-5320-EE8471F0D544}"/>
              </a:ext>
            </a:extLst>
          </p:cNvPr>
          <p:cNvSpPr/>
          <p:nvPr/>
        </p:nvSpPr>
        <p:spPr>
          <a:xfrm>
            <a:off x="-6906525" y="-245931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B2E7E1-3A0A-848F-3998-0D4C06B5E3E5}"/>
              </a:ext>
            </a:extLst>
          </p:cNvPr>
          <p:cNvSpPr/>
          <p:nvPr/>
        </p:nvSpPr>
        <p:spPr>
          <a:xfrm>
            <a:off x="3298203" y="9194099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BDE6B65C-ABCF-03CB-6B22-B94479785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0301" y="1523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7AFA10-4499-D383-9660-761AE910EA66}"/>
              </a:ext>
            </a:extLst>
          </p:cNvPr>
          <p:cNvSpPr/>
          <p:nvPr/>
        </p:nvSpPr>
        <p:spPr>
          <a:xfrm>
            <a:off x="-2477771" y="-9679911"/>
            <a:ext cx="12406469" cy="11342450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FD38031B-BB76-7675-AD31-D1F90D8BB198}"/>
              </a:ext>
            </a:extLst>
          </p:cNvPr>
          <p:cNvSpPr txBox="1"/>
          <p:nvPr/>
        </p:nvSpPr>
        <p:spPr>
          <a:xfrm>
            <a:off x="301659" y="488287"/>
            <a:ext cx="10353257" cy="528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5400" b="1" spc="562" dirty="0">
                <a:solidFill>
                  <a:srgbClr val="6F6935"/>
                </a:solidFill>
                <a:latin typeface="Aptos" panose="020B0004020202020204" pitchFamily="34" charset="0"/>
                <a:ea typeface="Public Sans Bold"/>
                <a:cs typeface="Public Sans Bold"/>
                <a:sym typeface="Public Sans Bold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721892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7B0C7-9092-84D4-BCFD-7B3A38905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5F2BB1C-86F0-B8B0-64C6-F0DD10D3843B}"/>
              </a:ext>
            </a:extLst>
          </p:cNvPr>
          <p:cNvSpPr/>
          <p:nvPr/>
        </p:nvSpPr>
        <p:spPr>
          <a:xfrm>
            <a:off x="363280" y="7607840"/>
            <a:ext cx="11465440" cy="5466944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0569A43-7028-AAED-70B6-1F405470677B}"/>
              </a:ext>
            </a:extLst>
          </p:cNvPr>
          <p:cNvSpPr/>
          <p:nvPr/>
        </p:nvSpPr>
        <p:spPr>
          <a:xfrm>
            <a:off x="12657328" y="1453577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EF0AC1B-D98E-2E7B-F970-184341903258}"/>
              </a:ext>
            </a:extLst>
          </p:cNvPr>
          <p:cNvSpPr/>
          <p:nvPr/>
        </p:nvSpPr>
        <p:spPr>
          <a:xfrm>
            <a:off x="-6134409" y="-1920878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D166CF-AABD-EB8D-42F7-13A50AF40B20}"/>
              </a:ext>
            </a:extLst>
          </p:cNvPr>
          <p:cNvSpPr/>
          <p:nvPr/>
        </p:nvSpPr>
        <p:spPr>
          <a:xfrm>
            <a:off x="15353153" y="-331176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A3F54A-F574-3B55-9F6B-C0A12813139A}"/>
              </a:ext>
            </a:extLst>
          </p:cNvPr>
          <p:cNvSpPr/>
          <p:nvPr/>
        </p:nvSpPr>
        <p:spPr>
          <a:xfrm>
            <a:off x="1256482" y="7695499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A2FD6E-5FA3-C76C-E525-6074F199C90C}"/>
              </a:ext>
            </a:extLst>
          </p:cNvPr>
          <p:cNvSpPr/>
          <p:nvPr/>
        </p:nvSpPr>
        <p:spPr>
          <a:xfrm>
            <a:off x="250859" y="-6380134"/>
            <a:ext cx="12406469" cy="5431847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D8D4BC6-E90C-AF91-2CD1-2AD28555D877}"/>
              </a:ext>
            </a:extLst>
          </p:cNvPr>
          <p:cNvGrpSpPr/>
          <p:nvPr/>
        </p:nvGrpSpPr>
        <p:grpSpPr>
          <a:xfrm>
            <a:off x="16650411" y="12481692"/>
            <a:ext cx="7478648" cy="3960897"/>
            <a:chOff x="3647786" y="1448551"/>
            <a:chExt cx="7478648" cy="396089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217DDA8-5495-E26C-9C40-24A8867B8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844" t="5513" r="8358" b="7816"/>
            <a:stretch>
              <a:fillRect/>
            </a:stretch>
          </p:blipFill>
          <p:spPr>
            <a:xfrm>
              <a:off x="3817627" y="1448551"/>
              <a:ext cx="7142659" cy="3960897"/>
            </a:xfrm>
            <a:prstGeom prst="rect">
              <a:avLst/>
            </a:prstGeom>
          </p:spPr>
        </p:pic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783E40B8-E758-31B2-C37E-31708296C036}"/>
                </a:ext>
              </a:extLst>
            </p:cNvPr>
            <p:cNvSpPr/>
            <p:nvPr/>
          </p:nvSpPr>
          <p:spPr>
            <a:xfrm rot="10800000">
              <a:off x="3651477" y="3822699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EBE53407-C051-379B-854E-372F48A96C81}"/>
                </a:ext>
              </a:extLst>
            </p:cNvPr>
            <p:cNvSpPr/>
            <p:nvPr/>
          </p:nvSpPr>
          <p:spPr>
            <a:xfrm rot="10800000">
              <a:off x="3647786" y="23325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B58F167C-35B5-27E6-AFB2-E5D11316D018}"/>
                </a:ext>
              </a:extLst>
            </p:cNvPr>
            <p:cNvSpPr/>
            <p:nvPr/>
          </p:nvSpPr>
          <p:spPr>
            <a:xfrm>
              <a:off x="10794137" y="31199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C0712F51-1FE1-45FF-663E-48FE141AB6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6" r="3903" b="3050"/>
          <a:stretch>
            <a:fillRect/>
          </a:stretch>
        </p:blipFill>
        <p:spPr>
          <a:xfrm>
            <a:off x="1978391" y="8030685"/>
            <a:ext cx="8589130" cy="47330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EC79342-BFFB-1137-0993-43D11AB5DC01}"/>
              </a:ext>
            </a:extLst>
          </p:cNvPr>
          <p:cNvSpPr/>
          <p:nvPr/>
        </p:nvSpPr>
        <p:spPr>
          <a:xfrm>
            <a:off x="12553444" y="-4049649"/>
            <a:ext cx="4077733" cy="4633310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558CB9A4-D721-E2C0-14AA-AD5F5C3C5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7B23FFE-F0EC-D7FE-00F1-938D3CF337DB}"/>
              </a:ext>
            </a:extLst>
          </p:cNvPr>
          <p:cNvSpPr/>
          <p:nvPr/>
        </p:nvSpPr>
        <p:spPr>
          <a:xfrm>
            <a:off x="-7416251" y="3291296"/>
            <a:ext cx="5494065" cy="5367065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6CE2BA-69B9-212F-D7EE-B23B9038FBCC}"/>
              </a:ext>
            </a:extLst>
          </p:cNvPr>
          <p:cNvSpPr txBox="1"/>
          <p:nvPr/>
        </p:nvSpPr>
        <p:spPr>
          <a:xfrm>
            <a:off x="437970" y="351537"/>
            <a:ext cx="10353257" cy="1426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  <a:sym typeface="Public Sans Bold"/>
              </a:rPr>
              <a:t>CONTRIBUTIONS OF THE RESEARCH PAPER</a:t>
            </a:r>
          </a:p>
          <a:p>
            <a:pPr>
              <a:lnSpc>
                <a:spcPts val="3467"/>
              </a:lnSpc>
              <a:spcBef>
                <a:spcPct val="0"/>
              </a:spcBef>
            </a:pPr>
            <a:endParaRPr lang="en-US" sz="5400" b="1" spc="562" dirty="0">
              <a:solidFill>
                <a:srgbClr val="2B2C30"/>
              </a:solidFill>
              <a:latin typeface="Aptos" panose="020B0004020202020204" pitchFamily="34" charset="0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9C8325-70FF-4451-B324-2281FAAF936B}"/>
              </a:ext>
            </a:extLst>
          </p:cNvPr>
          <p:cNvSpPr txBox="1"/>
          <p:nvPr/>
        </p:nvSpPr>
        <p:spPr>
          <a:xfrm>
            <a:off x="407582" y="1654930"/>
            <a:ext cx="3670778" cy="903327"/>
          </a:xfrm>
          <a:prstGeom prst="roundRect">
            <a:avLst>
              <a:gd name="adj" fmla="val 13975"/>
            </a:avLst>
          </a:prstGeom>
          <a:solidFill>
            <a:srgbClr val="DBD5BC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 CXL-driven hot-page and hot-word profiling solution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08075B-F5BF-7C36-6163-F8A45198D8F6}"/>
              </a:ext>
            </a:extLst>
          </p:cNvPr>
          <p:cNvSpPr txBox="1"/>
          <p:nvPr/>
        </p:nvSpPr>
        <p:spPr>
          <a:xfrm>
            <a:off x="4367315" y="1649010"/>
            <a:ext cx="3461001" cy="1293197"/>
          </a:xfrm>
          <a:prstGeom prst="roundRect">
            <a:avLst>
              <a:gd name="adj" fmla="val 10306"/>
            </a:avLst>
          </a:prstGeom>
          <a:solidFill>
            <a:srgbClr val="DBD5B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IN" dirty="0"/>
              <a:t>CPU-driven page-migration solutions considered harmful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F096AB-19C8-547B-5CBA-8B2B4273A545}"/>
              </a:ext>
            </a:extLst>
          </p:cNvPr>
          <p:cNvSpPr txBox="1"/>
          <p:nvPr/>
        </p:nvSpPr>
        <p:spPr>
          <a:xfrm>
            <a:off x="8136828" y="1649010"/>
            <a:ext cx="3647589" cy="1316415"/>
          </a:xfrm>
          <a:prstGeom prst="roundRect">
            <a:avLst>
              <a:gd name="adj" fmla="val 12061"/>
            </a:avLst>
          </a:prstGeom>
          <a:solidFill>
            <a:srgbClr val="DBD5B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IN" sz="2400" dirty="0"/>
              <a:t>A platform for developing CXL-driven page-migration solutions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FCDA1F-082D-DC40-9D59-E3C9C648DDAA}"/>
              </a:ext>
            </a:extLst>
          </p:cNvPr>
          <p:cNvSpPr txBox="1"/>
          <p:nvPr/>
        </p:nvSpPr>
        <p:spPr>
          <a:xfrm>
            <a:off x="407582" y="2712573"/>
            <a:ext cx="3647590" cy="3858875"/>
          </a:xfrm>
          <a:prstGeom prst="roundRect">
            <a:avLst>
              <a:gd name="adj" fmla="val 4124"/>
            </a:avLst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Page Access Counter (PAC) and Word Access Counter (WAC), implemented in an FPGA-based CXL device.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Count the number of accesses to every 4KB page and 64B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 a more precise and transparent profiling capability</a:t>
            </a:r>
            <a:endParaRPr lang="en-IN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55D0AB-B7A5-7443-F83A-16797204944D}"/>
              </a:ext>
            </a:extLst>
          </p:cNvPr>
          <p:cNvSpPr txBox="1"/>
          <p:nvPr/>
        </p:nvSpPr>
        <p:spPr>
          <a:xfrm>
            <a:off x="4354262" y="3113206"/>
            <a:ext cx="3461001" cy="2882027"/>
          </a:xfrm>
          <a:prstGeom prst="roundRect">
            <a:avLst>
              <a:gd name="adj" fmla="val 4412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CPU-driven page-migration solutions (ANB and DAMON) often identify warm pages in popular memory-intensive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These page-migration solutions often migrate sparse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Performance overhead of identifying hot pages and migrating them is high.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5FC8E0-06D9-A222-2216-6E4D6E8B6C10}"/>
              </a:ext>
            </a:extLst>
          </p:cNvPr>
          <p:cNvSpPr txBox="1"/>
          <p:nvPr/>
        </p:nvSpPr>
        <p:spPr>
          <a:xfrm>
            <a:off x="8136828" y="3125747"/>
            <a:ext cx="3647589" cy="3135392"/>
          </a:xfrm>
          <a:prstGeom prst="roundRect">
            <a:avLst>
              <a:gd name="adj" fmla="val 3619"/>
            </a:avLst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M5 consists of the following two key components: (1) Hot-Page Tracker (HPT) and Hot-Word Tracker (HWT) and (2) M5-manager.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HPT and HWT cost effectively track the top-𝐾 hot pages and hot words, respectively.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M5-manager provides users with software interfaces for the synergistic use of HPT and HWT.</a:t>
            </a:r>
            <a:endParaRPr lang="en-IN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C9BEC3-751F-C827-484B-8874074789C4}"/>
              </a:ext>
            </a:extLst>
          </p:cNvPr>
          <p:cNvSpPr/>
          <p:nvPr/>
        </p:nvSpPr>
        <p:spPr>
          <a:xfrm>
            <a:off x="12957181" y="1257783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51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E5FE7-E26B-B7A5-472C-FED35E91E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E5CA47C-EB29-01D7-D3EA-B30EB52CA9D1}"/>
              </a:ext>
            </a:extLst>
          </p:cNvPr>
          <p:cNvSpPr/>
          <p:nvPr/>
        </p:nvSpPr>
        <p:spPr>
          <a:xfrm>
            <a:off x="-1802632" y="9784214"/>
            <a:ext cx="11465440" cy="5466944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1BD01E6-8017-45C6-99CA-72AFC6556D2C}"/>
              </a:ext>
            </a:extLst>
          </p:cNvPr>
          <p:cNvSpPr/>
          <p:nvPr/>
        </p:nvSpPr>
        <p:spPr>
          <a:xfrm>
            <a:off x="12657328" y="1453577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2DD0F91-5362-30BA-AE2B-17713924293A}"/>
              </a:ext>
            </a:extLst>
          </p:cNvPr>
          <p:cNvSpPr/>
          <p:nvPr/>
        </p:nvSpPr>
        <p:spPr>
          <a:xfrm>
            <a:off x="-6134409" y="-1920878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B17CA9-AC67-2F14-5610-365302188F11}"/>
              </a:ext>
            </a:extLst>
          </p:cNvPr>
          <p:cNvSpPr/>
          <p:nvPr/>
        </p:nvSpPr>
        <p:spPr>
          <a:xfrm>
            <a:off x="15353153" y="-331176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CCA8C47-AF02-AB33-19FD-332C1E04B570}"/>
              </a:ext>
            </a:extLst>
          </p:cNvPr>
          <p:cNvGrpSpPr/>
          <p:nvPr/>
        </p:nvGrpSpPr>
        <p:grpSpPr>
          <a:xfrm>
            <a:off x="16650411" y="12481692"/>
            <a:ext cx="7478648" cy="3960897"/>
            <a:chOff x="3647786" y="1448551"/>
            <a:chExt cx="7478648" cy="396089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6487839-F363-C417-EEFB-E6A2AAF70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844" t="5513" r="8358" b="7816"/>
            <a:stretch>
              <a:fillRect/>
            </a:stretch>
          </p:blipFill>
          <p:spPr>
            <a:xfrm>
              <a:off x="3817627" y="1448551"/>
              <a:ext cx="7142659" cy="3960897"/>
            </a:xfrm>
            <a:prstGeom prst="rect">
              <a:avLst/>
            </a:prstGeom>
          </p:spPr>
        </p:pic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4F9B23A0-C908-4D3E-C6DF-AC5E1E0F19FD}"/>
                </a:ext>
              </a:extLst>
            </p:cNvPr>
            <p:cNvSpPr/>
            <p:nvPr/>
          </p:nvSpPr>
          <p:spPr>
            <a:xfrm rot="10800000">
              <a:off x="3651477" y="3822699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9B5EC214-B877-28E6-D03D-90A85440BF04}"/>
                </a:ext>
              </a:extLst>
            </p:cNvPr>
            <p:cNvSpPr/>
            <p:nvPr/>
          </p:nvSpPr>
          <p:spPr>
            <a:xfrm rot="10800000">
              <a:off x="3647786" y="23325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F1C1063F-76B2-BA95-A67E-92E509ECDA4A}"/>
                </a:ext>
              </a:extLst>
            </p:cNvPr>
            <p:cNvSpPr/>
            <p:nvPr/>
          </p:nvSpPr>
          <p:spPr>
            <a:xfrm>
              <a:off x="10794137" y="31199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45876B60-AD30-0CCD-0189-ADF788B380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6" r="3903" b="3050"/>
          <a:stretch>
            <a:fillRect/>
          </a:stretch>
        </p:blipFill>
        <p:spPr>
          <a:xfrm>
            <a:off x="-2493130" y="10936187"/>
            <a:ext cx="8589130" cy="47330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B0F1966-DC21-AAC5-DCE0-6EBCC97B3721}"/>
              </a:ext>
            </a:extLst>
          </p:cNvPr>
          <p:cNvSpPr/>
          <p:nvPr/>
        </p:nvSpPr>
        <p:spPr>
          <a:xfrm>
            <a:off x="12553444" y="-4049649"/>
            <a:ext cx="4077733" cy="4633310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68132414-30FA-6AE5-035A-5F72C42F3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CCAEE36-6F3B-D9D3-1481-96BED89F0FBC}"/>
              </a:ext>
            </a:extLst>
          </p:cNvPr>
          <p:cNvSpPr/>
          <p:nvPr/>
        </p:nvSpPr>
        <p:spPr>
          <a:xfrm>
            <a:off x="-7416251" y="3291296"/>
            <a:ext cx="5494065" cy="5367065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27731C-0D35-8A62-8549-F3AC60128016}"/>
              </a:ext>
            </a:extLst>
          </p:cNvPr>
          <p:cNvSpPr txBox="1"/>
          <p:nvPr/>
        </p:nvSpPr>
        <p:spPr>
          <a:xfrm>
            <a:off x="437970" y="351537"/>
            <a:ext cx="10353257" cy="1426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  <a:sym typeface="Public Sans Bold"/>
              </a:rPr>
              <a:t>CONTRIBUTIONS OF THE RESEARCH PAPER</a:t>
            </a:r>
          </a:p>
          <a:p>
            <a:pPr>
              <a:lnSpc>
                <a:spcPts val="3467"/>
              </a:lnSpc>
              <a:spcBef>
                <a:spcPct val="0"/>
              </a:spcBef>
            </a:pPr>
            <a:endParaRPr lang="en-US" sz="5400" b="1" spc="562" dirty="0">
              <a:solidFill>
                <a:srgbClr val="2B2C30"/>
              </a:solidFill>
              <a:latin typeface="Aptos" panose="020B0004020202020204" pitchFamily="34" charset="0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858AC1-FA95-66D4-4742-15FDD3981E0B}"/>
              </a:ext>
            </a:extLst>
          </p:cNvPr>
          <p:cNvSpPr txBox="1"/>
          <p:nvPr/>
        </p:nvSpPr>
        <p:spPr>
          <a:xfrm>
            <a:off x="407582" y="1654930"/>
            <a:ext cx="3670778" cy="903327"/>
          </a:xfrm>
          <a:prstGeom prst="roundRect">
            <a:avLst>
              <a:gd name="adj" fmla="val 13975"/>
            </a:avLst>
          </a:prstGeom>
          <a:solidFill>
            <a:srgbClr val="DBD5BC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 CXL-driven hot-page and hot-word profiling solution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FF7315-ED4A-5B54-854C-85E1570BD681}"/>
              </a:ext>
            </a:extLst>
          </p:cNvPr>
          <p:cNvSpPr txBox="1"/>
          <p:nvPr/>
        </p:nvSpPr>
        <p:spPr>
          <a:xfrm>
            <a:off x="4367315" y="1649010"/>
            <a:ext cx="3461001" cy="1293197"/>
          </a:xfrm>
          <a:prstGeom prst="roundRect">
            <a:avLst>
              <a:gd name="adj" fmla="val 10306"/>
            </a:avLst>
          </a:prstGeom>
          <a:solidFill>
            <a:srgbClr val="DBD5B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IN" dirty="0"/>
              <a:t>CPU-driven page-migration solutions considered harmful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6849A5-3FD8-8697-C7FE-4020BA618A70}"/>
              </a:ext>
            </a:extLst>
          </p:cNvPr>
          <p:cNvSpPr txBox="1"/>
          <p:nvPr/>
        </p:nvSpPr>
        <p:spPr>
          <a:xfrm>
            <a:off x="8136828" y="1649010"/>
            <a:ext cx="3647589" cy="1316415"/>
          </a:xfrm>
          <a:prstGeom prst="roundRect">
            <a:avLst>
              <a:gd name="adj" fmla="val 12061"/>
            </a:avLst>
          </a:prstGeom>
          <a:solidFill>
            <a:srgbClr val="DBD5B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IN" sz="2400" dirty="0"/>
              <a:t>A platform for developing CXL-driven page-migration solutions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19ABA-2683-3C3E-B838-485C7E3E95B8}"/>
              </a:ext>
            </a:extLst>
          </p:cNvPr>
          <p:cNvSpPr txBox="1"/>
          <p:nvPr/>
        </p:nvSpPr>
        <p:spPr>
          <a:xfrm>
            <a:off x="407582" y="2712573"/>
            <a:ext cx="3647590" cy="3858875"/>
          </a:xfrm>
          <a:prstGeom prst="roundRect">
            <a:avLst>
              <a:gd name="adj" fmla="val 4124"/>
            </a:avLst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Page Access Counter (PAC) and Word Access Counter (WAC), implemented in an FPGA-based CXL device.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Count the number of accesses to every 4KB page and 64B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 a more precise and transparent profiling capability</a:t>
            </a:r>
            <a:endParaRPr lang="en-IN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19FD2B-A894-071C-6463-E9EB70A8218F}"/>
              </a:ext>
            </a:extLst>
          </p:cNvPr>
          <p:cNvSpPr txBox="1"/>
          <p:nvPr/>
        </p:nvSpPr>
        <p:spPr>
          <a:xfrm>
            <a:off x="4354262" y="3113206"/>
            <a:ext cx="3461001" cy="2882027"/>
          </a:xfrm>
          <a:prstGeom prst="roundRect">
            <a:avLst>
              <a:gd name="adj" fmla="val 4412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CPU-driven page-migration solutions (ANB and DAMON) often identify warm pages in popular memory-intensive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These page-migration solutions often migrate sparse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Performance overhead of identifying hot pages and migrating them is high.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74B208-0A35-A6A5-BF01-3E3B8B92DC63}"/>
              </a:ext>
            </a:extLst>
          </p:cNvPr>
          <p:cNvSpPr txBox="1"/>
          <p:nvPr/>
        </p:nvSpPr>
        <p:spPr>
          <a:xfrm>
            <a:off x="8136828" y="3125747"/>
            <a:ext cx="3647589" cy="3135392"/>
          </a:xfrm>
          <a:prstGeom prst="roundRect">
            <a:avLst>
              <a:gd name="adj" fmla="val 3619"/>
            </a:avLst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M5 consists of the following two key components: (1) Hot-Page Tracker (HPT) and Hot-Word Tracker (HWT) and (2) M5-manager.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HPT and HWT cost effectively track the top-𝐾 hot pages and hot words, respectively.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M5-manager provides users with software interfaces for the synergistic use of HPT and HWT.</a:t>
            </a:r>
            <a:endParaRPr lang="en-IN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25AE27-C02A-354A-CAF7-3A82570902F3}"/>
              </a:ext>
            </a:extLst>
          </p:cNvPr>
          <p:cNvSpPr/>
          <p:nvPr/>
        </p:nvSpPr>
        <p:spPr>
          <a:xfrm>
            <a:off x="4085560" y="1257783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BE1B5-36C0-21A8-E047-89564F9DA0D0}"/>
              </a:ext>
            </a:extLst>
          </p:cNvPr>
          <p:cNvSpPr/>
          <p:nvPr/>
        </p:nvSpPr>
        <p:spPr>
          <a:xfrm>
            <a:off x="-15658361" y="-224222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62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7B3EC-1148-1E64-DC5F-B528A3AD8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F464CB3-C714-E27B-BE9C-688E6A950554}"/>
              </a:ext>
            </a:extLst>
          </p:cNvPr>
          <p:cNvSpPr/>
          <p:nvPr/>
        </p:nvSpPr>
        <p:spPr>
          <a:xfrm>
            <a:off x="-1802632" y="9784214"/>
            <a:ext cx="11465440" cy="5466944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9D77343-912E-E5F1-E6AA-9A22D9BC50F6}"/>
              </a:ext>
            </a:extLst>
          </p:cNvPr>
          <p:cNvSpPr/>
          <p:nvPr/>
        </p:nvSpPr>
        <p:spPr>
          <a:xfrm>
            <a:off x="12657328" y="1453577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1ED3184-8872-85B1-894B-CDF07DDF520A}"/>
              </a:ext>
            </a:extLst>
          </p:cNvPr>
          <p:cNvSpPr/>
          <p:nvPr/>
        </p:nvSpPr>
        <p:spPr>
          <a:xfrm>
            <a:off x="-6134409" y="-1920878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827E60-BC53-0E3D-1F4D-8593E2AADA33}"/>
              </a:ext>
            </a:extLst>
          </p:cNvPr>
          <p:cNvSpPr/>
          <p:nvPr/>
        </p:nvSpPr>
        <p:spPr>
          <a:xfrm>
            <a:off x="15353153" y="-331176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3501068-66A4-F57B-F2E8-94A169391311}"/>
              </a:ext>
            </a:extLst>
          </p:cNvPr>
          <p:cNvGrpSpPr/>
          <p:nvPr/>
        </p:nvGrpSpPr>
        <p:grpSpPr>
          <a:xfrm>
            <a:off x="16650411" y="12481692"/>
            <a:ext cx="7478648" cy="3960897"/>
            <a:chOff x="3647786" y="1448551"/>
            <a:chExt cx="7478648" cy="396089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AB533FD-8E43-9EFE-F891-A6ACD0F5F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844" t="5513" r="8358" b="7816"/>
            <a:stretch>
              <a:fillRect/>
            </a:stretch>
          </p:blipFill>
          <p:spPr>
            <a:xfrm>
              <a:off x="3817627" y="1448551"/>
              <a:ext cx="7142659" cy="3960897"/>
            </a:xfrm>
            <a:prstGeom prst="rect">
              <a:avLst/>
            </a:prstGeom>
          </p:spPr>
        </p:pic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F077E7B4-0A75-D123-5C83-BB8B803730D4}"/>
                </a:ext>
              </a:extLst>
            </p:cNvPr>
            <p:cNvSpPr/>
            <p:nvPr/>
          </p:nvSpPr>
          <p:spPr>
            <a:xfrm rot="10800000">
              <a:off x="3651477" y="3822699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230C39B0-6C89-3587-15F4-34AC9A99B1D3}"/>
                </a:ext>
              </a:extLst>
            </p:cNvPr>
            <p:cNvSpPr/>
            <p:nvPr/>
          </p:nvSpPr>
          <p:spPr>
            <a:xfrm rot="10800000">
              <a:off x="3647786" y="23325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C8E13982-B633-7A44-3173-D4DE192BF99D}"/>
                </a:ext>
              </a:extLst>
            </p:cNvPr>
            <p:cNvSpPr/>
            <p:nvPr/>
          </p:nvSpPr>
          <p:spPr>
            <a:xfrm>
              <a:off x="10794137" y="31199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C5A1CBCF-C412-980F-4ADF-4439147E2D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6" r="3903" b="3050"/>
          <a:stretch>
            <a:fillRect/>
          </a:stretch>
        </p:blipFill>
        <p:spPr>
          <a:xfrm>
            <a:off x="-2493130" y="10936187"/>
            <a:ext cx="8589130" cy="47330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60AD894-5109-6CC9-3C9C-8B0A006FB306}"/>
              </a:ext>
            </a:extLst>
          </p:cNvPr>
          <p:cNvSpPr/>
          <p:nvPr/>
        </p:nvSpPr>
        <p:spPr>
          <a:xfrm>
            <a:off x="12553444" y="-4049649"/>
            <a:ext cx="4077733" cy="4633310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D447769A-DC18-43DD-7816-DF9F30ACA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1E24C77-F2EF-ED25-0007-259124D94095}"/>
              </a:ext>
            </a:extLst>
          </p:cNvPr>
          <p:cNvSpPr/>
          <p:nvPr/>
        </p:nvSpPr>
        <p:spPr>
          <a:xfrm>
            <a:off x="-7416251" y="3291296"/>
            <a:ext cx="5494065" cy="5367065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51456B-E2D2-93E6-6431-CCBBEFA9E149}"/>
              </a:ext>
            </a:extLst>
          </p:cNvPr>
          <p:cNvSpPr txBox="1"/>
          <p:nvPr/>
        </p:nvSpPr>
        <p:spPr>
          <a:xfrm>
            <a:off x="437970" y="351537"/>
            <a:ext cx="10353257" cy="1426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  <a:sym typeface="Public Sans Bold"/>
              </a:rPr>
              <a:t>CONTRIBUTIONS OF THE RESEARCH PAPER</a:t>
            </a:r>
          </a:p>
          <a:p>
            <a:pPr>
              <a:lnSpc>
                <a:spcPts val="3467"/>
              </a:lnSpc>
              <a:spcBef>
                <a:spcPct val="0"/>
              </a:spcBef>
            </a:pPr>
            <a:endParaRPr lang="en-US" sz="5400" b="1" spc="562" dirty="0">
              <a:solidFill>
                <a:srgbClr val="2B2C30"/>
              </a:solidFill>
              <a:latin typeface="Aptos" panose="020B0004020202020204" pitchFamily="34" charset="0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AE92BA-C1A5-090E-878D-9B14AC700683}"/>
              </a:ext>
            </a:extLst>
          </p:cNvPr>
          <p:cNvSpPr txBox="1"/>
          <p:nvPr/>
        </p:nvSpPr>
        <p:spPr>
          <a:xfrm>
            <a:off x="407582" y="1654930"/>
            <a:ext cx="3670778" cy="903327"/>
          </a:xfrm>
          <a:prstGeom prst="roundRect">
            <a:avLst>
              <a:gd name="adj" fmla="val 13975"/>
            </a:avLst>
          </a:prstGeom>
          <a:solidFill>
            <a:srgbClr val="DBD5BC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 CXL-driven hot-page and hot-word profiling solution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8AC022-68FD-E90C-E621-557C739811D2}"/>
              </a:ext>
            </a:extLst>
          </p:cNvPr>
          <p:cNvSpPr txBox="1"/>
          <p:nvPr/>
        </p:nvSpPr>
        <p:spPr>
          <a:xfrm>
            <a:off x="4367315" y="1649010"/>
            <a:ext cx="3461001" cy="1293197"/>
          </a:xfrm>
          <a:prstGeom prst="roundRect">
            <a:avLst>
              <a:gd name="adj" fmla="val 10306"/>
            </a:avLst>
          </a:prstGeom>
          <a:solidFill>
            <a:srgbClr val="DBD5B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IN" dirty="0"/>
              <a:t>CPU-driven page-migration solutions considered harmful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B90B3F-BFEC-48DB-BF85-515622D36F91}"/>
              </a:ext>
            </a:extLst>
          </p:cNvPr>
          <p:cNvSpPr txBox="1"/>
          <p:nvPr/>
        </p:nvSpPr>
        <p:spPr>
          <a:xfrm>
            <a:off x="8136828" y="1649010"/>
            <a:ext cx="3647589" cy="1316415"/>
          </a:xfrm>
          <a:prstGeom prst="roundRect">
            <a:avLst>
              <a:gd name="adj" fmla="val 12061"/>
            </a:avLst>
          </a:prstGeom>
          <a:solidFill>
            <a:srgbClr val="DBD5B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IN" sz="2400" dirty="0"/>
              <a:t>A platform for developing CXL-driven page-migration solutions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3E9350-E34B-7F54-30C4-3EC40E7F3541}"/>
              </a:ext>
            </a:extLst>
          </p:cNvPr>
          <p:cNvSpPr txBox="1"/>
          <p:nvPr/>
        </p:nvSpPr>
        <p:spPr>
          <a:xfrm>
            <a:off x="407582" y="2712573"/>
            <a:ext cx="3647590" cy="3858875"/>
          </a:xfrm>
          <a:prstGeom prst="roundRect">
            <a:avLst>
              <a:gd name="adj" fmla="val 4124"/>
            </a:avLst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Page Access Counter (PAC) and Word Access Counter (WAC), implemented in an FPGA-based CXL device.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Count the number of accesses to every 4KB page and 64B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 a more precise and transparent profiling capability</a:t>
            </a:r>
            <a:endParaRPr lang="en-IN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5D0E91-A931-8A3D-6575-44F2CEE9013D}"/>
              </a:ext>
            </a:extLst>
          </p:cNvPr>
          <p:cNvSpPr txBox="1"/>
          <p:nvPr/>
        </p:nvSpPr>
        <p:spPr>
          <a:xfrm>
            <a:off x="4354262" y="3113206"/>
            <a:ext cx="3461001" cy="2882027"/>
          </a:xfrm>
          <a:prstGeom prst="roundRect">
            <a:avLst>
              <a:gd name="adj" fmla="val 4412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CPU-driven page-migration solutions (ANB and DAMON) often identify warm pages in popular memory-intensive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These page-migration solutions often migrate sparse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Performance overhead of identifying hot pages and migrating them is high.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9DC9D7-310A-EC9A-BC4E-F2FDF971A768}"/>
              </a:ext>
            </a:extLst>
          </p:cNvPr>
          <p:cNvSpPr txBox="1"/>
          <p:nvPr/>
        </p:nvSpPr>
        <p:spPr>
          <a:xfrm>
            <a:off x="8136828" y="3125747"/>
            <a:ext cx="3647589" cy="3135392"/>
          </a:xfrm>
          <a:prstGeom prst="roundRect">
            <a:avLst>
              <a:gd name="adj" fmla="val 3619"/>
            </a:avLst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M5 consists of the following two key components: (1) Hot-Page Tracker (HPT) and Hot-Word Tracker (HWT) and (2) M5-manager.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HPT and HWT cost effectively track the top-𝐾 hot pages and hot words, respectively.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M5-manager provides users with software interfaces for the synergistic use of HPT and HWT.</a:t>
            </a:r>
            <a:endParaRPr lang="en-IN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D10A13-E432-09DE-061C-486B6C62094A}"/>
              </a:ext>
            </a:extLst>
          </p:cNvPr>
          <p:cNvSpPr/>
          <p:nvPr/>
        </p:nvSpPr>
        <p:spPr>
          <a:xfrm>
            <a:off x="7848591" y="1374212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103A22-2D2E-5A4A-E3B5-8BD43E706843}"/>
              </a:ext>
            </a:extLst>
          </p:cNvPr>
          <p:cNvSpPr/>
          <p:nvPr/>
        </p:nvSpPr>
        <p:spPr>
          <a:xfrm>
            <a:off x="-4028094" y="1087172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89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5352E-7D08-EC71-9A61-39A9B9F65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4856C38-933B-0790-3A65-0699772C160A}"/>
              </a:ext>
            </a:extLst>
          </p:cNvPr>
          <p:cNvSpPr/>
          <p:nvPr/>
        </p:nvSpPr>
        <p:spPr>
          <a:xfrm>
            <a:off x="-1802632" y="9784214"/>
            <a:ext cx="11465440" cy="5466944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2BF6169-F972-BC7B-696D-83FEAC4DF53D}"/>
              </a:ext>
            </a:extLst>
          </p:cNvPr>
          <p:cNvSpPr/>
          <p:nvPr/>
        </p:nvSpPr>
        <p:spPr>
          <a:xfrm>
            <a:off x="12657328" y="1453577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4AAFF27-30BC-0861-2D16-2F218EF4ED41}"/>
              </a:ext>
            </a:extLst>
          </p:cNvPr>
          <p:cNvSpPr/>
          <p:nvPr/>
        </p:nvSpPr>
        <p:spPr>
          <a:xfrm>
            <a:off x="-6134409" y="-1920878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A9B41F-36B0-8BC3-5CED-990E459B22DF}"/>
              </a:ext>
            </a:extLst>
          </p:cNvPr>
          <p:cNvSpPr/>
          <p:nvPr/>
        </p:nvSpPr>
        <p:spPr>
          <a:xfrm>
            <a:off x="15353153" y="-331176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79DF5E-AB20-7077-785F-E928603BEACE}"/>
              </a:ext>
            </a:extLst>
          </p:cNvPr>
          <p:cNvGrpSpPr/>
          <p:nvPr/>
        </p:nvGrpSpPr>
        <p:grpSpPr>
          <a:xfrm>
            <a:off x="16650411" y="12481692"/>
            <a:ext cx="7478648" cy="3960897"/>
            <a:chOff x="3647786" y="1448551"/>
            <a:chExt cx="7478648" cy="396089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F750B82-76B8-154C-7525-B3C6B15F9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844" t="5513" r="8358" b="7816"/>
            <a:stretch>
              <a:fillRect/>
            </a:stretch>
          </p:blipFill>
          <p:spPr>
            <a:xfrm>
              <a:off x="3817627" y="1448551"/>
              <a:ext cx="7142659" cy="3960897"/>
            </a:xfrm>
            <a:prstGeom prst="rect">
              <a:avLst/>
            </a:prstGeom>
          </p:spPr>
        </p:pic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BD3163C6-C073-3EEB-7E5D-1972856A1B54}"/>
                </a:ext>
              </a:extLst>
            </p:cNvPr>
            <p:cNvSpPr/>
            <p:nvPr/>
          </p:nvSpPr>
          <p:spPr>
            <a:xfrm rot="10800000">
              <a:off x="3651477" y="3822699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E0D7ABCF-C71A-73B1-DD69-8377463B2D5F}"/>
                </a:ext>
              </a:extLst>
            </p:cNvPr>
            <p:cNvSpPr/>
            <p:nvPr/>
          </p:nvSpPr>
          <p:spPr>
            <a:xfrm rot="10800000">
              <a:off x="3647786" y="23325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12D8E09F-ABA2-7639-6E27-BC8582C7DBB1}"/>
                </a:ext>
              </a:extLst>
            </p:cNvPr>
            <p:cNvSpPr/>
            <p:nvPr/>
          </p:nvSpPr>
          <p:spPr>
            <a:xfrm>
              <a:off x="10794137" y="31199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93960BAC-9B2E-3DEF-D9C5-6001698EC9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6" r="3903" b="3050"/>
          <a:stretch>
            <a:fillRect/>
          </a:stretch>
        </p:blipFill>
        <p:spPr>
          <a:xfrm>
            <a:off x="-2493130" y="10936187"/>
            <a:ext cx="8589130" cy="47330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A3A9F38-022E-6DAA-01F7-6EDF994A148B}"/>
              </a:ext>
            </a:extLst>
          </p:cNvPr>
          <p:cNvSpPr/>
          <p:nvPr/>
        </p:nvSpPr>
        <p:spPr>
          <a:xfrm>
            <a:off x="12553444" y="-4049649"/>
            <a:ext cx="4077733" cy="4633310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363AE31C-C0D2-5AEE-7DF3-525D21D8F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CB8DCFD-AEE2-760C-A269-82DE0FE552C2}"/>
              </a:ext>
            </a:extLst>
          </p:cNvPr>
          <p:cNvSpPr/>
          <p:nvPr/>
        </p:nvSpPr>
        <p:spPr>
          <a:xfrm>
            <a:off x="-7416251" y="3291296"/>
            <a:ext cx="5494065" cy="5367065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C0E0E-8B86-8457-9B35-756555C15A1B}"/>
              </a:ext>
            </a:extLst>
          </p:cNvPr>
          <p:cNvSpPr txBox="1"/>
          <p:nvPr/>
        </p:nvSpPr>
        <p:spPr>
          <a:xfrm>
            <a:off x="437970" y="351537"/>
            <a:ext cx="10353257" cy="1426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  <a:sym typeface="Public Sans Bold"/>
              </a:rPr>
              <a:t>CONTRIBUTIONS OF THE RESEARCH PAPER</a:t>
            </a:r>
          </a:p>
          <a:p>
            <a:pPr>
              <a:lnSpc>
                <a:spcPts val="3467"/>
              </a:lnSpc>
              <a:spcBef>
                <a:spcPct val="0"/>
              </a:spcBef>
            </a:pPr>
            <a:endParaRPr lang="en-US" sz="5400" b="1" spc="562" dirty="0">
              <a:solidFill>
                <a:srgbClr val="2B2C30"/>
              </a:solidFill>
              <a:latin typeface="Aptos" panose="020B0004020202020204" pitchFamily="34" charset="0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06B111-3EFF-6C9E-3D42-432C4773607C}"/>
              </a:ext>
            </a:extLst>
          </p:cNvPr>
          <p:cNvSpPr txBox="1"/>
          <p:nvPr/>
        </p:nvSpPr>
        <p:spPr>
          <a:xfrm>
            <a:off x="407582" y="1654930"/>
            <a:ext cx="3670778" cy="903327"/>
          </a:xfrm>
          <a:prstGeom prst="roundRect">
            <a:avLst>
              <a:gd name="adj" fmla="val 13975"/>
            </a:avLst>
          </a:prstGeom>
          <a:solidFill>
            <a:srgbClr val="DBD5BC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 CXL-driven hot-page and hot-word profiling solution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5EBF01-0413-BEC9-A8B4-AC02109FEC0F}"/>
              </a:ext>
            </a:extLst>
          </p:cNvPr>
          <p:cNvSpPr txBox="1"/>
          <p:nvPr/>
        </p:nvSpPr>
        <p:spPr>
          <a:xfrm>
            <a:off x="4367315" y="1649010"/>
            <a:ext cx="3461001" cy="1293197"/>
          </a:xfrm>
          <a:prstGeom prst="roundRect">
            <a:avLst>
              <a:gd name="adj" fmla="val 10306"/>
            </a:avLst>
          </a:prstGeom>
          <a:solidFill>
            <a:srgbClr val="DBD5B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IN" dirty="0"/>
              <a:t>CPU-driven page-migration solutions considered harmful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F36945-469A-CF21-4AFD-E58F9F66B402}"/>
              </a:ext>
            </a:extLst>
          </p:cNvPr>
          <p:cNvSpPr txBox="1"/>
          <p:nvPr/>
        </p:nvSpPr>
        <p:spPr>
          <a:xfrm>
            <a:off x="8136828" y="1649010"/>
            <a:ext cx="3647589" cy="1316415"/>
          </a:xfrm>
          <a:prstGeom prst="roundRect">
            <a:avLst>
              <a:gd name="adj" fmla="val 12061"/>
            </a:avLst>
          </a:prstGeom>
          <a:solidFill>
            <a:srgbClr val="DBD5B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IN" sz="2400" dirty="0"/>
              <a:t>A platform for developing CXL-driven page-migration solutions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90CADC-D310-A121-2A60-78FA8E3EF834}"/>
              </a:ext>
            </a:extLst>
          </p:cNvPr>
          <p:cNvSpPr txBox="1"/>
          <p:nvPr/>
        </p:nvSpPr>
        <p:spPr>
          <a:xfrm>
            <a:off x="407582" y="2712573"/>
            <a:ext cx="3647590" cy="3858875"/>
          </a:xfrm>
          <a:prstGeom prst="roundRect">
            <a:avLst>
              <a:gd name="adj" fmla="val 4124"/>
            </a:avLst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Page Access Counter (PAC) and Word Access Counter (WAC), implemented in an FPGA-based CXL device.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Count the number of accesses to every 4KB page and 64B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 a more precise and transparent profiling capability</a:t>
            </a:r>
            <a:endParaRPr lang="en-IN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141849-D5D6-F8C2-FC1C-8D112CEC48AD}"/>
              </a:ext>
            </a:extLst>
          </p:cNvPr>
          <p:cNvSpPr txBox="1"/>
          <p:nvPr/>
        </p:nvSpPr>
        <p:spPr>
          <a:xfrm>
            <a:off x="4354262" y="3113206"/>
            <a:ext cx="3461001" cy="2882027"/>
          </a:xfrm>
          <a:prstGeom prst="roundRect">
            <a:avLst>
              <a:gd name="adj" fmla="val 4412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CPU-driven page-migration solutions (ANB and DAMON) often identify warm pages in popular memory-intensive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These page-migration solutions often migrate sparse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Performance overhead of identifying hot pages and migrating them is high.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586CD2-8D89-4706-0A9D-4FEEFFD57C7F}"/>
              </a:ext>
            </a:extLst>
          </p:cNvPr>
          <p:cNvSpPr txBox="1"/>
          <p:nvPr/>
        </p:nvSpPr>
        <p:spPr>
          <a:xfrm>
            <a:off x="8136828" y="3125747"/>
            <a:ext cx="3647589" cy="3135392"/>
          </a:xfrm>
          <a:prstGeom prst="roundRect">
            <a:avLst>
              <a:gd name="adj" fmla="val 3619"/>
            </a:avLst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M5 consists of the following two key components: (1) Hot-Page Tracker (HPT) and Hot-Word Tracker (HWT) and (2) M5-manager.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HPT and HWT cost effectively track the top-𝐾 hot pages and hot words, respectively.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M5-manager provides users with software interfaces for the synergistic use of HPT and HWT.</a:t>
            </a:r>
            <a:endParaRPr lang="en-IN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F0EA23-38C9-727D-494B-D1A73EE21CC9}"/>
              </a:ext>
            </a:extLst>
          </p:cNvPr>
          <p:cNvSpPr/>
          <p:nvPr/>
        </p:nvSpPr>
        <p:spPr>
          <a:xfrm>
            <a:off x="12198913" y="118316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AC9BCC-11B7-F9DC-F944-8B6B2D274D83}"/>
              </a:ext>
            </a:extLst>
          </p:cNvPr>
          <p:cNvSpPr/>
          <p:nvPr/>
        </p:nvSpPr>
        <p:spPr>
          <a:xfrm>
            <a:off x="-237293" y="1100022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11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A48E3-929B-44C0-3F53-F1904E6C2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6C6DE2A-F8AC-D6C7-EEE4-EBEC1F89DA6F}"/>
              </a:ext>
            </a:extLst>
          </p:cNvPr>
          <p:cNvSpPr/>
          <p:nvPr/>
        </p:nvSpPr>
        <p:spPr>
          <a:xfrm>
            <a:off x="-1802632" y="9784214"/>
            <a:ext cx="11465440" cy="5466944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756F1D0-6D83-4665-7927-737DED613A5F}"/>
              </a:ext>
            </a:extLst>
          </p:cNvPr>
          <p:cNvSpPr/>
          <p:nvPr/>
        </p:nvSpPr>
        <p:spPr>
          <a:xfrm>
            <a:off x="12657328" y="1453577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149DF35-0C6A-B160-246E-9846BCBC0736}"/>
              </a:ext>
            </a:extLst>
          </p:cNvPr>
          <p:cNvSpPr/>
          <p:nvPr/>
        </p:nvSpPr>
        <p:spPr>
          <a:xfrm>
            <a:off x="420281" y="1540513"/>
            <a:ext cx="11376835" cy="4903388"/>
          </a:xfrm>
          <a:prstGeom prst="roundRect">
            <a:avLst>
              <a:gd name="adj" fmla="val 3859"/>
            </a:avLst>
          </a:prstGeom>
          <a:solidFill>
            <a:srgbClr val="D5CDA7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4E1C0F-45AD-1568-6806-922BD45D7397}"/>
              </a:ext>
            </a:extLst>
          </p:cNvPr>
          <p:cNvSpPr/>
          <p:nvPr/>
        </p:nvSpPr>
        <p:spPr>
          <a:xfrm>
            <a:off x="15353153" y="-331176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065DECC-FD25-DC48-2636-D0EE2453E06D}"/>
              </a:ext>
            </a:extLst>
          </p:cNvPr>
          <p:cNvGrpSpPr/>
          <p:nvPr/>
        </p:nvGrpSpPr>
        <p:grpSpPr>
          <a:xfrm>
            <a:off x="16650411" y="12481692"/>
            <a:ext cx="7478648" cy="3960897"/>
            <a:chOff x="3647786" y="1448551"/>
            <a:chExt cx="7478648" cy="396089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6D577B5-1AE6-CEBF-2E0C-EBC4E03FC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844" t="5513" r="8358" b="7816"/>
            <a:stretch>
              <a:fillRect/>
            </a:stretch>
          </p:blipFill>
          <p:spPr>
            <a:xfrm>
              <a:off x="3817627" y="1448551"/>
              <a:ext cx="7142659" cy="3960897"/>
            </a:xfrm>
            <a:prstGeom prst="rect">
              <a:avLst/>
            </a:prstGeom>
          </p:spPr>
        </p:pic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782E5A93-3794-AB93-FEC7-01297E2F1E9B}"/>
                </a:ext>
              </a:extLst>
            </p:cNvPr>
            <p:cNvSpPr/>
            <p:nvPr/>
          </p:nvSpPr>
          <p:spPr>
            <a:xfrm rot="10800000">
              <a:off x="3651477" y="3822699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016AA60F-B619-A076-968F-D71ACF08938F}"/>
                </a:ext>
              </a:extLst>
            </p:cNvPr>
            <p:cNvSpPr/>
            <p:nvPr/>
          </p:nvSpPr>
          <p:spPr>
            <a:xfrm rot="10800000">
              <a:off x="3647786" y="23325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D949A42B-441F-9042-2FD9-5248574F9E32}"/>
                </a:ext>
              </a:extLst>
            </p:cNvPr>
            <p:cNvSpPr/>
            <p:nvPr/>
          </p:nvSpPr>
          <p:spPr>
            <a:xfrm>
              <a:off x="10794137" y="31199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EB215D7E-5D32-BA8B-32F4-86517311B2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6" r="3903" b="3050"/>
          <a:stretch>
            <a:fillRect/>
          </a:stretch>
        </p:blipFill>
        <p:spPr>
          <a:xfrm>
            <a:off x="-2493130" y="10936187"/>
            <a:ext cx="8589130" cy="47330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B39AA49-AB5B-4195-284A-AE790E3BAAEB}"/>
              </a:ext>
            </a:extLst>
          </p:cNvPr>
          <p:cNvSpPr/>
          <p:nvPr/>
        </p:nvSpPr>
        <p:spPr>
          <a:xfrm>
            <a:off x="12553444" y="-4049649"/>
            <a:ext cx="4077733" cy="4633310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6F563EB9-561E-48D3-B32C-E87558F55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2257450-3E90-822A-7691-0E2C3BA329DC}"/>
              </a:ext>
            </a:extLst>
          </p:cNvPr>
          <p:cNvSpPr/>
          <p:nvPr/>
        </p:nvSpPr>
        <p:spPr>
          <a:xfrm>
            <a:off x="-7416251" y="3291296"/>
            <a:ext cx="5494065" cy="5367065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730FF0-9863-8CF9-C6D7-CD184B918814}"/>
              </a:ext>
            </a:extLst>
          </p:cNvPr>
          <p:cNvSpPr txBox="1"/>
          <p:nvPr/>
        </p:nvSpPr>
        <p:spPr>
          <a:xfrm>
            <a:off x="340056" y="352091"/>
            <a:ext cx="8704617" cy="9133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GB" sz="36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CPU-DRIVEN PAGE MIGRATION SOLUTIONS</a:t>
            </a:r>
            <a:endParaRPr lang="en-US" sz="5400" b="1" spc="562" dirty="0">
              <a:solidFill>
                <a:srgbClr val="2B2C30"/>
              </a:solidFill>
              <a:latin typeface="Aptos" panose="020B0004020202020204" pitchFamily="34" charset="0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E4A32D-937B-C32A-8D26-A63969EE26D0}"/>
              </a:ext>
            </a:extLst>
          </p:cNvPr>
          <p:cNvSpPr txBox="1"/>
          <p:nvPr/>
        </p:nvSpPr>
        <p:spPr>
          <a:xfrm>
            <a:off x="407582" y="7705531"/>
            <a:ext cx="3670778" cy="903327"/>
          </a:xfrm>
          <a:prstGeom prst="roundRect">
            <a:avLst>
              <a:gd name="adj" fmla="val 13975"/>
            </a:avLst>
          </a:prstGeom>
          <a:solidFill>
            <a:srgbClr val="DBD5BC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 CXL-driven hot-page and hot-word profiling solution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785492-41C1-95D7-1C86-4728C9C01A3F}"/>
              </a:ext>
            </a:extLst>
          </p:cNvPr>
          <p:cNvSpPr txBox="1"/>
          <p:nvPr/>
        </p:nvSpPr>
        <p:spPr>
          <a:xfrm>
            <a:off x="4367315" y="7699611"/>
            <a:ext cx="3461001" cy="1293197"/>
          </a:xfrm>
          <a:prstGeom prst="roundRect">
            <a:avLst>
              <a:gd name="adj" fmla="val 10306"/>
            </a:avLst>
          </a:prstGeom>
          <a:solidFill>
            <a:srgbClr val="DBD5B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IN" dirty="0"/>
              <a:t>CPU-driven page-migration solutions considered harmful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42922D-7224-F485-2C9E-EB192D065812}"/>
              </a:ext>
            </a:extLst>
          </p:cNvPr>
          <p:cNvSpPr txBox="1"/>
          <p:nvPr/>
        </p:nvSpPr>
        <p:spPr>
          <a:xfrm>
            <a:off x="8136828" y="7699611"/>
            <a:ext cx="3647589" cy="1316415"/>
          </a:xfrm>
          <a:prstGeom prst="roundRect">
            <a:avLst>
              <a:gd name="adj" fmla="val 12061"/>
            </a:avLst>
          </a:prstGeom>
          <a:solidFill>
            <a:srgbClr val="DBD5BC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IN" sz="2400" dirty="0"/>
              <a:t>A platform for developing CXL-driven page-migration solutions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23A1A4-B0C1-BFC6-4E8D-8B5EE12063EB}"/>
              </a:ext>
            </a:extLst>
          </p:cNvPr>
          <p:cNvSpPr txBox="1"/>
          <p:nvPr/>
        </p:nvSpPr>
        <p:spPr>
          <a:xfrm>
            <a:off x="407582" y="8763174"/>
            <a:ext cx="3647590" cy="3858875"/>
          </a:xfrm>
          <a:prstGeom prst="roundRect">
            <a:avLst>
              <a:gd name="adj" fmla="val 4124"/>
            </a:avLst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Page Access Counter (PAC) and Word Access Counter (WAC), implemented in an FPGA-based CXL device.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Count the number of accesses to every 4KB page and 64B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 a more precise and transparent profiling capability</a:t>
            </a:r>
            <a:endParaRPr lang="en-IN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4A1652-4F2E-DD91-9219-A7355301129D}"/>
              </a:ext>
            </a:extLst>
          </p:cNvPr>
          <p:cNvSpPr txBox="1"/>
          <p:nvPr/>
        </p:nvSpPr>
        <p:spPr>
          <a:xfrm>
            <a:off x="4354262" y="9163807"/>
            <a:ext cx="3461001" cy="2882027"/>
          </a:xfrm>
          <a:prstGeom prst="roundRect">
            <a:avLst>
              <a:gd name="adj" fmla="val 4412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CPU-driven page-migration solutions (ANB and DAMON) often identify warm pages in popular memory-intensive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These page-migration solutions often migrate sparse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Performance overhead of identifying hot pages and migrating them is high.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617CD5-CC5F-E347-BF57-A417ED224CB2}"/>
              </a:ext>
            </a:extLst>
          </p:cNvPr>
          <p:cNvSpPr txBox="1"/>
          <p:nvPr/>
        </p:nvSpPr>
        <p:spPr>
          <a:xfrm>
            <a:off x="8136828" y="9176348"/>
            <a:ext cx="3647589" cy="3135392"/>
          </a:xfrm>
          <a:prstGeom prst="roundRect">
            <a:avLst>
              <a:gd name="adj" fmla="val 3619"/>
            </a:avLst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M5 consists of the following two key components: (1) Hot-Page Tracker (HPT) and Hot-Word Tracker (HWT) and (2) M5-manager.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HPT and HWT cost effectively track the top-𝐾 hot pages and hot words, respectively.</a:t>
            </a:r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M5-manager provides users with software interfaces for the synergistic use of HPT and HWT.</a:t>
            </a:r>
            <a:endParaRPr lang="en-IN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CF4BDD-EDC6-69D2-9422-383B41C578B1}"/>
              </a:ext>
            </a:extLst>
          </p:cNvPr>
          <p:cNvSpPr/>
          <p:nvPr/>
        </p:nvSpPr>
        <p:spPr>
          <a:xfrm>
            <a:off x="12198913" y="118316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40C087-F523-0D4D-5250-9F7091474683}"/>
              </a:ext>
            </a:extLst>
          </p:cNvPr>
          <p:cNvSpPr/>
          <p:nvPr/>
        </p:nvSpPr>
        <p:spPr>
          <a:xfrm>
            <a:off x="-198038" y="7169184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A68A082-7A8A-E4F1-4D43-6C82C02B155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1" t="7011" r="41389" b="33764"/>
          <a:stretch>
            <a:fillRect/>
          </a:stretch>
        </p:blipFill>
        <p:spPr>
          <a:xfrm>
            <a:off x="1585910" y="2910428"/>
            <a:ext cx="6156824" cy="2070773"/>
          </a:xfrm>
          <a:prstGeom prst="rect">
            <a:avLst/>
          </a:prstGeom>
          <a:noFill/>
        </p:spPr>
      </p:pic>
      <p:pic>
        <p:nvPicPr>
          <p:cNvPr id="14" name="Content Placeholder 6">
            <a:extLst>
              <a:ext uri="{FF2B5EF4-FFF2-40B4-BE49-F238E27FC236}">
                <a16:creationId xmlns:a16="http://schemas.microsoft.com/office/drawing/2014/main" id="{8A161EEB-3334-6E26-4ABD-63AF8B47C9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7066" t="7011" r="1473" b="33764"/>
          <a:stretch>
            <a:fillRect/>
          </a:stretch>
        </p:blipFill>
        <p:spPr>
          <a:xfrm>
            <a:off x="7435807" y="2910427"/>
            <a:ext cx="3308306" cy="20707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60607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7B5E4-A4F9-DA26-E6DF-B93E7BB21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EC6188-1AB8-4F34-FFD0-810FFEED76C8}"/>
              </a:ext>
            </a:extLst>
          </p:cNvPr>
          <p:cNvSpPr/>
          <p:nvPr/>
        </p:nvSpPr>
        <p:spPr>
          <a:xfrm>
            <a:off x="420281" y="1409700"/>
            <a:ext cx="11376835" cy="5034201"/>
          </a:xfrm>
          <a:prstGeom prst="roundRect">
            <a:avLst>
              <a:gd name="adj" fmla="val 3859"/>
            </a:avLst>
          </a:prstGeom>
          <a:solidFill>
            <a:srgbClr val="D5CDA7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24F54-F089-74AC-82A8-51AC523CB313}"/>
              </a:ext>
            </a:extLst>
          </p:cNvPr>
          <p:cNvSpPr txBox="1"/>
          <p:nvPr/>
        </p:nvSpPr>
        <p:spPr>
          <a:xfrm>
            <a:off x="420281" y="410170"/>
            <a:ext cx="1046362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THE GOAL: IDENTIFY HOT PAGES</a:t>
            </a:r>
          </a:p>
          <a:p>
            <a:pPr algn="ctr"/>
            <a:endParaRPr lang="en-GB"/>
          </a:p>
        </p:txBody>
      </p:sp>
      <p:pic>
        <p:nvPicPr>
          <p:cNvPr id="7" name="Picture 6" descr="A screenshot of a computer program">
            <a:extLst>
              <a:ext uri="{FF2B5EF4-FFF2-40B4-BE49-F238E27FC236}">
                <a16:creationId xmlns:a16="http://schemas.microsoft.com/office/drawing/2014/main" id="{7368A64C-8718-4698-375E-DA09D601A3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" t="21" r="-274" b="12424"/>
          <a:stretch>
            <a:fillRect/>
          </a:stretch>
        </p:blipFill>
        <p:spPr>
          <a:xfrm>
            <a:off x="1765300" y="1636721"/>
            <a:ext cx="9296424" cy="4562484"/>
          </a:xfrm>
          <a:prstGeom prst="rect">
            <a:avLst/>
          </a:prstGeom>
        </p:spPr>
      </p:pic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B6901A57-75E9-3D89-0D3A-52E3117A5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716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B2E69-C9FA-6683-A9E8-DA019A2FC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215A30F-A9BC-7E0C-B3E3-7C72E1AE1C72}"/>
              </a:ext>
            </a:extLst>
          </p:cNvPr>
          <p:cNvSpPr/>
          <p:nvPr/>
        </p:nvSpPr>
        <p:spPr>
          <a:xfrm>
            <a:off x="10058401" y="4059636"/>
            <a:ext cx="1934066" cy="2531164"/>
          </a:xfrm>
          <a:prstGeom prst="roundRect">
            <a:avLst>
              <a:gd name="adj" fmla="val 3859"/>
            </a:avLst>
          </a:prstGeom>
          <a:solidFill>
            <a:srgbClr val="D5CDA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33F6E1F-D27B-BE05-DF94-7249BA8AAE5D}"/>
              </a:ext>
            </a:extLst>
          </p:cNvPr>
          <p:cNvSpPr/>
          <p:nvPr/>
        </p:nvSpPr>
        <p:spPr>
          <a:xfrm>
            <a:off x="4686300" y="4059636"/>
            <a:ext cx="5194300" cy="2531164"/>
          </a:xfrm>
          <a:prstGeom prst="roundRect">
            <a:avLst>
              <a:gd name="adj" fmla="val 3859"/>
            </a:avLst>
          </a:prstGeom>
          <a:solidFill>
            <a:srgbClr val="D5CDA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CE2595-37CE-4331-4588-3D71D72746DA}"/>
              </a:ext>
            </a:extLst>
          </p:cNvPr>
          <p:cNvSpPr/>
          <p:nvPr/>
        </p:nvSpPr>
        <p:spPr>
          <a:xfrm>
            <a:off x="196196" y="4044266"/>
            <a:ext cx="4312304" cy="2531164"/>
          </a:xfrm>
          <a:prstGeom prst="roundRect">
            <a:avLst>
              <a:gd name="adj" fmla="val 3859"/>
            </a:avLst>
          </a:prstGeom>
          <a:solidFill>
            <a:srgbClr val="D5CDA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F0967B-2A42-9798-B9BF-3199CA119FB2}"/>
              </a:ext>
            </a:extLst>
          </p:cNvPr>
          <p:cNvSpPr/>
          <p:nvPr/>
        </p:nvSpPr>
        <p:spPr>
          <a:xfrm>
            <a:off x="204380" y="1485900"/>
            <a:ext cx="11788087" cy="2378469"/>
          </a:xfrm>
          <a:prstGeom prst="roundRect">
            <a:avLst>
              <a:gd name="adj" fmla="val 3859"/>
            </a:avLst>
          </a:prstGeom>
          <a:solidFill>
            <a:srgbClr val="D5CDA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23A5BE-787A-A943-7773-EF9FF4FEC7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9" b="30461"/>
          <a:stretch>
            <a:fillRect/>
          </a:stretch>
        </p:blipFill>
        <p:spPr>
          <a:xfrm>
            <a:off x="331380" y="1627697"/>
            <a:ext cx="11517720" cy="20948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F91079-EAF7-7F5C-693E-397669E36ED4}"/>
              </a:ext>
            </a:extLst>
          </p:cNvPr>
          <p:cNvSpPr txBox="1"/>
          <p:nvPr/>
        </p:nvSpPr>
        <p:spPr>
          <a:xfrm>
            <a:off x="331380" y="267200"/>
            <a:ext cx="101625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SOLUTION 1: HINTING PAGE FAULTS </a:t>
            </a:r>
            <a:endParaRPr lang="en-US" sz="36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F720B-F061-0CB8-E4AF-979B0E5220FE}"/>
              </a:ext>
            </a:extLst>
          </p:cNvPr>
          <p:cNvSpPr txBox="1"/>
          <p:nvPr/>
        </p:nvSpPr>
        <p:spPr>
          <a:xfrm>
            <a:off x="373995" y="4351562"/>
            <a:ext cx="403427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/>
              <a:t>Problems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High </a:t>
            </a:r>
            <a:r>
              <a:rPr lang="en-GB" b="1" dirty="0">
                <a:ea typeface="+mn-lt"/>
                <a:cs typeface="+mn-lt"/>
              </a:rPr>
              <a:t>CPU overhead</a:t>
            </a:r>
            <a:r>
              <a:rPr lang="en-GB" dirty="0">
                <a:ea typeface="+mn-lt"/>
                <a:cs typeface="+mn-lt"/>
              </a:rPr>
              <a:t> (PTE access + TLB shootdowns + page faults).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Frequent </a:t>
            </a:r>
            <a:r>
              <a:rPr lang="en-GB" b="1" dirty="0">
                <a:ea typeface="+mn-lt"/>
                <a:cs typeface="+mn-lt"/>
              </a:rPr>
              <a:t>interrupts</a:t>
            </a:r>
            <a:r>
              <a:rPr lang="en-GB" dirty="0">
                <a:ea typeface="+mn-lt"/>
                <a:cs typeface="+mn-lt"/>
              </a:rPr>
              <a:t> slow down latency-sensitive apps (e.g., Redis).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Causes </a:t>
            </a:r>
            <a:r>
              <a:rPr lang="en-GB" b="1" dirty="0">
                <a:ea typeface="+mn-lt"/>
                <a:cs typeface="+mn-lt"/>
              </a:rPr>
              <a:t>false positives</a:t>
            </a:r>
            <a:r>
              <a:rPr lang="en-GB" dirty="0">
                <a:ea typeface="+mn-lt"/>
                <a:cs typeface="+mn-lt"/>
              </a:rPr>
              <a:t> if page accessed only once after hinting.</a:t>
            </a:r>
            <a:endParaRPr lang="en-GB" dirty="0"/>
          </a:p>
          <a:p>
            <a:pPr algn="l"/>
            <a:endParaRPr lang="en-GB" dirty="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0F9C1-8681-0483-5BDA-DE69F5B59084}"/>
              </a:ext>
            </a:extLst>
          </p:cNvPr>
          <p:cNvSpPr txBox="1"/>
          <p:nvPr/>
        </p:nvSpPr>
        <p:spPr>
          <a:xfrm>
            <a:off x="4830329" y="4221348"/>
            <a:ext cx="5104032" cy="22713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70" b="1" dirty="0"/>
              <a:t>Conclusion</a:t>
            </a:r>
            <a:endParaRPr lang="en-US" sz="1770" dirty="0"/>
          </a:p>
          <a:p>
            <a:pPr marL="285750" indent="-285750">
              <a:buFont typeface="Arial"/>
              <a:buChar char="•"/>
            </a:pPr>
            <a:r>
              <a:rPr lang="en-US" sz="1770" dirty="0">
                <a:ea typeface="+mn-lt"/>
                <a:cs typeface="+mn-lt"/>
              </a:rPr>
              <a:t>Effectively identifies </a:t>
            </a:r>
            <a:r>
              <a:rPr lang="en-US" sz="1770" b="1" dirty="0">
                <a:ea typeface="+mn-lt"/>
                <a:cs typeface="+mn-lt"/>
              </a:rPr>
              <a:t>recently accessed (hot) pages</a:t>
            </a:r>
            <a:r>
              <a:rPr lang="en-US" sz="1770" dirty="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770" dirty="0">
                <a:ea typeface="+mn-lt"/>
                <a:cs typeface="+mn-lt"/>
              </a:rPr>
              <a:t>But incurs </a:t>
            </a:r>
            <a:r>
              <a:rPr lang="en-US" sz="1770" b="1" dirty="0">
                <a:ea typeface="+mn-lt"/>
                <a:cs typeface="+mn-lt"/>
              </a:rPr>
              <a:t>high CPU and TLB overhead</a:t>
            </a:r>
            <a:r>
              <a:rPr lang="en-US" sz="1770" dirty="0">
                <a:ea typeface="+mn-lt"/>
                <a:cs typeface="+mn-lt"/>
              </a:rPr>
              <a:t>, making it </a:t>
            </a:r>
            <a:r>
              <a:rPr lang="en-US" sz="1770" b="1" dirty="0">
                <a:ea typeface="+mn-lt"/>
                <a:cs typeface="+mn-lt"/>
              </a:rPr>
              <a:t>inefficient for large-scale or latency-sensitive workloads</a:t>
            </a:r>
            <a:r>
              <a:rPr lang="en-US" sz="1770" dirty="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770" dirty="0">
                <a:ea typeface="+mn-lt"/>
                <a:cs typeface="+mn-lt"/>
              </a:rPr>
              <a:t>Best suited for </a:t>
            </a:r>
            <a:r>
              <a:rPr lang="en-US" sz="1770" b="1" dirty="0">
                <a:ea typeface="+mn-lt"/>
                <a:cs typeface="+mn-lt"/>
              </a:rPr>
              <a:t>batch or throughput-oriented applications</a:t>
            </a:r>
            <a:r>
              <a:rPr lang="en-US" sz="1770" dirty="0">
                <a:ea typeface="+mn-lt"/>
                <a:cs typeface="+mn-lt"/>
              </a:rPr>
              <a:t>, not for </a:t>
            </a:r>
            <a:r>
              <a:rPr lang="en-US" sz="1770" b="1" dirty="0">
                <a:ea typeface="+mn-lt"/>
                <a:cs typeface="+mn-lt"/>
              </a:rPr>
              <a:t>real-time systems</a:t>
            </a:r>
            <a:r>
              <a:rPr lang="en-US" sz="1770" dirty="0">
                <a:ea typeface="+mn-lt"/>
                <a:cs typeface="+mn-lt"/>
              </a:rPr>
              <a:t> like Redis.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29116E-4CB5-E3E2-F21A-6A760961076E}"/>
              </a:ext>
            </a:extLst>
          </p:cNvPr>
          <p:cNvSpPr txBox="1"/>
          <p:nvPr/>
        </p:nvSpPr>
        <p:spPr>
          <a:xfrm>
            <a:off x="10200616" y="4311806"/>
            <a:ext cx="1649636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Example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TPP (Transparent Page Placement)</a:t>
            </a:r>
            <a:r>
              <a:rPr lang="en-US"/>
              <a:t> uses this approach.</a:t>
            </a:r>
          </a:p>
          <a:p>
            <a:pPr algn="ctr"/>
            <a:endParaRPr lang="en-GB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083B298B-AE79-DA48-AF55-08C679557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260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665CB-CCBD-89A5-033B-1C56F145C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63BA8E2-9122-F36C-D097-0CE4BF0669C4}"/>
              </a:ext>
            </a:extLst>
          </p:cNvPr>
          <p:cNvSpPr/>
          <p:nvPr/>
        </p:nvSpPr>
        <p:spPr>
          <a:xfrm>
            <a:off x="9510645" y="4310650"/>
            <a:ext cx="2481822" cy="2280149"/>
          </a:xfrm>
          <a:prstGeom prst="roundRect">
            <a:avLst>
              <a:gd name="adj" fmla="val 3859"/>
            </a:avLst>
          </a:prstGeom>
          <a:solidFill>
            <a:srgbClr val="D5CDA7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9BC912B-8BA9-C3E7-ADDE-9CC3BE2195C9}"/>
              </a:ext>
            </a:extLst>
          </p:cNvPr>
          <p:cNvSpPr/>
          <p:nvPr/>
        </p:nvSpPr>
        <p:spPr>
          <a:xfrm>
            <a:off x="5846328" y="4310650"/>
            <a:ext cx="3486515" cy="2280149"/>
          </a:xfrm>
          <a:prstGeom prst="roundRect">
            <a:avLst>
              <a:gd name="adj" fmla="val 3859"/>
            </a:avLst>
          </a:prstGeom>
          <a:solidFill>
            <a:srgbClr val="D5CDA7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06A7331-FE18-CFE3-902A-5CBFADE96201}"/>
              </a:ext>
            </a:extLst>
          </p:cNvPr>
          <p:cNvSpPr/>
          <p:nvPr/>
        </p:nvSpPr>
        <p:spPr>
          <a:xfrm>
            <a:off x="196195" y="4295280"/>
            <a:ext cx="5472331" cy="2280149"/>
          </a:xfrm>
          <a:prstGeom prst="roundRect">
            <a:avLst>
              <a:gd name="adj" fmla="val 3859"/>
            </a:avLst>
          </a:prstGeom>
          <a:solidFill>
            <a:srgbClr val="D5CDA7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92F3F6-4213-4EDB-4C0F-D044AF4EB5DC}"/>
              </a:ext>
            </a:extLst>
          </p:cNvPr>
          <p:cNvSpPr/>
          <p:nvPr/>
        </p:nvSpPr>
        <p:spPr>
          <a:xfrm>
            <a:off x="204380" y="1485900"/>
            <a:ext cx="11788087" cy="2633980"/>
          </a:xfrm>
          <a:prstGeom prst="roundRect">
            <a:avLst>
              <a:gd name="adj" fmla="val 3859"/>
            </a:avLst>
          </a:prstGeom>
          <a:solidFill>
            <a:srgbClr val="D5CDA7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C29E92-D21A-F9AE-95D4-1B83C179F615}"/>
              </a:ext>
            </a:extLst>
          </p:cNvPr>
          <p:cNvSpPr txBox="1"/>
          <p:nvPr/>
        </p:nvSpPr>
        <p:spPr>
          <a:xfrm>
            <a:off x="331380" y="267200"/>
            <a:ext cx="101625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SOLUTION 2: SCANNING PTES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0EA3AF-671D-32CF-59F9-5220B473EA48}"/>
              </a:ext>
            </a:extLst>
          </p:cNvPr>
          <p:cNvSpPr txBox="1"/>
          <p:nvPr/>
        </p:nvSpPr>
        <p:spPr>
          <a:xfrm>
            <a:off x="373995" y="4431074"/>
            <a:ext cx="521179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Problems 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High CPU cost (must scan all PTEs each epoch)</a:t>
            </a:r>
            <a:endParaRPr lang="en-US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dirty="0"/>
              <a:t>Accessed bit = only </a:t>
            </a:r>
            <a:r>
              <a:rPr lang="en-US" i="1" dirty="0"/>
              <a:t>1-bit info</a:t>
            </a:r>
            <a:r>
              <a:rPr lang="en-US" dirty="0"/>
              <a:t> → can’t track multiple accesses</a:t>
            </a:r>
            <a:endParaRPr lang="en-US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dirty="0"/>
              <a:t>TLB entries invalidated passively (depends on context switches/conflicts)</a:t>
            </a:r>
            <a:endParaRPr lang="en-US" dirty="0">
              <a:ea typeface="Calibri"/>
              <a:cs typeface="Calibri"/>
            </a:endParaRPr>
          </a:p>
          <a:p>
            <a:pPr marL="228600" indent="-228600">
              <a:buFont typeface=""/>
              <a:buChar char="•"/>
            </a:pPr>
            <a:r>
              <a:rPr lang="en-US" dirty="0"/>
              <a:t>Slow for large memory workloads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E8BA78-8439-B455-9A1D-5C77C1385BE5}"/>
              </a:ext>
            </a:extLst>
          </p:cNvPr>
          <p:cNvSpPr txBox="1"/>
          <p:nvPr/>
        </p:nvSpPr>
        <p:spPr>
          <a:xfrm>
            <a:off x="6134274" y="4497432"/>
            <a:ext cx="3218447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ea typeface="+mn-lt"/>
                <a:cs typeface="+mn-lt"/>
              </a:rPr>
              <a:t>Conclusion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ea typeface="+mn-lt"/>
                <a:cs typeface="+mn-lt"/>
              </a:rPr>
              <a:t>Simple and hardware-supported method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ea typeface="+mn-lt"/>
                <a:cs typeface="+mn-lt"/>
              </a:rPr>
              <a:t>Inefficient for large systems; coarse-grained tracking</a:t>
            </a:r>
          </a:p>
          <a:p>
            <a:pPr algn="ctr"/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7BA584-F27D-10EC-1995-840A72FC28CC}"/>
              </a:ext>
            </a:extLst>
          </p:cNvPr>
          <p:cNvSpPr txBox="1"/>
          <p:nvPr/>
        </p:nvSpPr>
        <p:spPr>
          <a:xfrm>
            <a:off x="9599531" y="4460891"/>
            <a:ext cx="2481821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ea typeface="+mn-lt"/>
                <a:cs typeface="+mn-lt"/>
              </a:rPr>
              <a:t>Example</a:t>
            </a:r>
            <a:endParaRPr lang="en-US" sz="2000" b="1" dirty="0"/>
          </a:p>
          <a:p>
            <a:pPr marL="228600" indent="-228600">
              <a:buFont typeface=""/>
              <a:buChar char="•"/>
            </a:pPr>
            <a:r>
              <a:rPr lang="en-US" sz="2000" dirty="0">
                <a:ea typeface="+mn-lt"/>
                <a:cs typeface="+mn-lt"/>
              </a:rPr>
              <a:t>Used in early NUMA-aware page migration systems like </a:t>
            </a:r>
            <a:r>
              <a:rPr lang="en-US" sz="2000" b="1" dirty="0" err="1">
                <a:ea typeface="+mn-lt"/>
                <a:cs typeface="+mn-lt"/>
              </a:rPr>
              <a:t>AutoNUMA</a:t>
            </a:r>
            <a:r>
              <a:rPr lang="en-US" sz="2000" b="1" dirty="0">
                <a:ea typeface="+mn-lt"/>
                <a:cs typeface="+mn-lt"/>
              </a:rPr>
              <a:t> (Linux Kernel)</a:t>
            </a:r>
          </a:p>
          <a:p>
            <a:pPr algn="ctr"/>
            <a:r>
              <a:rPr lang="en-GB" sz="2000" dirty="0">
                <a:ea typeface="Segoe UI"/>
                <a:cs typeface="Segoe UI"/>
              </a:rPr>
              <a:t>​</a:t>
            </a:r>
          </a:p>
          <a:p>
            <a:pPr algn="ctr"/>
            <a:endParaRPr lang="en-GB" sz="2000" dirty="0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44AE2A19-B34A-69DB-0F27-C508445D9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2386ED-5BC3-14AB-521E-F64F1E3AF2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" b="34082"/>
          <a:stretch>
            <a:fillRect/>
          </a:stretch>
        </p:blipFill>
        <p:spPr>
          <a:xfrm>
            <a:off x="341319" y="1669317"/>
            <a:ext cx="11518872" cy="238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95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6A71C-77D3-D698-1C0B-05F5EFB0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2519D75-12E9-A1BD-366A-BE4322B7DB5D}"/>
              </a:ext>
            </a:extLst>
          </p:cNvPr>
          <p:cNvSpPr/>
          <p:nvPr/>
        </p:nvSpPr>
        <p:spPr>
          <a:xfrm>
            <a:off x="9340946" y="4191690"/>
            <a:ext cx="2651521" cy="2399109"/>
          </a:xfrm>
          <a:prstGeom prst="roundRect">
            <a:avLst>
              <a:gd name="adj" fmla="val 3859"/>
            </a:avLst>
          </a:prstGeom>
          <a:solidFill>
            <a:srgbClr val="D5CDA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8D3DFA-C87D-9818-7D5B-6D72EFEBB917}"/>
              </a:ext>
            </a:extLst>
          </p:cNvPr>
          <p:cNvSpPr/>
          <p:nvPr/>
        </p:nvSpPr>
        <p:spPr>
          <a:xfrm>
            <a:off x="4464146" y="4191690"/>
            <a:ext cx="4671387" cy="2399109"/>
          </a:xfrm>
          <a:prstGeom prst="roundRect">
            <a:avLst>
              <a:gd name="adj" fmla="val 3859"/>
            </a:avLst>
          </a:prstGeom>
          <a:solidFill>
            <a:srgbClr val="D5CDA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A85A480-1182-6E06-52E4-ADC93686E0E7}"/>
              </a:ext>
            </a:extLst>
          </p:cNvPr>
          <p:cNvSpPr/>
          <p:nvPr/>
        </p:nvSpPr>
        <p:spPr>
          <a:xfrm>
            <a:off x="196196" y="4176320"/>
            <a:ext cx="4062537" cy="2399109"/>
          </a:xfrm>
          <a:prstGeom prst="roundRect">
            <a:avLst>
              <a:gd name="adj" fmla="val 3859"/>
            </a:avLst>
          </a:prstGeom>
          <a:solidFill>
            <a:srgbClr val="D5CDA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0C5406-81AA-2473-7A6A-7E093078DE60}"/>
              </a:ext>
            </a:extLst>
          </p:cNvPr>
          <p:cNvSpPr/>
          <p:nvPr/>
        </p:nvSpPr>
        <p:spPr>
          <a:xfrm>
            <a:off x="204380" y="1391630"/>
            <a:ext cx="11788087" cy="2633980"/>
          </a:xfrm>
          <a:prstGeom prst="roundRect">
            <a:avLst>
              <a:gd name="adj" fmla="val 3859"/>
            </a:avLst>
          </a:prstGeom>
          <a:solidFill>
            <a:srgbClr val="D5CDA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51DF58-07D5-CD8E-FBB7-8C36F65106D0}"/>
              </a:ext>
            </a:extLst>
          </p:cNvPr>
          <p:cNvSpPr txBox="1"/>
          <p:nvPr/>
        </p:nvSpPr>
        <p:spPr>
          <a:xfrm>
            <a:off x="281685" y="177749"/>
            <a:ext cx="1037306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SOLUTION 3: SAMPLING ACCESSED MEMORY ADDRESSES</a:t>
            </a:r>
          </a:p>
          <a:p>
            <a:pPr algn="ctr"/>
            <a:endParaRPr lang="en-GB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2EE7F9-6323-A5E8-9C31-A93119AA1F15}"/>
              </a:ext>
            </a:extLst>
          </p:cNvPr>
          <p:cNvSpPr txBox="1"/>
          <p:nvPr/>
        </p:nvSpPr>
        <p:spPr>
          <a:xfrm>
            <a:off x="285095" y="4249914"/>
            <a:ext cx="388050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50" b="1" dirty="0"/>
              <a:t>Problems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dirty="0">
                <a:ea typeface="+mn-lt"/>
                <a:cs typeface="+mn-lt"/>
              </a:rPr>
              <a:t>Does </a:t>
            </a:r>
            <a:r>
              <a:rPr lang="en-US" sz="1750" b="1" dirty="0">
                <a:ea typeface="+mn-lt"/>
                <a:cs typeface="+mn-lt"/>
              </a:rPr>
              <a:t>not capture all accesses</a:t>
            </a:r>
            <a:r>
              <a:rPr lang="en-US" sz="1750" dirty="0">
                <a:ea typeface="+mn-lt"/>
                <a:cs typeface="+mn-lt"/>
              </a:rPr>
              <a:t> (sampling-based → incomplete).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b="1" dirty="0">
                <a:ea typeface="+mn-lt"/>
                <a:cs typeface="+mn-lt"/>
              </a:rPr>
              <a:t>Frequent interrupts</a:t>
            </a:r>
            <a:r>
              <a:rPr lang="en-US" sz="1750" dirty="0">
                <a:ea typeface="+mn-lt"/>
                <a:cs typeface="+mn-lt"/>
              </a:rPr>
              <a:t> increase CPU overhead at high sampling rates.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b="1" dirty="0">
                <a:ea typeface="+mn-lt"/>
                <a:cs typeface="+mn-lt"/>
              </a:rPr>
              <a:t>Limited hardware support</a:t>
            </a:r>
            <a:r>
              <a:rPr lang="en-US" sz="1750" dirty="0">
                <a:ea typeface="+mn-lt"/>
                <a:cs typeface="+mn-lt"/>
              </a:rPr>
              <a:t> (e.g., Intel PEBS can’t sample CXL memory).</a:t>
            </a:r>
            <a:endParaRPr lang="en-GB" sz="1750" dirty="0"/>
          </a:p>
          <a:p>
            <a:endParaRPr lang="en-US" sz="1750" dirty="0"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4C7A43-AE44-2EF1-CC25-A2849DBC9814}"/>
              </a:ext>
            </a:extLst>
          </p:cNvPr>
          <p:cNvSpPr txBox="1"/>
          <p:nvPr/>
        </p:nvSpPr>
        <p:spPr>
          <a:xfrm>
            <a:off x="4625013" y="4272677"/>
            <a:ext cx="451052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Conclusions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Provides </a:t>
            </a:r>
            <a:r>
              <a:rPr lang="en-US" b="1" dirty="0">
                <a:ea typeface="+mn-lt"/>
                <a:cs typeface="+mn-lt"/>
              </a:rPr>
              <a:t>approximate hot-page detection</a:t>
            </a:r>
            <a:r>
              <a:rPr lang="en-US" dirty="0">
                <a:ea typeface="+mn-lt"/>
                <a:cs typeface="+mn-lt"/>
              </a:rPr>
              <a:t> with moderate accuracy.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Lower CPU cost than full PTE scanning, but </a:t>
            </a:r>
            <a:r>
              <a:rPr lang="en-US" b="1" dirty="0">
                <a:ea typeface="+mn-lt"/>
                <a:cs typeface="+mn-lt"/>
              </a:rPr>
              <a:t>less precise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Good tradeoff for </a:t>
            </a:r>
            <a:r>
              <a:rPr lang="en-US" b="1" dirty="0">
                <a:ea typeface="+mn-lt"/>
                <a:cs typeface="+mn-lt"/>
              </a:rPr>
              <a:t>large-memory workloads</a:t>
            </a:r>
            <a:r>
              <a:rPr lang="en-US" dirty="0">
                <a:ea typeface="+mn-lt"/>
                <a:cs typeface="+mn-lt"/>
              </a:rPr>
              <a:t> where full tracking is expensive.</a:t>
            </a:r>
            <a:endParaRPr lang="en-GB" dirty="0"/>
          </a:p>
          <a:p>
            <a:endParaRPr lang="en-US" dirty="0"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14D23-EB56-B3D7-7978-69D50E40EE2F}"/>
              </a:ext>
            </a:extLst>
          </p:cNvPr>
          <p:cNvSpPr txBox="1"/>
          <p:nvPr/>
        </p:nvSpPr>
        <p:spPr>
          <a:xfrm>
            <a:off x="9392580" y="4247013"/>
            <a:ext cx="2651521" cy="2551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Examples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Intel </a:t>
            </a:r>
            <a:r>
              <a:rPr lang="en-US" b="1" dirty="0">
                <a:ea typeface="+mn-lt"/>
                <a:cs typeface="+mn-lt"/>
              </a:rPr>
              <a:t>Processor Event-Based Sampling (PEBS)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Used in </a:t>
            </a:r>
            <a:r>
              <a:rPr lang="en-US" b="1" dirty="0">
                <a:ea typeface="+mn-lt"/>
                <a:cs typeface="+mn-lt"/>
              </a:rPr>
              <a:t>memory-tiering systems</a:t>
            </a:r>
            <a:r>
              <a:rPr lang="en-US" dirty="0">
                <a:ea typeface="+mn-lt"/>
                <a:cs typeface="+mn-lt"/>
              </a:rPr>
              <a:t> to monitor access frequency.</a:t>
            </a:r>
            <a:endParaRPr lang="en-GB" dirty="0"/>
          </a:p>
          <a:p>
            <a:pPr>
              <a:lnSpc>
                <a:spcPts val="1875"/>
              </a:lnSpc>
            </a:pPr>
            <a:endParaRPr lang="en-US" dirty="0">
              <a:cs typeface="Segoe UI"/>
            </a:endParaRPr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B2CEF561-2F82-889D-098C-7670A3EF8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04EBDC11-DEE2-4908-418B-D10DB04F58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" r="30941" b="47965"/>
          <a:stretch>
            <a:fillRect/>
          </a:stretch>
        </p:blipFill>
        <p:spPr>
          <a:xfrm>
            <a:off x="512522" y="1514831"/>
            <a:ext cx="10503651" cy="1307353"/>
          </a:xfrm>
          <a:prstGeom prst="rect">
            <a:avLst/>
          </a:prstGeom>
        </p:spPr>
      </p:pic>
      <p:pic>
        <p:nvPicPr>
          <p:cNvPr id="4" name="Picture 3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1103A735-2586-EA95-8CA3-1ECA29C631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229" t="-4381" r="90" b="47965"/>
          <a:stretch>
            <a:fillRect/>
          </a:stretch>
        </p:blipFill>
        <p:spPr>
          <a:xfrm>
            <a:off x="8513216" y="2601954"/>
            <a:ext cx="1602009" cy="1307353"/>
          </a:xfrm>
          <a:prstGeom prst="rect">
            <a:avLst/>
          </a:prstGeom>
        </p:spPr>
      </p:pic>
      <p:pic>
        <p:nvPicPr>
          <p:cNvPr id="14" name="Picture 13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26DD10A3-DB46-BC42-E3F4-7BE0AD579D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705" r="15279" b="47965"/>
          <a:stretch>
            <a:fillRect/>
          </a:stretch>
        </p:blipFill>
        <p:spPr>
          <a:xfrm>
            <a:off x="10368708" y="2543651"/>
            <a:ext cx="1415290" cy="156965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2F169C6-0593-EA56-DFBE-134D5BC8E4DB}"/>
              </a:ext>
            </a:extLst>
          </p:cNvPr>
          <p:cNvCxnSpPr>
            <a:cxnSpLocks/>
          </p:cNvCxnSpPr>
          <p:nvPr/>
        </p:nvCxnSpPr>
        <p:spPr>
          <a:xfrm flipH="1">
            <a:off x="10061082" y="3308683"/>
            <a:ext cx="30762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71BEFB2-B2C9-7D94-258C-4DC303B94047}"/>
              </a:ext>
            </a:extLst>
          </p:cNvPr>
          <p:cNvCxnSpPr>
            <a:cxnSpLocks/>
          </p:cNvCxnSpPr>
          <p:nvPr/>
        </p:nvCxnSpPr>
        <p:spPr>
          <a:xfrm>
            <a:off x="10847782" y="2569353"/>
            <a:ext cx="0" cy="27853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352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73D4B-2980-3074-A15C-56792019A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9DBDC3B-8307-A664-60A8-75D9F68D2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4"/>
          <a:stretch>
            <a:fillRect/>
          </a:stretch>
        </p:blipFill>
        <p:spPr>
          <a:xfrm>
            <a:off x="12043268" y="-3664211"/>
            <a:ext cx="4092358" cy="24620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0085B43-5BD1-63B8-8CD3-824D5874A43C}"/>
              </a:ext>
            </a:extLst>
          </p:cNvPr>
          <p:cNvSpPr/>
          <p:nvPr/>
        </p:nvSpPr>
        <p:spPr>
          <a:xfrm>
            <a:off x="14375757" y="-224222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23348C-86E2-62F8-9AAC-00554D2DB33A}"/>
              </a:ext>
            </a:extLst>
          </p:cNvPr>
          <p:cNvSpPr/>
          <p:nvPr/>
        </p:nvSpPr>
        <p:spPr>
          <a:xfrm>
            <a:off x="-10795783" y="-169731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403E65-D655-33C1-AB5A-F05202248DF4}"/>
              </a:ext>
            </a:extLst>
          </p:cNvPr>
          <p:cNvSpPr/>
          <p:nvPr/>
        </p:nvSpPr>
        <p:spPr>
          <a:xfrm>
            <a:off x="1256482" y="7695499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49B6C4F6-2F3E-5E03-5798-83C863DDA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0301" y="1523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74EB16-5ECF-CEE2-F402-FB37018BEB01}"/>
              </a:ext>
            </a:extLst>
          </p:cNvPr>
          <p:cNvSpPr/>
          <p:nvPr/>
        </p:nvSpPr>
        <p:spPr>
          <a:xfrm>
            <a:off x="250859" y="-6380134"/>
            <a:ext cx="12406469" cy="5431847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FE00B1C8-D771-A35A-3B1A-3F419CE8B485}"/>
              </a:ext>
            </a:extLst>
          </p:cNvPr>
          <p:cNvSpPr txBox="1"/>
          <p:nvPr/>
        </p:nvSpPr>
        <p:spPr>
          <a:xfrm>
            <a:off x="365157" y="460416"/>
            <a:ext cx="10353257" cy="507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4400" b="1" spc="562" dirty="0">
                <a:solidFill>
                  <a:srgbClr val="6F6935"/>
                </a:solidFill>
                <a:latin typeface="Aptos" panose="020B0004020202020204" pitchFamily="34" charset="0"/>
                <a:ea typeface="Public Sans Bold"/>
                <a:cs typeface="Public Sans Bold"/>
                <a:sym typeface="Public Sans Bold"/>
              </a:rPr>
              <a:t>NORTH/SOUTH BRIDGE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F5CD9E-1D71-3814-AE5C-AF8D6311DF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31"/>
          <a:stretch>
            <a:fillRect/>
          </a:stretch>
        </p:blipFill>
        <p:spPr>
          <a:xfrm>
            <a:off x="3529442" y="1289050"/>
            <a:ext cx="5133116" cy="517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24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5395-6226-EEEA-8D7C-C06BF4C99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BDEF1581-77EA-01E3-408A-586055FA8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4"/>
          <a:stretch>
            <a:fillRect/>
          </a:stretch>
        </p:blipFill>
        <p:spPr>
          <a:xfrm>
            <a:off x="12043268" y="-3664211"/>
            <a:ext cx="4092358" cy="24620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264CE95-3FC5-975C-3722-2633821DCDD3}"/>
              </a:ext>
            </a:extLst>
          </p:cNvPr>
          <p:cNvSpPr/>
          <p:nvPr/>
        </p:nvSpPr>
        <p:spPr>
          <a:xfrm>
            <a:off x="14375757" y="-224222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F82E9A-6C17-3B07-DFD0-3C564BD0A6C0}"/>
              </a:ext>
            </a:extLst>
          </p:cNvPr>
          <p:cNvSpPr/>
          <p:nvPr/>
        </p:nvSpPr>
        <p:spPr>
          <a:xfrm>
            <a:off x="-10795783" y="-169731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A7C43D-B61A-43B4-ADA4-50DF06E6E55D}"/>
              </a:ext>
            </a:extLst>
          </p:cNvPr>
          <p:cNvSpPr/>
          <p:nvPr/>
        </p:nvSpPr>
        <p:spPr>
          <a:xfrm>
            <a:off x="1256482" y="7695499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CEAB4C23-FC6C-FD1F-8712-CF6D3E1C2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0301" y="1523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4DF8326-E19F-EA68-8A70-C5E76E4B7EBB}"/>
              </a:ext>
            </a:extLst>
          </p:cNvPr>
          <p:cNvSpPr/>
          <p:nvPr/>
        </p:nvSpPr>
        <p:spPr>
          <a:xfrm>
            <a:off x="250859" y="-6380134"/>
            <a:ext cx="12406469" cy="5431847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12B68C27-6F3A-3DEE-D7A2-0521429C4461}"/>
              </a:ext>
            </a:extLst>
          </p:cNvPr>
          <p:cNvSpPr txBox="1"/>
          <p:nvPr/>
        </p:nvSpPr>
        <p:spPr>
          <a:xfrm>
            <a:off x="301659" y="488287"/>
            <a:ext cx="10353257" cy="528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5400" b="1" spc="562" dirty="0">
                <a:solidFill>
                  <a:srgbClr val="6F6935"/>
                </a:solidFill>
                <a:latin typeface="Aptos" panose="020B0004020202020204" pitchFamily="34" charset="0"/>
                <a:ea typeface="Public Sans Bold"/>
                <a:cs typeface="Public Sans Bold"/>
                <a:sym typeface="Public Sans Bold"/>
              </a:rPr>
              <a:t>CXL MEMORY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C485C3-2059-E610-48E2-AAB20F098D92}"/>
              </a:ext>
            </a:extLst>
          </p:cNvPr>
          <p:cNvSpPr/>
          <p:nvPr/>
        </p:nvSpPr>
        <p:spPr>
          <a:xfrm>
            <a:off x="1879530" y="1395808"/>
            <a:ext cx="8573256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D9CF13-903E-89B4-9321-8BB0F36A6B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90" t="5644" r="9758" b="11689"/>
          <a:stretch>
            <a:fillRect/>
          </a:stretch>
        </p:blipFill>
        <p:spPr>
          <a:xfrm>
            <a:off x="2662533" y="1678520"/>
            <a:ext cx="7456120" cy="44534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9AC438-9391-0994-BDBC-6773E74DA786}"/>
              </a:ext>
            </a:extLst>
          </p:cNvPr>
          <p:cNvSpPr txBox="1"/>
          <p:nvPr/>
        </p:nvSpPr>
        <p:spPr>
          <a:xfrm>
            <a:off x="465897" y="4717815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605B2E"/>
                </a:solidFill>
                <a:latin typeface="Aptos" panose="020B0004020202020204" pitchFamily="34" charset="0"/>
              </a:rPr>
              <a:t>Accelerators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BC12FC-D0C8-69FB-5CA2-1BA8238BBB37}"/>
              </a:ext>
            </a:extLst>
          </p:cNvPr>
          <p:cNvSpPr txBox="1"/>
          <p:nvPr/>
        </p:nvSpPr>
        <p:spPr>
          <a:xfrm>
            <a:off x="465897" y="2491217"/>
            <a:ext cx="2209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605B2E"/>
                </a:solidFill>
                <a:latin typeface="Aptos" panose="020B0004020202020204" pitchFamily="34" charset="0"/>
              </a:rPr>
              <a:t>Memory Expanders</a:t>
            </a:r>
          </a:p>
          <a:p>
            <a:endParaRPr lang="en-US" sz="2800" dirty="0">
              <a:solidFill>
                <a:srgbClr val="605B2E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1D5920-904F-233C-508E-39FEE97198C1}"/>
              </a:ext>
            </a:extLst>
          </p:cNvPr>
          <p:cNvSpPr txBox="1"/>
          <p:nvPr/>
        </p:nvSpPr>
        <p:spPr>
          <a:xfrm>
            <a:off x="9805401" y="2202404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605B2E"/>
                </a:solidFill>
                <a:latin typeface="Aptos" panose="020B0004020202020204" pitchFamily="34" charset="0"/>
              </a:rPr>
              <a:t>SmartNICs</a:t>
            </a:r>
            <a:endParaRPr lang="en-US" sz="2800" dirty="0">
              <a:solidFill>
                <a:srgbClr val="605B2E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7EC67B-35E9-573A-A7D8-27BD4BC8C71C}"/>
              </a:ext>
            </a:extLst>
          </p:cNvPr>
          <p:cNvSpPr txBox="1"/>
          <p:nvPr/>
        </p:nvSpPr>
        <p:spPr>
          <a:xfrm>
            <a:off x="11066315" y="4979425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605B2E"/>
                </a:solidFill>
                <a:latin typeface="Aptos" panose="020B0004020202020204" pitchFamily="34" charset="0"/>
              </a:rPr>
              <a:t>SSD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D268331-796F-3E6E-BACD-11AC4CC9F466}"/>
              </a:ext>
            </a:extLst>
          </p:cNvPr>
          <p:cNvCxnSpPr>
            <a:cxnSpLocks/>
          </p:cNvCxnSpPr>
          <p:nvPr/>
        </p:nvCxnSpPr>
        <p:spPr>
          <a:xfrm flipH="1">
            <a:off x="2494116" y="2019300"/>
            <a:ext cx="2230284" cy="0"/>
          </a:xfrm>
          <a:prstGeom prst="line">
            <a:avLst/>
          </a:prstGeom>
          <a:ln w="15875">
            <a:solidFill>
              <a:srgbClr val="6F69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A72B61-FDB9-31B4-BDC0-53D84D9FBD16}"/>
              </a:ext>
            </a:extLst>
          </p:cNvPr>
          <p:cNvCxnSpPr>
            <a:cxnSpLocks/>
          </p:cNvCxnSpPr>
          <p:nvPr/>
        </p:nvCxnSpPr>
        <p:spPr>
          <a:xfrm flipH="1">
            <a:off x="1258070" y="2017712"/>
            <a:ext cx="1237634" cy="471917"/>
          </a:xfrm>
          <a:prstGeom prst="line">
            <a:avLst/>
          </a:prstGeom>
          <a:ln w="15875">
            <a:solidFill>
              <a:srgbClr val="6F69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2FE3E9D-CDDE-71B2-E0E3-B26CB901DD59}"/>
              </a:ext>
            </a:extLst>
          </p:cNvPr>
          <p:cNvCxnSpPr>
            <a:cxnSpLocks/>
          </p:cNvCxnSpPr>
          <p:nvPr/>
        </p:nvCxnSpPr>
        <p:spPr>
          <a:xfrm flipH="1" flipV="1">
            <a:off x="2350215" y="4256907"/>
            <a:ext cx="786685" cy="460908"/>
          </a:xfrm>
          <a:prstGeom prst="line">
            <a:avLst/>
          </a:prstGeom>
          <a:ln w="15875">
            <a:solidFill>
              <a:srgbClr val="6F69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A133922-B5D2-3C77-C55A-87779956B034}"/>
              </a:ext>
            </a:extLst>
          </p:cNvPr>
          <p:cNvCxnSpPr>
            <a:cxnSpLocks/>
          </p:cNvCxnSpPr>
          <p:nvPr/>
        </p:nvCxnSpPr>
        <p:spPr>
          <a:xfrm flipH="1">
            <a:off x="1114169" y="4255319"/>
            <a:ext cx="1237634" cy="471917"/>
          </a:xfrm>
          <a:prstGeom prst="line">
            <a:avLst/>
          </a:prstGeom>
          <a:ln w="15875">
            <a:solidFill>
              <a:srgbClr val="6F69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DC0491F-6BCE-97E7-4B91-E9D2B54CC42D}"/>
              </a:ext>
            </a:extLst>
          </p:cNvPr>
          <p:cNvCxnSpPr>
            <a:cxnSpLocks/>
          </p:cNvCxnSpPr>
          <p:nvPr/>
        </p:nvCxnSpPr>
        <p:spPr>
          <a:xfrm flipH="1">
            <a:off x="10621203" y="2742088"/>
            <a:ext cx="512464" cy="862901"/>
          </a:xfrm>
          <a:prstGeom prst="line">
            <a:avLst/>
          </a:prstGeom>
          <a:ln w="15875">
            <a:solidFill>
              <a:srgbClr val="6F69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ABEAAA7-220E-888A-779B-62809E69D04E}"/>
              </a:ext>
            </a:extLst>
          </p:cNvPr>
          <p:cNvCxnSpPr>
            <a:cxnSpLocks/>
          </p:cNvCxnSpPr>
          <p:nvPr/>
        </p:nvCxnSpPr>
        <p:spPr>
          <a:xfrm flipH="1">
            <a:off x="9324830" y="3604989"/>
            <a:ext cx="1294785" cy="33989"/>
          </a:xfrm>
          <a:prstGeom prst="line">
            <a:avLst/>
          </a:prstGeom>
          <a:ln w="15875">
            <a:solidFill>
              <a:srgbClr val="6F69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CFAB370-C9A0-F2E5-91D2-1AB5D567D691}"/>
              </a:ext>
            </a:extLst>
          </p:cNvPr>
          <p:cNvCxnSpPr>
            <a:cxnSpLocks/>
          </p:cNvCxnSpPr>
          <p:nvPr/>
        </p:nvCxnSpPr>
        <p:spPr>
          <a:xfrm flipH="1" flipV="1">
            <a:off x="11303896" y="4784591"/>
            <a:ext cx="83771" cy="228823"/>
          </a:xfrm>
          <a:prstGeom prst="line">
            <a:avLst/>
          </a:prstGeom>
          <a:ln w="15875">
            <a:solidFill>
              <a:srgbClr val="6F69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DE16350-8A50-A49E-D60B-F9209CE77597}"/>
              </a:ext>
            </a:extLst>
          </p:cNvPr>
          <p:cNvCxnSpPr>
            <a:cxnSpLocks/>
          </p:cNvCxnSpPr>
          <p:nvPr/>
        </p:nvCxnSpPr>
        <p:spPr>
          <a:xfrm flipH="1">
            <a:off x="10007523" y="4784591"/>
            <a:ext cx="1294785" cy="33989"/>
          </a:xfrm>
          <a:prstGeom prst="line">
            <a:avLst/>
          </a:prstGeom>
          <a:ln w="15875">
            <a:solidFill>
              <a:srgbClr val="6F69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81EBCD4-D679-9FB8-5B12-9A016883E2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016" y="5725240"/>
            <a:ext cx="2389967" cy="81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36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E63A3-15A4-B0EC-B3F5-44AFCE5A0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35E0DA3-7ED0-6D5E-B670-58583787F1C1}"/>
              </a:ext>
            </a:extLst>
          </p:cNvPr>
          <p:cNvSpPr/>
          <p:nvPr/>
        </p:nvSpPr>
        <p:spPr>
          <a:xfrm>
            <a:off x="6235856" y="1368566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1D6D69D-7627-1C39-F44C-A78A321D55CC}"/>
              </a:ext>
            </a:extLst>
          </p:cNvPr>
          <p:cNvSpPr/>
          <p:nvPr/>
        </p:nvSpPr>
        <p:spPr>
          <a:xfrm>
            <a:off x="465897" y="1368567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5CE6E21-5726-72A1-D614-11B84FD57F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4"/>
          <a:stretch>
            <a:fillRect/>
          </a:stretch>
        </p:blipFill>
        <p:spPr>
          <a:xfrm>
            <a:off x="12043268" y="-3664211"/>
            <a:ext cx="4092358" cy="24620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923C694-C9B2-4D71-9720-8C14F37CBE71}"/>
              </a:ext>
            </a:extLst>
          </p:cNvPr>
          <p:cNvSpPr/>
          <p:nvPr/>
        </p:nvSpPr>
        <p:spPr>
          <a:xfrm>
            <a:off x="14375757" y="-224222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6167D7-4CCA-BF79-C67D-E2FA6AB882F7}"/>
              </a:ext>
            </a:extLst>
          </p:cNvPr>
          <p:cNvSpPr/>
          <p:nvPr/>
        </p:nvSpPr>
        <p:spPr>
          <a:xfrm>
            <a:off x="-10795783" y="-169731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1E0BEC-E53B-CF13-5804-3F4A7C74B646}"/>
              </a:ext>
            </a:extLst>
          </p:cNvPr>
          <p:cNvSpPr/>
          <p:nvPr/>
        </p:nvSpPr>
        <p:spPr>
          <a:xfrm>
            <a:off x="1256482" y="7695499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D5D3C3ED-6159-2547-3708-D7427DC36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C20B3E-F8AB-D2D4-3AED-8710CCD6F4F0}"/>
              </a:ext>
            </a:extLst>
          </p:cNvPr>
          <p:cNvSpPr/>
          <p:nvPr/>
        </p:nvSpPr>
        <p:spPr>
          <a:xfrm>
            <a:off x="250859" y="-6380134"/>
            <a:ext cx="12406469" cy="5431847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290D1A23-AD8C-70E3-3A2B-20EAD25CFBD5}"/>
              </a:ext>
            </a:extLst>
          </p:cNvPr>
          <p:cNvSpPr txBox="1"/>
          <p:nvPr/>
        </p:nvSpPr>
        <p:spPr>
          <a:xfrm>
            <a:off x="406253" y="573264"/>
            <a:ext cx="10353257" cy="507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4800" b="1" spc="562" dirty="0">
                <a:solidFill>
                  <a:srgbClr val="6F6935"/>
                </a:solidFill>
                <a:latin typeface="Aptos" panose="020B0004020202020204" pitchFamily="34" charset="0"/>
                <a:ea typeface="Public Sans Bold"/>
                <a:cs typeface="Public Sans Bold"/>
                <a:sym typeface="Public Sans Bold"/>
              </a:rPr>
              <a:t>             DEVICE TYPES: 01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75BC36-AC5A-FAEC-E6BC-1BCDFFEE1258}"/>
              </a:ext>
            </a:extLst>
          </p:cNvPr>
          <p:cNvSpPr/>
          <p:nvPr/>
        </p:nvSpPr>
        <p:spPr>
          <a:xfrm>
            <a:off x="1879530" y="7542608"/>
            <a:ext cx="8573256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A7221B-E608-FB99-934F-80BFDAD59A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90" t="5644" r="9758" b="11689"/>
          <a:stretch>
            <a:fillRect/>
          </a:stretch>
        </p:blipFill>
        <p:spPr>
          <a:xfrm>
            <a:off x="2662533" y="7825320"/>
            <a:ext cx="7456120" cy="44534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6E98F7-7544-5ECB-D906-1572F35764C9}"/>
              </a:ext>
            </a:extLst>
          </p:cNvPr>
          <p:cNvSpPr txBox="1"/>
          <p:nvPr/>
        </p:nvSpPr>
        <p:spPr>
          <a:xfrm>
            <a:off x="465897" y="10864615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605B2E"/>
                </a:solidFill>
                <a:latin typeface="Aptos" panose="020B0004020202020204" pitchFamily="34" charset="0"/>
              </a:rPr>
              <a:t>Accelerators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AF7094-AEA3-C8FD-AAEE-7B1D0149AE5B}"/>
              </a:ext>
            </a:extLst>
          </p:cNvPr>
          <p:cNvSpPr txBox="1"/>
          <p:nvPr/>
        </p:nvSpPr>
        <p:spPr>
          <a:xfrm>
            <a:off x="465897" y="8638017"/>
            <a:ext cx="2209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605B2E"/>
                </a:solidFill>
                <a:latin typeface="Aptos" panose="020B0004020202020204" pitchFamily="34" charset="0"/>
              </a:rPr>
              <a:t>Memory Expanders</a:t>
            </a:r>
          </a:p>
          <a:p>
            <a:endParaRPr lang="en-US" sz="2800" dirty="0">
              <a:solidFill>
                <a:srgbClr val="605B2E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6B3D80-43A1-ACEB-D3DE-9416C13316C0}"/>
              </a:ext>
            </a:extLst>
          </p:cNvPr>
          <p:cNvSpPr txBox="1"/>
          <p:nvPr/>
        </p:nvSpPr>
        <p:spPr>
          <a:xfrm>
            <a:off x="9805401" y="8349204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605B2E"/>
                </a:solidFill>
                <a:latin typeface="Aptos" panose="020B0004020202020204" pitchFamily="34" charset="0"/>
              </a:rPr>
              <a:t>SmartNICs</a:t>
            </a:r>
            <a:endParaRPr lang="en-US" sz="2800" dirty="0">
              <a:solidFill>
                <a:srgbClr val="605B2E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9ED514-B3AE-193C-F4A6-BAFFF142C8CF}"/>
              </a:ext>
            </a:extLst>
          </p:cNvPr>
          <p:cNvSpPr txBox="1"/>
          <p:nvPr/>
        </p:nvSpPr>
        <p:spPr>
          <a:xfrm>
            <a:off x="11066315" y="11126225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605B2E"/>
                </a:solidFill>
                <a:latin typeface="Aptos" panose="020B0004020202020204" pitchFamily="34" charset="0"/>
              </a:rPr>
              <a:t>SSD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F6CE912-D34F-97D0-9FE8-4EB92BC8DB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59" y="1992610"/>
            <a:ext cx="6128467" cy="423902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328CE8E-7FF6-FD75-C09F-37F1E5988D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287" y="1836235"/>
            <a:ext cx="4348543" cy="444850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5AB9B26-AC6B-13C0-863B-3276FE7398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97" y="275210"/>
            <a:ext cx="2389967" cy="81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035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BC163-3A56-4A6B-4BFB-415476852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6A6AEF3-5362-4AF2-8D95-E0E8B3895FE8}"/>
              </a:ext>
            </a:extLst>
          </p:cNvPr>
          <p:cNvSpPr/>
          <p:nvPr/>
        </p:nvSpPr>
        <p:spPr>
          <a:xfrm>
            <a:off x="6235856" y="1368566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68A305E-541A-ED3D-0FF4-215E9BC18AEF}"/>
              </a:ext>
            </a:extLst>
          </p:cNvPr>
          <p:cNvSpPr/>
          <p:nvPr/>
        </p:nvSpPr>
        <p:spPr>
          <a:xfrm>
            <a:off x="465897" y="1368567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761293E-22A6-5F58-7234-464C73FCB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4"/>
          <a:stretch>
            <a:fillRect/>
          </a:stretch>
        </p:blipFill>
        <p:spPr>
          <a:xfrm>
            <a:off x="12043268" y="-3664211"/>
            <a:ext cx="4092358" cy="24620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6A6A4F6-EB31-3460-DA06-424DFBDD18F9}"/>
              </a:ext>
            </a:extLst>
          </p:cNvPr>
          <p:cNvSpPr/>
          <p:nvPr/>
        </p:nvSpPr>
        <p:spPr>
          <a:xfrm>
            <a:off x="14375757" y="-224222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2D69C0-EBD5-1406-FC7B-19EFC3A44AA9}"/>
              </a:ext>
            </a:extLst>
          </p:cNvPr>
          <p:cNvSpPr/>
          <p:nvPr/>
        </p:nvSpPr>
        <p:spPr>
          <a:xfrm>
            <a:off x="-10795783" y="-169731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C73F1C-31B7-E1C7-193E-446EB647FDC4}"/>
              </a:ext>
            </a:extLst>
          </p:cNvPr>
          <p:cNvSpPr/>
          <p:nvPr/>
        </p:nvSpPr>
        <p:spPr>
          <a:xfrm>
            <a:off x="1256482" y="7695499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FFEF061C-F98D-E850-6856-610AC84C8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B4615C-99C0-26DF-CB74-0C1FD23035D8}"/>
              </a:ext>
            </a:extLst>
          </p:cNvPr>
          <p:cNvSpPr/>
          <p:nvPr/>
        </p:nvSpPr>
        <p:spPr>
          <a:xfrm>
            <a:off x="250859" y="-6380134"/>
            <a:ext cx="12406469" cy="5431847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94BA15-CC98-8F99-7698-60559105B717}"/>
              </a:ext>
            </a:extLst>
          </p:cNvPr>
          <p:cNvSpPr/>
          <p:nvPr/>
        </p:nvSpPr>
        <p:spPr>
          <a:xfrm>
            <a:off x="1879530" y="7542608"/>
            <a:ext cx="8573256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DB43D0-CB59-E2C7-EA52-25E9E5D796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90" t="5644" r="9758" b="11689"/>
          <a:stretch>
            <a:fillRect/>
          </a:stretch>
        </p:blipFill>
        <p:spPr>
          <a:xfrm>
            <a:off x="2662533" y="7825320"/>
            <a:ext cx="7456120" cy="44534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14B038-FB10-9205-DE38-38CF2FA0B581}"/>
              </a:ext>
            </a:extLst>
          </p:cNvPr>
          <p:cNvSpPr txBox="1"/>
          <p:nvPr/>
        </p:nvSpPr>
        <p:spPr>
          <a:xfrm>
            <a:off x="465897" y="10864615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605B2E"/>
                </a:solidFill>
                <a:latin typeface="Aptos" panose="020B0004020202020204" pitchFamily="34" charset="0"/>
              </a:rPr>
              <a:t>Accelerators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82D99F-B43F-DC2B-A61B-F5C74A9DB1AB}"/>
              </a:ext>
            </a:extLst>
          </p:cNvPr>
          <p:cNvSpPr txBox="1"/>
          <p:nvPr/>
        </p:nvSpPr>
        <p:spPr>
          <a:xfrm>
            <a:off x="465897" y="8638017"/>
            <a:ext cx="2209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605B2E"/>
                </a:solidFill>
                <a:latin typeface="Aptos" panose="020B0004020202020204" pitchFamily="34" charset="0"/>
              </a:rPr>
              <a:t>Memory Expanders</a:t>
            </a:r>
          </a:p>
          <a:p>
            <a:endParaRPr lang="en-US" sz="2800" dirty="0">
              <a:solidFill>
                <a:srgbClr val="605B2E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E04410-8A86-1949-2D4A-9DCB8CB8F0BD}"/>
              </a:ext>
            </a:extLst>
          </p:cNvPr>
          <p:cNvSpPr txBox="1"/>
          <p:nvPr/>
        </p:nvSpPr>
        <p:spPr>
          <a:xfrm>
            <a:off x="9805401" y="8349204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605B2E"/>
                </a:solidFill>
                <a:latin typeface="Aptos" panose="020B0004020202020204" pitchFamily="34" charset="0"/>
              </a:rPr>
              <a:t>SmartNICs</a:t>
            </a:r>
            <a:endParaRPr lang="en-US" sz="2800" dirty="0">
              <a:solidFill>
                <a:srgbClr val="605B2E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10EE55-A132-05CF-8807-C0B9B62F92A2}"/>
              </a:ext>
            </a:extLst>
          </p:cNvPr>
          <p:cNvSpPr txBox="1"/>
          <p:nvPr/>
        </p:nvSpPr>
        <p:spPr>
          <a:xfrm>
            <a:off x="11066315" y="11126225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605B2E"/>
                </a:solidFill>
                <a:latin typeface="Aptos" panose="020B0004020202020204" pitchFamily="34" charset="0"/>
              </a:rPr>
              <a:t>SSD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6BD8D53-78BB-95D9-1D3B-99737BD664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36487" y="1891695"/>
            <a:ext cx="6128467" cy="423902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D583269-CC44-ACA6-E895-51D32AEB5C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667" y="1701258"/>
            <a:ext cx="4501016" cy="48108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CC0BDF-B78C-5D53-A4E3-13040A5798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6" r="12470"/>
          <a:stretch>
            <a:fillRect/>
          </a:stretch>
        </p:blipFill>
        <p:spPr>
          <a:xfrm>
            <a:off x="550747" y="1556273"/>
            <a:ext cx="5479315" cy="4968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2BA974-4668-F630-D951-04F311FFBF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401" y="1585758"/>
            <a:ext cx="4383033" cy="4698978"/>
          </a:xfrm>
          <a:prstGeom prst="rect">
            <a:avLst/>
          </a:prstGeom>
        </p:spPr>
      </p:pic>
      <p:sp>
        <p:nvSpPr>
          <p:cNvPr id="15" name="TextBox 2">
            <a:extLst>
              <a:ext uri="{FF2B5EF4-FFF2-40B4-BE49-F238E27FC236}">
                <a16:creationId xmlns:a16="http://schemas.microsoft.com/office/drawing/2014/main" id="{BC3BDA6D-8AF1-2B27-4256-DF11DCE967A8}"/>
              </a:ext>
            </a:extLst>
          </p:cNvPr>
          <p:cNvSpPr txBox="1"/>
          <p:nvPr/>
        </p:nvSpPr>
        <p:spPr>
          <a:xfrm>
            <a:off x="406253" y="573264"/>
            <a:ext cx="10353257" cy="507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4800" b="1" spc="562" dirty="0">
                <a:solidFill>
                  <a:srgbClr val="6F6935"/>
                </a:solidFill>
                <a:latin typeface="Aptos" panose="020B0004020202020204" pitchFamily="34" charset="0"/>
                <a:ea typeface="Public Sans Bold"/>
                <a:cs typeface="Public Sans Bold"/>
                <a:sym typeface="Public Sans Bold"/>
              </a:rPr>
              <a:t>             DEVICE TYPES: 02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1A9A2B0-CF56-3105-1244-62BDBD2C63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97" y="275210"/>
            <a:ext cx="2389967" cy="81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494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E2B2A-4EA2-9125-3458-D2A7EDA37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E271179-47BF-1C68-C5AB-EC49ACFBEDAD}"/>
              </a:ext>
            </a:extLst>
          </p:cNvPr>
          <p:cNvSpPr/>
          <p:nvPr/>
        </p:nvSpPr>
        <p:spPr>
          <a:xfrm>
            <a:off x="6235856" y="1368566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489A1AC-D9CC-8351-76DD-E3D7B440E757}"/>
              </a:ext>
            </a:extLst>
          </p:cNvPr>
          <p:cNvSpPr/>
          <p:nvPr/>
        </p:nvSpPr>
        <p:spPr>
          <a:xfrm>
            <a:off x="465897" y="1368567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DEDD329-81EE-7868-6248-8EB834299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4"/>
          <a:stretch>
            <a:fillRect/>
          </a:stretch>
        </p:blipFill>
        <p:spPr>
          <a:xfrm>
            <a:off x="12043268" y="-3664211"/>
            <a:ext cx="4092358" cy="24620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E1B78AB-A220-5ECD-CB2D-6B9F1B7027C2}"/>
              </a:ext>
            </a:extLst>
          </p:cNvPr>
          <p:cNvSpPr/>
          <p:nvPr/>
        </p:nvSpPr>
        <p:spPr>
          <a:xfrm>
            <a:off x="14375757" y="-224222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A6BC54-7E15-A595-63F9-6DA7D2057BEF}"/>
              </a:ext>
            </a:extLst>
          </p:cNvPr>
          <p:cNvSpPr/>
          <p:nvPr/>
        </p:nvSpPr>
        <p:spPr>
          <a:xfrm>
            <a:off x="-10795783" y="-169731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27CD3D-6431-1F94-E8B8-54E065FEBA9F}"/>
              </a:ext>
            </a:extLst>
          </p:cNvPr>
          <p:cNvSpPr/>
          <p:nvPr/>
        </p:nvSpPr>
        <p:spPr>
          <a:xfrm>
            <a:off x="1256482" y="7695499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E47F67A0-1A92-4089-9C56-6A47378AC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CCDB7-623A-F3B7-FF9A-CB1974A1AB91}"/>
              </a:ext>
            </a:extLst>
          </p:cNvPr>
          <p:cNvSpPr/>
          <p:nvPr/>
        </p:nvSpPr>
        <p:spPr>
          <a:xfrm>
            <a:off x="499914" y="-5819736"/>
            <a:ext cx="12406469" cy="5431847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7DF902-3A6D-4F63-EE2D-A11F83A21F37}"/>
              </a:ext>
            </a:extLst>
          </p:cNvPr>
          <p:cNvSpPr/>
          <p:nvPr/>
        </p:nvSpPr>
        <p:spPr>
          <a:xfrm>
            <a:off x="1879530" y="7542608"/>
            <a:ext cx="8573256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8B7A8D-B638-351E-A217-8CA9A3719C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90" t="5644" r="9758" b="11689"/>
          <a:stretch>
            <a:fillRect/>
          </a:stretch>
        </p:blipFill>
        <p:spPr>
          <a:xfrm>
            <a:off x="2662533" y="7825320"/>
            <a:ext cx="7456120" cy="44534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A5AA8D-3F95-6606-3515-737C6024E120}"/>
              </a:ext>
            </a:extLst>
          </p:cNvPr>
          <p:cNvSpPr txBox="1"/>
          <p:nvPr/>
        </p:nvSpPr>
        <p:spPr>
          <a:xfrm>
            <a:off x="465897" y="10864615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605B2E"/>
                </a:solidFill>
                <a:latin typeface="Aptos" panose="020B0004020202020204" pitchFamily="34" charset="0"/>
              </a:rPr>
              <a:t>Accelerators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21CBD9-229B-8EEA-3B4E-EB5B9A9D8DB4}"/>
              </a:ext>
            </a:extLst>
          </p:cNvPr>
          <p:cNvSpPr txBox="1"/>
          <p:nvPr/>
        </p:nvSpPr>
        <p:spPr>
          <a:xfrm>
            <a:off x="465897" y="8638017"/>
            <a:ext cx="2209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605B2E"/>
                </a:solidFill>
                <a:latin typeface="Aptos" panose="020B0004020202020204" pitchFamily="34" charset="0"/>
              </a:rPr>
              <a:t>Memory Expanders</a:t>
            </a:r>
          </a:p>
          <a:p>
            <a:endParaRPr lang="en-US" sz="2800" dirty="0">
              <a:solidFill>
                <a:srgbClr val="605B2E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E3F4CD-2DF7-1CCF-10B9-F6E5466C5BF8}"/>
              </a:ext>
            </a:extLst>
          </p:cNvPr>
          <p:cNvSpPr txBox="1"/>
          <p:nvPr/>
        </p:nvSpPr>
        <p:spPr>
          <a:xfrm>
            <a:off x="9805401" y="8349204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605B2E"/>
                </a:solidFill>
                <a:latin typeface="Aptos" panose="020B0004020202020204" pitchFamily="34" charset="0"/>
              </a:rPr>
              <a:t>SmartNICs</a:t>
            </a:r>
            <a:endParaRPr lang="en-US" sz="2800" dirty="0">
              <a:solidFill>
                <a:srgbClr val="605B2E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C8DBA8-94EA-4186-66DE-FAE99EB52F51}"/>
              </a:ext>
            </a:extLst>
          </p:cNvPr>
          <p:cNvSpPr txBox="1"/>
          <p:nvPr/>
        </p:nvSpPr>
        <p:spPr>
          <a:xfrm>
            <a:off x="11066315" y="11126225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605B2E"/>
                </a:solidFill>
                <a:latin typeface="Aptos" panose="020B0004020202020204" pitchFamily="34" charset="0"/>
              </a:rPr>
              <a:t>SSD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D819640-078B-C4FA-4154-E35CF5D1E5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36487" y="1891695"/>
            <a:ext cx="6128467" cy="423902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E8668B2-07EF-B780-538C-1918939062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667" y="1701258"/>
            <a:ext cx="4501016" cy="48108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99FD88-C83D-B45A-35DD-4FC38EB21C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6" r="12470"/>
          <a:stretch>
            <a:fillRect/>
          </a:stretch>
        </p:blipFill>
        <p:spPr>
          <a:xfrm>
            <a:off x="-5470933" y="1881368"/>
            <a:ext cx="5479315" cy="4968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FF913B-ABA8-38F2-D9F7-85B68FF5C9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2226" y="1502655"/>
            <a:ext cx="4625374" cy="50171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71F4C77-2400-C3B7-F47B-BC4465228A2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819" y="1633393"/>
            <a:ext cx="6393365" cy="49465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F5FEE7-F1AA-2ED8-FA2A-7E1CDADB702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024" y="1492700"/>
            <a:ext cx="4757601" cy="4874438"/>
          </a:xfrm>
          <a:prstGeom prst="rect">
            <a:avLst/>
          </a:prstGeom>
        </p:spPr>
      </p:pic>
      <p:sp>
        <p:nvSpPr>
          <p:cNvPr id="16" name="TextBox 2">
            <a:extLst>
              <a:ext uri="{FF2B5EF4-FFF2-40B4-BE49-F238E27FC236}">
                <a16:creationId xmlns:a16="http://schemas.microsoft.com/office/drawing/2014/main" id="{43B8C141-7090-E48E-ABC3-3C9839B1FE16}"/>
              </a:ext>
            </a:extLst>
          </p:cNvPr>
          <p:cNvSpPr txBox="1"/>
          <p:nvPr/>
        </p:nvSpPr>
        <p:spPr>
          <a:xfrm>
            <a:off x="406253" y="534764"/>
            <a:ext cx="10353257" cy="507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4800" b="1" spc="562" dirty="0">
                <a:solidFill>
                  <a:srgbClr val="6F6935"/>
                </a:solidFill>
                <a:latin typeface="Aptos" panose="020B0004020202020204" pitchFamily="34" charset="0"/>
                <a:ea typeface="Public Sans Bold"/>
                <a:cs typeface="Public Sans Bold"/>
                <a:sym typeface="Public Sans Bold"/>
              </a:rPr>
              <a:t>             DEVICE TYPES: 03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A7880D2-C07B-68C7-931A-E2A6898876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97" y="236710"/>
            <a:ext cx="2389967" cy="81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392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7C9F3-421A-0C17-099D-9527CA49F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F2EC3A3-66DC-240A-7864-D1E893BFE9C5}"/>
              </a:ext>
            </a:extLst>
          </p:cNvPr>
          <p:cNvSpPr/>
          <p:nvPr/>
        </p:nvSpPr>
        <p:spPr>
          <a:xfrm>
            <a:off x="413986" y="1142834"/>
            <a:ext cx="11465440" cy="5466944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51208DC-3F18-A2AD-5624-364BCCAA4B31}"/>
              </a:ext>
            </a:extLst>
          </p:cNvPr>
          <p:cNvSpPr/>
          <p:nvPr/>
        </p:nvSpPr>
        <p:spPr>
          <a:xfrm>
            <a:off x="12657328" y="1453577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F307CE6-89BD-7BCE-6E0D-4392E09A3FAD}"/>
              </a:ext>
            </a:extLst>
          </p:cNvPr>
          <p:cNvSpPr/>
          <p:nvPr/>
        </p:nvSpPr>
        <p:spPr>
          <a:xfrm>
            <a:off x="-5957482" y="818628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9047175-63A2-EB82-C87F-E536E2767F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4"/>
          <a:stretch>
            <a:fillRect/>
          </a:stretch>
        </p:blipFill>
        <p:spPr>
          <a:xfrm>
            <a:off x="12043268" y="-3664211"/>
            <a:ext cx="4092358" cy="24620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DD2143C-30EA-6054-735D-7E21ECEAF3D2}"/>
              </a:ext>
            </a:extLst>
          </p:cNvPr>
          <p:cNvSpPr/>
          <p:nvPr/>
        </p:nvSpPr>
        <p:spPr>
          <a:xfrm>
            <a:off x="14375757" y="-224222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554A12-A300-636B-C1EE-BC2F8F4D1462}"/>
              </a:ext>
            </a:extLst>
          </p:cNvPr>
          <p:cNvSpPr/>
          <p:nvPr/>
        </p:nvSpPr>
        <p:spPr>
          <a:xfrm>
            <a:off x="-10795783" y="-169731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1C9647-025B-270E-2F8D-F9216334A349}"/>
              </a:ext>
            </a:extLst>
          </p:cNvPr>
          <p:cNvSpPr/>
          <p:nvPr/>
        </p:nvSpPr>
        <p:spPr>
          <a:xfrm>
            <a:off x="1256482" y="7695499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A514BB46-C566-6C41-3FA3-E89739F56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D67610-B4B9-09EC-5DDA-249C8D3D2E24}"/>
              </a:ext>
            </a:extLst>
          </p:cNvPr>
          <p:cNvSpPr/>
          <p:nvPr/>
        </p:nvSpPr>
        <p:spPr>
          <a:xfrm>
            <a:off x="250859" y="-6380134"/>
            <a:ext cx="12406469" cy="5431847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53F380EF-9A75-16B6-AA7E-8F378E6A394D}"/>
              </a:ext>
            </a:extLst>
          </p:cNvPr>
          <p:cNvSpPr txBox="1"/>
          <p:nvPr/>
        </p:nvSpPr>
        <p:spPr>
          <a:xfrm>
            <a:off x="391980" y="417863"/>
            <a:ext cx="10353257" cy="478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  <a:ea typeface="Public Sans Bold"/>
                <a:cs typeface="Public Sans Bold"/>
                <a:sym typeface="Public Sans Bold"/>
              </a:rPr>
              <a:t>CXL CONTROLLER ARCHITECTURE 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0F600F8-70C0-D48D-28D5-C3E1C2B582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78076" y="4046739"/>
            <a:ext cx="6128467" cy="423902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0F85C1D-DC93-BA64-8F19-E2C4395961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667" y="1701258"/>
            <a:ext cx="4501016" cy="48108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754CB-C5B4-E3E7-6692-860589AE96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6" r="12470"/>
          <a:stretch>
            <a:fillRect/>
          </a:stretch>
        </p:blipFill>
        <p:spPr>
          <a:xfrm>
            <a:off x="-6765369" y="4678661"/>
            <a:ext cx="5479315" cy="4968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F94B98-947A-A31B-12B0-D128F2A2D9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2226" y="1502655"/>
            <a:ext cx="4625374" cy="50171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E4F0CA-759C-A0AF-9CB2-A7963ADC73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01814" y="5309495"/>
            <a:ext cx="6393365" cy="49465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CA18978-139F-591C-E7C5-4592BD3E08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4621" y="1502655"/>
            <a:ext cx="4959454" cy="500724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70DDC4D-BC97-4C1D-23A2-0E45DBAAA5BD}"/>
              </a:ext>
            </a:extLst>
          </p:cNvPr>
          <p:cNvGrpSpPr/>
          <p:nvPr/>
        </p:nvGrpSpPr>
        <p:grpSpPr>
          <a:xfrm>
            <a:off x="6678954" y="7278874"/>
            <a:ext cx="7478648" cy="3960897"/>
            <a:chOff x="3647786" y="1448551"/>
            <a:chExt cx="7478648" cy="396089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0A2C08F-CFA6-AAA6-17E1-94AD15434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6844" t="5513" r="8358" b="7816"/>
            <a:stretch>
              <a:fillRect/>
            </a:stretch>
          </p:blipFill>
          <p:spPr>
            <a:xfrm>
              <a:off x="3817627" y="1448551"/>
              <a:ext cx="7142659" cy="3960897"/>
            </a:xfrm>
            <a:prstGeom prst="rect">
              <a:avLst/>
            </a:prstGeom>
          </p:spPr>
        </p:pic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90768257-9D83-1057-5559-BEEE35717442}"/>
                </a:ext>
              </a:extLst>
            </p:cNvPr>
            <p:cNvSpPr/>
            <p:nvPr/>
          </p:nvSpPr>
          <p:spPr>
            <a:xfrm rot="10800000">
              <a:off x="3651477" y="3822699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774101E5-913B-D1A5-305B-FDCCE32AC779}"/>
                </a:ext>
              </a:extLst>
            </p:cNvPr>
            <p:cNvSpPr/>
            <p:nvPr/>
          </p:nvSpPr>
          <p:spPr>
            <a:xfrm rot="10800000">
              <a:off x="3647786" y="23325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2BD2ED3D-9BD6-8629-0E06-6415C780C9B6}"/>
                </a:ext>
              </a:extLst>
            </p:cNvPr>
            <p:cNvSpPr/>
            <p:nvPr/>
          </p:nvSpPr>
          <p:spPr>
            <a:xfrm>
              <a:off x="10794137" y="31199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4B836DDF-57AD-DCC5-66F3-A95EACA47E5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6" r="3903" b="3050"/>
          <a:stretch>
            <a:fillRect/>
          </a:stretch>
        </p:blipFill>
        <p:spPr>
          <a:xfrm>
            <a:off x="3825895" y="1649034"/>
            <a:ext cx="4725488" cy="44215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C2D12C6-2EEA-5B68-3C4E-CA43C5D44498}"/>
              </a:ext>
            </a:extLst>
          </p:cNvPr>
          <p:cNvSpPr/>
          <p:nvPr/>
        </p:nvSpPr>
        <p:spPr>
          <a:xfrm>
            <a:off x="12567360" y="1142834"/>
            <a:ext cx="8443609" cy="5367065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EE97BC1-5000-1655-368D-7AE400AA54BF}"/>
              </a:ext>
            </a:extLst>
          </p:cNvPr>
          <p:cNvSpPr/>
          <p:nvPr/>
        </p:nvSpPr>
        <p:spPr>
          <a:xfrm>
            <a:off x="838200" y="1502655"/>
            <a:ext cx="2400300" cy="4733045"/>
          </a:xfrm>
          <a:prstGeom prst="roundRect">
            <a:avLst>
              <a:gd name="adj" fmla="val 4416"/>
            </a:avLst>
          </a:prstGeom>
          <a:solidFill>
            <a:srgbClr val="B2A4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524026-AE72-91FF-1891-8B9B38A23AB4}"/>
              </a:ext>
            </a:extLst>
          </p:cNvPr>
          <p:cNvSpPr txBox="1"/>
          <p:nvPr/>
        </p:nvSpPr>
        <p:spPr>
          <a:xfrm>
            <a:off x="933216" y="3047445"/>
            <a:ext cx="239418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spc="562" dirty="0">
                <a:solidFill>
                  <a:schemeClr val="bg1"/>
                </a:solidFill>
                <a:latin typeface="Aptos Narrow" panose="020B0004020202020204" pitchFamily="34" charset="0"/>
              </a:rPr>
              <a:t>Host Integrated Memory controller (IMC)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6393A54-0E55-FA73-411A-465E1597AFA8}"/>
              </a:ext>
            </a:extLst>
          </p:cNvPr>
          <p:cNvSpPr/>
          <p:nvPr/>
        </p:nvSpPr>
        <p:spPr>
          <a:xfrm>
            <a:off x="9060450" y="1509783"/>
            <a:ext cx="2400300" cy="4733045"/>
          </a:xfrm>
          <a:prstGeom prst="roundRect">
            <a:avLst>
              <a:gd name="adj" fmla="val 4416"/>
            </a:avLst>
          </a:prstGeom>
          <a:solidFill>
            <a:srgbClr val="B2A4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27BD09-A9F4-10B6-2589-91EBF85A9F04}"/>
              </a:ext>
            </a:extLst>
          </p:cNvPr>
          <p:cNvSpPr txBox="1"/>
          <p:nvPr/>
        </p:nvSpPr>
        <p:spPr>
          <a:xfrm>
            <a:off x="9391907" y="3669122"/>
            <a:ext cx="2394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562" dirty="0">
                <a:solidFill>
                  <a:schemeClr val="bg1"/>
                </a:solidFill>
                <a:latin typeface="Aptos Narrow" panose="020B0004020202020204" pitchFamily="34" charset="0"/>
              </a:rPr>
              <a:t>CXL DRAM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2F3CDD3-EF64-68A0-A79D-4ED16DE043E7}"/>
              </a:ext>
            </a:extLst>
          </p:cNvPr>
          <p:cNvSpPr/>
          <p:nvPr/>
        </p:nvSpPr>
        <p:spPr>
          <a:xfrm>
            <a:off x="3652741" y="1502655"/>
            <a:ext cx="5051232" cy="4733045"/>
          </a:xfrm>
          <a:prstGeom prst="roundRect">
            <a:avLst>
              <a:gd name="adj" fmla="val 3859"/>
            </a:avLst>
          </a:prstGeom>
          <a:solidFill>
            <a:srgbClr val="D5CDA7">
              <a:alpha val="84000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209123-D2A5-BBCC-BB09-D8D63E56C9E8}"/>
              </a:ext>
            </a:extLst>
          </p:cNvPr>
          <p:cNvSpPr txBox="1"/>
          <p:nvPr/>
        </p:nvSpPr>
        <p:spPr>
          <a:xfrm>
            <a:off x="4750368" y="3348905"/>
            <a:ext cx="30878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pc="562" dirty="0">
                <a:latin typeface="Aptos Narrow" panose="020B0004020202020204" pitchFamily="34" charset="0"/>
              </a:rPr>
              <a:t>CXL CONTROLLER</a:t>
            </a:r>
          </a:p>
        </p:txBody>
      </p:sp>
    </p:spTree>
    <p:extLst>
      <p:ext uri="{BB962C8B-B14F-4D97-AF65-F5344CB8AC3E}">
        <p14:creationId xmlns:p14="http://schemas.microsoft.com/office/powerpoint/2010/main" val="1576191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7E9BB-D178-6111-855E-F3F06220B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6B28E93-F666-3341-AC8C-C9117BCC435C}"/>
              </a:ext>
            </a:extLst>
          </p:cNvPr>
          <p:cNvSpPr/>
          <p:nvPr/>
        </p:nvSpPr>
        <p:spPr>
          <a:xfrm>
            <a:off x="413986" y="1142834"/>
            <a:ext cx="11465440" cy="5466944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A5DF522-741B-5A9C-4401-EB94638B1F0E}"/>
              </a:ext>
            </a:extLst>
          </p:cNvPr>
          <p:cNvSpPr/>
          <p:nvPr/>
        </p:nvSpPr>
        <p:spPr>
          <a:xfrm>
            <a:off x="12657328" y="1453577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3021A7A-75DD-C013-198D-1101EE2BE890}"/>
              </a:ext>
            </a:extLst>
          </p:cNvPr>
          <p:cNvSpPr/>
          <p:nvPr/>
        </p:nvSpPr>
        <p:spPr>
          <a:xfrm>
            <a:off x="-5957482" y="818628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1794CAB-7DD2-6458-7096-47A55C2CB7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4"/>
          <a:stretch>
            <a:fillRect/>
          </a:stretch>
        </p:blipFill>
        <p:spPr>
          <a:xfrm>
            <a:off x="12043268" y="-3664211"/>
            <a:ext cx="4092358" cy="24620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B8D55DF-41C3-79EB-17B2-0198B56E57A9}"/>
              </a:ext>
            </a:extLst>
          </p:cNvPr>
          <p:cNvSpPr/>
          <p:nvPr/>
        </p:nvSpPr>
        <p:spPr>
          <a:xfrm>
            <a:off x="14375757" y="-224222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A64697-120F-3C51-CAF5-C8129DA3CD7F}"/>
              </a:ext>
            </a:extLst>
          </p:cNvPr>
          <p:cNvSpPr/>
          <p:nvPr/>
        </p:nvSpPr>
        <p:spPr>
          <a:xfrm>
            <a:off x="-10795783" y="-169731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FE2CC3-5609-9DC9-0ABE-BF91484D2E16}"/>
              </a:ext>
            </a:extLst>
          </p:cNvPr>
          <p:cNvSpPr/>
          <p:nvPr/>
        </p:nvSpPr>
        <p:spPr>
          <a:xfrm>
            <a:off x="1256482" y="7695499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ED864368-AC51-3D95-7DEF-F4D7202B8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5F786B-E4EE-C4BB-BE04-6729693D116E}"/>
              </a:ext>
            </a:extLst>
          </p:cNvPr>
          <p:cNvSpPr/>
          <p:nvPr/>
        </p:nvSpPr>
        <p:spPr>
          <a:xfrm>
            <a:off x="250859" y="-6380134"/>
            <a:ext cx="12406469" cy="5431847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8D94C026-872D-62C8-1FB5-B2135A33BCAB}"/>
              </a:ext>
            </a:extLst>
          </p:cNvPr>
          <p:cNvSpPr txBox="1"/>
          <p:nvPr/>
        </p:nvSpPr>
        <p:spPr>
          <a:xfrm>
            <a:off x="391980" y="417863"/>
            <a:ext cx="10353257" cy="478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  <a:ea typeface="Public Sans Bold"/>
                <a:cs typeface="Public Sans Bold"/>
                <a:sym typeface="Public Sans Bold"/>
              </a:rPr>
              <a:t>CXL CONTROLLER ARCHITECTURE 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EE63205-75D2-0669-3C6C-77521744FC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78076" y="4046739"/>
            <a:ext cx="6128467" cy="423902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75F602E-FF05-C27C-6EB9-9CDAC2FC96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667" y="1701258"/>
            <a:ext cx="4501016" cy="48108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AEF374-C301-A704-8EAF-F80A04D1CE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6" r="12470"/>
          <a:stretch>
            <a:fillRect/>
          </a:stretch>
        </p:blipFill>
        <p:spPr>
          <a:xfrm>
            <a:off x="-6765369" y="4678661"/>
            <a:ext cx="5479315" cy="4968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79F3D6-00D6-75B8-160B-A88D0D2BC2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2226" y="1502655"/>
            <a:ext cx="4625374" cy="50171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5C029D9-D962-6C4B-FA8D-C73B88562B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01814" y="5309495"/>
            <a:ext cx="6393365" cy="49465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C86B68-5649-2D09-74BD-E6407F27B0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4621" y="1502655"/>
            <a:ext cx="4959454" cy="500724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DDAAB-EA0D-2931-A8C2-744F33C897CC}"/>
              </a:ext>
            </a:extLst>
          </p:cNvPr>
          <p:cNvGrpSpPr/>
          <p:nvPr/>
        </p:nvGrpSpPr>
        <p:grpSpPr>
          <a:xfrm>
            <a:off x="6678954" y="7278874"/>
            <a:ext cx="7478648" cy="3960897"/>
            <a:chOff x="3647786" y="1448551"/>
            <a:chExt cx="7478648" cy="396089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FB50C0F-51E2-6DBD-9BFD-65D7F9BEA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6844" t="5513" r="8358" b="7816"/>
            <a:stretch>
              <a:fillRect/>
            </a:stretch>
          </p:blipFill>
          <p:spPr>
            <a:xfrm>
              <a:off x="3817627" y="1448551"/>
              <a:ext cx="7142659" cy="3960897"/>
            </a:xfrm>
            <a:prstGeom prst="rect">
              <a:avLst/>
            </a:prstGeom>
          </p:spPr>
        </p:pic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E336DF5B-2CB7-42F9-C6D2-BE2F95B4C200}"/>
                </a:ext>
              </a:extLst>
            </p:cNvPr>
            <p:cNvSpPr/>
            <p:nvPr/>
          </p:nvSpPr>
          <p:spPr>
            <a:xfrm rot="10800000">
              <a:off x="3651477" y="3822699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23B64F21-2E14-61DA-54C1-2090A2AFB57D}"/>
                </a:ext>
              </a:extLst>
            </p:cNvPr>
            <p:cNvSpPr/>
            <p:nvPr/>
          </p:nvSpPr>
          <p:spPr>
            <a:xfrm rot="10800000">
              <a:off x="3647786" y="23325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149F1A1D-D423-C93B-6B85-E701307BD728}"/>
                </a:ext>
              </a:extLst>
            </p:cNvPr>
            <p:cNvSpPr/>
            <p:nvPr/>
          </p:nvSpPr>
          <p:spPr>
            <a:xfrm>
              <a:off x="10794137" y="31199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EDF65F-D33B-9C2B-F308-9A83B6BC335D}"/>
              </a:ext>
            </a:extLst>
          </p:cNvPr>
          <p:cNvSpPr/>
          <p:nvPr/>
        </p:nvSpPr>
        <p:spPr>
          <a:xfrm>
            <a:off x="-4318000" y="1502655"/>
            <a:ext cx="2400300" cy="4733045"/>
          </a:xfrm>
          <a:prstGeom prst="roundRect">
            <a:avLst>
              <a:gd name="adj" fmla="val 4416"/>
            </a:avLst>
          </a:prstGeom>
          <a:solidFill>
            <a:srgbClr val="B2A4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C35CD5-6FC4-9214-961D-B25DBF97D330}"/>
              </a:ext>
            </a:extLst>
          </p:cNvPr>
          <p:cNvSpPr txBox="1"/>
          <p:nvPr/>
        </p:nvSpPr>
        <p:spPr>
          <a:xfrm>
            <a:off x="-4222984" y="3047445"/>
            <a:ext cx="239418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spc="562" dirty="0">
                <a:solidFill>
                  <a:schemeClr val="bg1"/>
                </a:solidFill>
                <a:latin typeface="Aptos Narrow" panose="020B0004020202020204" pitchFamily="34" charset="0"/>
              </a:rPr>
              <a:t>Host Integrated Memory controller (IMC)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0851AB2-AFF4-C177-3151-E1CB96E10272}"/>
              </a:ext>
            </a:extLst>
          </p:cNvPr>
          <p:cNvSpPr/>
          <p:nvPr/>
        </p:nvSpPr>
        <p:spPr>
          <a:xfrm>
            <a:off x="12692650" y="1509783"/>
            <a:ext cx="2400300" cy="4733045"/>
          </a:xfrm>
          <a:prstGeom prst="roundRect">
            <a:avLst>
              <a:gd name="adj" fmla="val 4416"/>
            </a:avLst>
          </a:prstGeom>
          <a:solidFill>
            <a:srgbClr val="B2A4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CEFC16-328E-BDB5-D3E2-3B1F56813B0A}"/>
              </a:ext>
            </a:extLst>
          </p:cNvPr>
          <p:cNvSpPr txBox="1"/>
          <p:nvPr/>
        </p:nvSpPr>
        <p:spPr>
          <a:xfrm>
            <a:off x="13024107" y="3669122"/>
            <a:ext cx="2394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562" dirty="0">
                <a:solidFill>
                  <a:schemeClr val="bg1"/>
                </a:solidFill>
                <a:latin typeface="Aptos Narrow" panose="020B0004020202020204" pitchFamily="34" charset="0"/>
              </a:rPr>
              <a:t>CXL DRAM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D6BF638-132D-A2D8-13DB-05E935A507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6" r="3903" b="3050"/>
          <a:stretch>
            <a:fillRect/>
          </a:stretch>
        </p:blipFill>
        <p:spPr>
          <a:xfrm>
            <a:off x="2029097" y="1502655"/>
            <a:ext cx="8589130" cy="473304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478EE2-1798-F86D-A20B-E48008E44F71}"/>
              </a:ext>
            </a:extLst>
          </p:cNvPr>
          <p:cNvSpPr/>
          <p:nvPr/>
        </p:nvSpPr>
        <p:spPr>
          <a:xfrm>
            <a:off x="12567360" y="1142834"/>
            <a:ext cx="8443609" cy="5367065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98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93E73-B664-A76D-DBE6-F09B8C33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6EA51D1-4C67-2241-6936-00F35F2173B5}"/>
              </a:ext>
            </a:extLst>
          </p:cNvPr>
          <p:cNvSpPr/>
          <p:nvPr/>
        </p:nvSpPr>
        <p:spPr>
          <a:xfrm>
            <a:off x="413986" y="1142834"/>
            <a:ext cx="11465440" cy="5466944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66A8C7E-8477-DAEF-3495-335065F2390F}"/>
              </a:ext>
            </a:extLst>
          </p:cNvPr>
          <p:cNvSpPr/>
          <p:nvPr/>
        </p:nvSpPr>
        <p:spPr>
          <a:xfrm>
            <a:off x="12657328" y="1453577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D84E3F9-7554-D083-CE42-4D6F02FF5724}"/>
              </a:ext>
            </a:extLst>
          </p:cNvPr>
          <p:cNvSpPr/>
          <p:nvPr/>
        </p:nvSpPr>
        <p:spPr>
          <a:xfrm>
            <a:off x="-5957482" y="818628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015062C-339F-8379-BFB2-081E355B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4"/>
          <a:stretch>
            <a:fillRect/>
          </a:stretch>
        </p:blipFill>
        <p:spPr>
          <a:xfrm>
            <a:off x="12043268" y="-3664211"/>
            <a:ext cx="4092358" cy="24620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4618111-7556-AE5C-4EAD-24785BAA0243}"/>
              </a:ext>
            </a:extLst>
          </p:cNvPr>
          <p:cNvSpPr/>
          <p:nvPr/>
        </p:nvSpPr>
        <p:spPr>
          <a:xfrm>
            <a:off x="14375757" y="-224222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2054D-A99B-671D-1511-670ECB00BB15}"/>
              </a:ext>
            </a:extLst>
          </p:cNvPr>
          <p:cNvSpPr/>
          <p:nvPr/>
        </p:nvSpPr>
        <p:spPr>
          <a:xfrm>
            <a:off x="1256482" y="7695499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F98BB9-8A7D-850D-ED71-7A0004A027FE}"/>
              </a:ext>
            </a:extLst>
          </p:cNvPr>
          <p:cNvSpPr/>
          <p:nvPr/>
        </p:nvSpPr>
        <p:spPr>
          <a:xfrm>
            <a:off x="250859" y="-6380134"/>
            <a:ext cx="12406469" cy="5431847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17BBC4F-607C-12D2-78EE-113E834D3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78076" y="4046739"/>
            <a:ext cx="6128467" cy="423902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1D12D62-A5E5-99BE-955C-4DAA682A3E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667" y="1701258"/>
            <a:ext cx="4501016" cy="48108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9B5A69-05BB-F35E-38B0-660258D355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6" r="12470"/>
          <a:stretch>
            <a:fillRect/>
          </a:stretch>
        </p:blipFill>
        <p:spPr>
          <a:xfrm>
            <a:off x="-6765369" y="4678661"/>
            <a:ext cx="5479315" cy="4968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36BD0A-C10A-E93B-A6D6-7FAAFC6F7C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2226" y="1502655"/>
            <a:ext cx="4625374" cy="50171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C954F2-D700-3C4B-F695-E58B18D90C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01814" y="5309495"/>
            <a:ext cx="6393365" cy="49465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75CC50-B7AB-DB31-36F0-9BC5E0B46C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4621" y="1502655"/>
            <a:ext cx="4959454" cy="500724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08DC78C-EEF4-5CA4-3558-A6F0B705259B}"/>
              </a:ext>
            </a:extLst>
          </p:cNvPr>
          <p:cNvGrpSpPr/>
          <p:nvPr/>
        </p:nvGrpSpPr>
        <p:grpSpPr>
          <a:xfrm>
            <a:off x="6678954" y="7278874"/>
            <a:ext cx="7478648" cy="3960897"/>
            <a:chOff x="3647786" y="1448551"/>
            <a:chExt cx="7478648" cy="396089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F0E8132-5470-594B-1AA2-0F53E4687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6844" t="5513" r="8358" b="7816"/>
            <a:stretch>
              <a:fillRect/>
            </a:stretch>
          </p:blipFill>
          <p:spPr>
            <a:xfrm>
              <a:off x="3817627" y="1448551"/>
              <a:ext cx="7142659" cy="3960897"/>
            </a:xfrm>
            <a:prstGeom prst="rect">
              <a:avLst/>
            </a:prstGeom>
          </p:spPr>
        </p:pic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86DA41FD-FED8-83FF-D91E-83DAD7FDE6FD}"/>
                </a:ext>
              </a:extLst>
            </p:cNvPr>
            <p:cNvSpPr/>
            <p:nvPr/>
          </p:nvSpPr>
          <p:spPr>
            <a:xfrm rot="10800000">
              <a:off x="3651477" y="3822699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F567A9BF-4748-CAF9-E81C-14A5313E104C}"/>
                </a:ext>
              </a:extLst>
            </p:cNvPr>
            <p:cNvSpPr/>
            <p:nvPr/>
          </p:nvSpPr>
          <p:spPr>
            <a:xfrm rot="10800000">
              <a:off x="3647786" y="23325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69458C52-0928-155A-E907-332845C44983}"/>
                </a:ext>
              </a:extLst>
            </p:cNvPr>
            <p:cNvSpPr/>
            <p:nvPr/>
          </p:nvSpPr>
          <p:spPr>
            <a:xfrm>
              <a:off x="10794137" y="31199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F1BB149C-BC96-1EFC-E239-1655751E06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6" r="3903" b="3050"/>
          <a:stretch>
            <a:fillRect/>
          </a:stretch>
        </p:blipFill>
        <p:spPr>
          <a:xfrm>
            <a:off x="2029097" y="1502655"/>
            <a:ext cx="8589130" cy="47330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556C654-2B4C-0F5B-16CC-B97CD29CA514}"/>
              </a:ext>
            </a:extLst>
          </p:cNvPr>
          <p:cNvSpPr/>
          <p:nvPr/>
        </p:nvSpPr>
        <p:spPr>
          <a:xfrm>
            <a:off x="2839160" y="1142834"/>
            <a:ext cx="8443609" cy="5367065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E9D0EE2F-7078-F341-0762-8EF674EDA68F}"/>
              </a:ext>
            </a:extLst>
          </p:cNvPr>
          <p:cNvSpPr txBox="1"/>
          <p:nvPr/>
        </p:nvSpPr>
        <p:spPr>
          <a:xfrm>
            <a:off x="391980" y="417863"/>
            <a:ext cx="10353257" cy="478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  <a:ea typeface="Public Sans Bold"/>
                <a:cs typeface="Public Sans Bold"/>
                <a:sym typeface="Public Sans Bold"/>
              </a:rPr>
              <a:t>CXL CONTROLLER ARCHITECTURE </a:t>
            </a:r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A7F3ABB1-F6F3-1A8E-F6B2-F73FC9790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335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C5339-E516-25A0-2ECA-C18D0EFD5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0A56534-3C83-7EF0-9998-F2CED784EE3A}"/>
              </a:ext>
            </a:extLst>
          </p:cNvPr>
          <p:cNvSpPr/>
          <p:nvPr/>
        </p:nvSpPr>
        <p:spPr>
          <a:xfrm>
            <a:off x="413986" y="1142834"/>
            <a:ext cx="11465440" cy="5466944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89CDBCF-D7D6-8701-CC9D-50959ED9B994}"/>
              </a:ext>
            </a:extLst>
          </p:cNvPr>
          <p:cNvSpPr/>
          <p:nvPr/>
        </p:nvSpPr>
        <p:spPr>
          <a:xfrm>
            <a:off x="12657328" y="1453577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703723C-511D-A371-25F8-9CB9E4DB9C5A}"/>
              </a:ext>
            </a:extLst>
          </p:cNvPr>
          <p:cNvSpPr/>
          <p:nvPr/>
        </p:nvSpPr>
        <p:spPr>
          <a:xfrm>
            <a:off x="-5957482" y="818628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E3134F7-F9EA-BBE3-0762-C75B7AE4B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4"/>
          <a:stretch>
            <a:fillRect/>
          </a:stretch>
        </p:blipFill>
        <p:spPr>
          <a:xfrm>
            <a:off x="12043268" y="-3664211"/>
            <a:ext cx="4092358" cy="24620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CE18D6B-4BF5-2217-1F2B-A47F47326D94}"/>
              </a:ext>
            </a:extLst>
          </p:cNvPr>
          <p:cNvSpPr/>
          <p:nvPr/>
        </p:nvSpPr>
        <p:spPr>
          <a:xfrm>
            <a:off x="14375757" y="-224222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353D63-4923-B77A-946F-CFBC57C3EC96}"/>
              </a:ext>
            </a:extLst>
          </p:cNvPr>
          <p:cNvSpPr/>
          <p:nvPr/>
        </p:nvSpPr>
        <p:spPr>
          <a:xfrm>
            <a:off x="1256482" y="7695499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8DF98-5ED3-4283-1002-37304722795E}"/>
              </a:ext>
            </a:extLst>
          </p:cNvPr>
          <p:cNvSpPr/>
          <p:nvPr/>
        </p:nvSpPr>
        <p:spPr>
          <a:xfrm>
            <a:off x="250859" y="-6380134"/>
            <a:ext cx="12406469" cy="5431847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C4EEF11-2A2D-22C0-3A93-30E3A9EC84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78076" y="4046739"/>
            <a:ext cx="6128467" cy="423902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7E798E3-5CF8-FA75-0659-1694CAD780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667" y="1701258"/>
            <a:ext cx="4501016" cy="48108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D727AC-1DDE-A86A-C9E5-01BBFB3668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6" r="12470"/>
          <a:stretch>
            <a:fillRect/>
          </a:stretch>
        </p:blipFill>
        <p:spPr>
          <a:xfrm>
            <a:off x="-6765369" y="4678661"/>
            <a:ext cx="5479315" cy="4968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AB443F-6425-5295-07A7-4A39CC840D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2226" y="1502655"/>
            <a:ext cx="4625374" cy="50171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86F3948-80B5-E150-F313-7873651CB4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01814" y="5309495"/>
            <a:ext cx="6393365" cy="49465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6F4CBE-8AD6-A2B7-AC70-E24B106F55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4621" y="1502655"/>
            <a:ext cx="4959454" cy="500724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89F9098-A072-E059-049A-99B312B9AA42}"/>
              </a:ext>
            </a:extLst>
          </p:cNvPr>
          <p:cNvGrpSpPr/>
          <p:nvPr/>
        </p:nvGrpSpPr>
        <p:grpSpPr>
          <a:xfrm>
            <a:off x="6678954" y="7278874"/>
            <a:ext cx="7478648" cy="3960897"/>
            <a:chOff x="3647786" y="1448551"/>
            <a:chExt cx="7478648" cy="396089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ED20927-7B07-230F-A6B3-3850FCB15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6844" t="5513" r="8358" b="7816"/>
            <a:stretch>
              <a:fillRect/>
            </a:stretch>
          </p:blipFill>
          <p:spPr>
            <a:xfrm>
              <a:off x="3817627" y="1448551"/>
              <a:ext cx="7142659" cy="3960897"/>
            </a:xfrm>
            <a:prstGeom prst="rect">
              <a:avLst/>
            </a:prstGeom>
          </p:spPr>
        </p:pic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DECC19C2-D55E-D177-914B-6AB18386F9DE}"/>
                </a:ext>
              </a:extLst>
            </p:cNvPr>
            <p:cNvSpPr/>
            <p:nvPr/>
          </p:nvSpPr>
          <p:spPr>
            <a:xfrm rot="10800000">
              <a:off x="3651477" y="3822699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604CDF38-9365-DB6D-AFAE-8D6590151445}"/>
                </a:ext>
              </a:extLst>
            </p:cNvPr>
            <p:cNvSpPr/>
            <p:nvPr/>
          </p:nvSpPr>
          <p:spPr>
            <a:xfrm rot="10800000">
              <a:off x="3647786" y="23325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40F346A0-D1CC-5D2D-C485-73102186F268}"/>
                </a:ext>
              </a:extLst>
            </p:cNvPr>
            <p:cNvSpPr/>
            <p:nvPr/>
          </p:nvSpPr>
          <p:spPr>
            <a:xfrm>
              <a:off x="10794137" y="31199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32AB9464-452E-DF8B-176A-4A4B78AAF5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6" r="3903" b="3050"/>
          <a:stretch>
            <a:fillRect/>
          </a:stretch>
        </p:blipFill>
        <p:spPr>
          <a:xfrm>
            <a:off x="2029097" y="1502655"/>
            <a:ext cx="8589130" cy="47330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8E65194-7ADF-AA7A-281D-83B26FDA06DB}"/>
              </a:ext>
            </a:extLst>
          </p:cNvPr>
          <p:cNvSpPr/>
          <p:nvPr/>
        </p:nvSpPr>
        <p:spPr>
          <a:xfrm>
            <a:off x="6454093" y="1137872"/>
            <a:ext cx="5153707" cy="5367065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897D73DF-B3FD-9F7D-14AD-D1DFA30E4787}"/>
              </a:ext>
            </a:extLst>
          </p:cNvPr>
          <p:cNvSpPr txBox="1"/>
          <p:nvPr/>
        </p:nvSpPr>
        <p:spPr>
          <a:xfrm>
            <a:off x="391980" y="417863"/>
            <a:ext cx="10353257" cy="478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  <a:ea typeface="Public Sans Bold"/>
                <a:cs typeface="Public Sans Bold"/>
                <a:sym typeface="Public Sans Bold"/>
              </a:rPr>
              <a:t>CXL CONTROLLER ARCHITECTURE </a:t>
            </a:r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D933C81D-25FB-D461-93BF-544D3230C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37A360A-88B4-F0C9-6B7B-0B710D4861D9}"/>
              </a:ext>
            </a:extLst>
          </p:cNvPr>
          <p:cNvSpPr/>
          <p:nvPr/>
        </p:nvSpPr>
        <p:spPr>
          <a:xfrm>
            <a:off x="944835" y="1187372"/>
            <a:ext cx="2246513" cy="5367065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39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64BF2-DD5C-8A0E-96C5-186A67EF5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AA2D3A3-F9A5-9CF2-F971-5BD4153057A9}"/>
              </a:ext>
            </a:extLst>
          </p:cNvPr>
          <p:cNvSpPr/>
          <p:nvPr/>
        </p:nvSpPr>
        <p:spPr>
          <a:xfrm>
            <a:off x="413986" y="1142834"/>
            <a:ext cx="11465440" cy="5466944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ED0353B-5098-0C5B-B3AB-367F014F07ED}"/>
              </a:ext>
            </a:extLst>
          </p:cNvPr>
          <p:cNvSpPr/>
          <p:nvPr/>
        </p:nvSpPr>
        <p:spPr>
          <a:xfrm>
            <a:off x="12657328" y="1453577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3535D75-292E-3CEF-C142-F0AFDD55968C}"/>
              </a:ext>
            </a:extLst>
          </p:cNvPr>
          <p:cNvSpPr/>
          <p:nvPr/>
        </p:nvSpPr>
        <p:spPr>
          <a:xfrm>
            <a:off x="-5957482" y="818628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08A265D-7CAE-4728-FC10-273E3E99C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4"/>
          <a:stretch>
            <a:fillRect/>
          </a:stretch>
        </p:blipFill>
        <p:spPr>
          <a:xfrm>
            <a:off x="12043268" y="-3664211"/>
            <a:ext cx="4092358" cy="24620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95626B3-133B-DFD1-653E-92C20321B59B}"/>
              </a:ext>
            </a:extLst>
          </p:cNvPr>
          <p:cNvSpPr/>
          <p:nvPr/>
        </p:nvSpPr>
        <p:spPr>
          <a:xfrm>
            <a:off x="14375757" y="-224222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D2D0B9-C909-C9BF-8A36-377C831875D5}"/>
              </a:ext>
            </a:extLst>
          </p:cNvPr>
          <p:cNvSpPr/>
          <p:nvPr/>
        </p:nvSpPr>
        <p:spPr>
          <a:xfrm>
            <a:off x="1256482" y="7695499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79A8CF-E385-3B39-D412-E2BC0F6D8B50}"/>
              </a:ext>
            </a:extLst>
          </p:cNvPr>
          <p:cNvSpPr/>
          <p:nvPr/>
        </p:nvSpPr>
        <p:spPr>
          <a:xfrm>
            <a:off x="250859" y="-6380134"/>
            <a:ext cx="12406469" cy="5431847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6CCD10D-97C8-A4EB-7A8A-EE61E4A69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78076" y="4046739"/>
            <a:ext cx="6128467" cy="423902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04656E3-31BE-776F-ED1C-F3816C66FD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667" y="1701258"/>
            <a:ext cx="4501016" cy="48108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A941AA-F93F-8B06-EC28-F172BDF504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6" r="12470"/>
          <a:stretch>
            <a:fillRect/>
          </a:stretch>
        </p:blipFill>
        <p:spPr>
          <a:xfrm>
            <a:off x="-6765369" y="4678661"/>
            <a:ext cx="5479315" cy="4968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E44DCC-F555-A2DC-024A-F5AC9FB700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2226" y="1502655"/>
            <a:ext cx="4625374" cy="50171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495C369-3895-DD28-9D63-F034CD4937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01814" y="5309495"/>
            <a:ext cx="6393365" cy="49465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39A8EF-2EDC-DD84-E983-3DA89366F4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4621" y="1502655"/>
            <a:ext cx="4959454" cy="500724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0DF655B-EB0D-B1A2-B324-E7906469111A}"/>
              </a:ext>
            </a:extLst>
          </p:cNvPr>
          <p:cNvGrpSpPr/>
          <p:nvPr/>
        </p:nvGrpSpPr>
        <p:grpSpPr>
          <a:xfrm>
            <a:off x="6678954" y="7278874"/>
            <a:ext cx="7478648" cy="3960897"/>
            <a:chOff x="3647786" y="1448551"/>
            <a:chExt cx="7478648" cy="396089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518F6FE-CF80-61D9-D2E0-63796B16D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6844" t="5513" r="8358" b="7816"/>
            <a:stretch>
              <a:fillRect/>
            </a:stretch>
          </p:blipFill>
          <p:spPr>
            <a:xfrm>
              <a:off x="3817627" y="1448551"/>
              <a:ext cx="7142659" cy="3960897"/>
            </a:xfrm>
            <a:prstGeom prst="rect">
              <a:avLst/>
            </a:prstGeom>
          </p:spPr>
        </p:pic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671AA5C0-8671-3DAA-F73A-051AD175BF38}"/>
                </a:ext>
              </a:extLst>
            </p:cNvPr>
            <p:cNvSpPr/>
            <p:nvPr/>
          </p:nvSpPr>
          <p:spPr>
            <a:xfrm rot="10800000">
              <a:off x="3651477" y="3822699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4E6BC242-B38B-4D81-E2E1-126EC62F8608}"/>
                </a:ext>
              </a:extLst>
            </p:cNvPr>
            <p:cNvSpPr/>
            <p:nvPr/>
          </p:nvSpPr>
          <p:spPr>
            <a:xfrm rot="10800000">
              <a:off x="3647786" y="23325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AB6A8D1B-EDDB-0AFF-B1BB-D2287B4CD4B5}"/>
                </a:ext>
              </a:extLst>
            </p:cNvPr>
            <p:cNvSpPr/>
            <p:nvPr/>
          </p:nvSpPr>
          <p:spPr>
            <a:xfrm>
              <a:off x="10794137" y="31199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7F70B17F-BD72-D1CC-3134-34D791BFE5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6" r="3903" b="3050"/>
          <a:stretch>
            <a:fillRect/>
          </a:stretch>
        </p:blipFill>
        <p:spPr>
          <a:xfrm>
            <a:off x="2029097" y="1502655"/>
            <a:ext cx="8589130" cy="47330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17DCFFE-BC3B-B7E8-117A-F50CF8279836}"/>
              </a:ext>
            </a:extLst>
          </p:cNvPr>
          <p:cNvSpPr/>
          <p:nvPr/>
        </p:nvSpPr>
        <p:spPr>
          <a:xfrm>
            <a:off x="10618228" y="1137872"/>
            <a:ext cx="881220" cy="5367065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EE3C3190-A08F-3499-3E27-281F8E730A6A}"/>
              </a:ext>
            </a:extLst>
          </p:cNvPr>
          <p:cNvSpPr txBox="1"/>
          <p:nvPr/>
        </p:nvSpPr>
        <p:spPr>
          <a:xfrm>
            <a:off x="391980" y="417863"/>
            <a:ext cx="10353257" cy="478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  <a:ea typeface="Public Sans Bold"/>
                <a:cs typeface="Public Sans Bold"/>
                <a:sym typeface="Public Sans Bold"/>
              </a:rPr>
              <a:t>CXL CONTROLLER ARCHITECTURE </a:t>
            </a:r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DCFBE1B1-94B8-2427-26AF-0BCBC0CEB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98DDC3A-97FF-9891-0E36-1010B3A2B69F}"/>
              </a:ext>
            </a:extLst>
          </p:cNvPr>
          <p:cNvSpPr/>
          <p:nvPr/>
        </p:nvSpPr>
        <p:spPr>
          <a:xfrm>
            <a:off x="944835" y="1187372"/>
            <a:ext cx="5494065" cy="5367065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86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706D3-852D-D9BD-67D2-1244EF771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9F0C4B-F348-D6DA-E46C-CA83958750C2}"/>
              </a:ext>
            </a:extLst>
          </p:cNvPr>
          <p:cNvSpPr txBox="1"/>
          <p:nvPr/>
        </p:nvSpPr>
        <p:spPr>
          <a:xfrm>
            <a:off x="281685" y="177749"/>
            <a:ext cx="1037306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CXL-DRIVEN PAGE AND WORD ACCESS COUNTING: HARDWARE</a:t>
            </a:r>
            <a:endParaRPr lang="en-GB" sz="28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  <a:p>
            <a:pPr algn="ctr"/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933EF7-6300-CD68-3C44-1FAD486F15AB}"/>
              </a:ext>
            </a:extLst>
          </p:cNvPr>
          <p:cNvSpPr txBox="1"/>
          <p:nvPr/>
        </p:nvSpPr>
        <p:spPr>
          <a:xfrm>
            <a:off x="285095" y="7869022"/>
            <a:ext cx="388050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50" b="1" dirty="0"/>
              <a:t>Problems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dirty="0">
                <a:ea typeface="+mn-lt"/>
                <a:cs typeface="+mn-lt"/>
              </a:rPr>
              <a:t>Does </a:t>
            </a:r>
            <a:r>
              <a:rPr lang="en-US" sz="1750" b="1" dirty="0">
                <a:ea typeface="+mn-lt"/>
                <a:cs typeface="+mn-lt"/>
              </a:rPr>
              <a:t>not capture all accesses</a:t>
            </a:r>
            <a:r>
              <a:rPr lang="en-US" sz="1750" dirty="0">
                <a:ea typeface="+mn-lt"/>
                <a:cs typeface="+mn-lt"/>
              </a:rPr>
              <a:t> (sampling-based → incomplete).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b="1" dirty="0">
                <a:ea typeface="+mn-lt"/>
                <a:cs typeface="+mn-lt"/>
              </a:rPr>
              <a:t>Frequent interrupts</a:t>
            </a:r>
            <a:r>
              <a:rPr lang="en-US" sz="1750" dirty="0">
                <a:ea typeface="+mn-lt"/>
                <a:cs typeface="+mn-lt"/>
              </a:rPr>
              <a:t> increase CPU overhead at high sampling rates.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b="1" dirty="0">
                <a:ea typeface="+mn-lt"/>
                <a:cs typeface="+mn-lt"/>
              </a:rPr>
              <a:t>Limited hardware support</a:t>
            </a:r>
            <a:r>
              <a:rPr lang="en-US" sz="1750" dirty="0">
                <a:ea typeface="+mn-lt"/>
                <a:cs typeface="+mn-lt"/>
              </a:rPr>
              <a:t> (e.g., Intel PEBS can’t sample CXL memory).</a:t>
            </a:r>
            <a:endParaRPr lang="en-GB" sz="1750" dirty="0"/>
          </a:p>
          <a:p>
            <a:endParaRPr lang="en-US" sz="1750" dirty="0"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3B3E3-39AB-8B12-4947-1CB270762B4D}"/>
              </a:ext>
            </a:extLst>
          </p:cNvPr>
          <p:cNvSpPr txBox="1"/>
          <p:nvPr/>
        </p:nvSpPr>
        <p:spPr>
          <a:xfrm>
            <a:off x="4625013" y="7891785"/>
            <a:ext cx="451052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Conclusions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Provides </a:t>
            </a:r>
            <a:r>
              <a:rPr lang="en-US" b="1" dirty="0">
                <a:ea typeface="+mn-lt"/>
                <a:cs typeface="+mn-lt"/>
              </a:rPr>
              <a:t>approximate hot-page detection</a:t>
            </a:r>
            <a:r>
              <a:rPr lang="en-US" dirty="0">
                <a:ea typeface="+mn-lt"/>
                <a:cs typeface="+mn-lt"/>
              </a:rPr>
              <a:t> with moderate accuracy.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Lower CPU cost than full PTE scanning, but </a:t>
            </a:r>
            <a:r>
              <a:rPr lang="en-US" b="1" dirty="0">
                <a:ea typeface="+mn-lt"/>
                <a:cs typeface="+mn-lt"/>
              </a:rPr>
              <a:t>less precise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Good tradeoff for </a:t>
            </a:r>
            <a:r>
              <a:rPr lang="en-US" b="1" dirty="0">
                <a:ea typeface="+mn-lt"/>
                <a:cs typeface="+mn-lt"/>
              </a:rPr>
              <a:t>large-memory workloads</a:t>
            </a:r>
            <a:r>
              <a:rPr lang="en-US" dirty="0">
                <a:ea typeface="+mn-lt"/>
                <a:cs typeface="+mn-lt"/>
              </a:rPr>
              <a:t> where full tracking is expensive.</a:t>
            </a:r>
            <a:endParaRPr lang="en-GB" dirty="0"/>
          </a:p>
          <a:p>
            <a:endParaRPr lang="en-US" dirty="0"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D5D632-0BCA-ED93-D0EA-F434D0B0801A}"/>
              </a:ext>
            </a:extLst>
          </p:cNvPr>
          <p:cNvSpPr txBox="1"/>
          <p:nvPr/>
        </p:nvSpPr>
        <p:spPr>
          <a:xfrm>
            <a:off x="9392580" y="7866121"/>
            <a:ext cx="2651521" cy="2551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Examples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Intel </a:t>
            </a:r>
            <a:r>
              <a:rPr lang="en-US" b="1" dirty="0">
                <a:ea typeface="+mn-lt"/>
                <a:cs typeface="+mn-lt"/>
              </a:rPr>
              <a:t>Processor Event-Based Sampling (PEBS)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Used in </a:t>
            </a:r>
            <a:r>
              <a:rPr lang="en-US" b="1" dirty="0">
                <a:ea typeface="+mn-lt"/>
                <a:cs typeface="+mn-lt"/>
              </a:rPr>
              <a:t>memory-tiering systems</a:t>
            </a:r>
            <a:r>
              <a:rPr lang="en-US" dirty="0">
                <a:ea typeface="+mn-lt"/>
                <a:cs typeface="+mn-lt"/>
              </a:rPr>
              <a:t> to monitor access frequency.</a:t>
            </a:r>
            <a:endParaRPr lang="en-GB" dirty="0"/>
          </a:p>
          <a:p>
            <a:pPr>
              <a:lnSpc>
                <a:spcPts val="1875"/>
              </a:lnSpc>
            </a:pPr>
            <a:endParaRPr lang="en-US" dirty="0">
              <a:cs typeface="Segoe UI"/>
            </a:endParaRPr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8B5DA85C-A710-9C2D-260C-8A3424BD1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73BB468B-DAAC-F5AA-EB27-D7A4523D7F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" r="30941" b="47965"/>
          <a:stretch>
            <a:fillRect/>
          </a:stretch>
        </p:blipFill>
        <p:spPr>
          <a:xfrm>
            <a:off x="-14079428" y="1514831"/>
            <a:ext cx="10503651" cy="1307353"/>
          </a:xfrm>
          <a:prstGeom prst="rect">
            <a:avLst/>
          </a:prstGeom>
        </p:spPr>
      </p:pic>
      <p:pic>
        <p:nvPicPr>
          <p:cNvPr id="4" name="Picture 3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A0D5D69B-F9EF-A12C-D5CD-1E9050E69F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229" t="-4381" r="90" b="47965"/>
          <a:stretch>
            <a:fillRect/>
          </a:stretch>
        </p:blipFill>
        <p:spPr>
          <a:xfrm>
            <a:off x="-6078734" y="2601954"/>
            <a:ext cx="1602009" cy="1307353"/>
          </a:xfrm>
          <a:prstGeom prst="rect">
            <a:avLst/>
          </a:prstGeom>
        </p:spPr>
      </p:pic>
      <p:pic>
        <p:nvPicPr>
          <p:cNvPr id="14" name="Picture 13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8BE7D32E-84A1-36DA-C3B8-FD14E14D05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705" r="15279" b="47965"/>
          <a:stretch>
            <a:fillRect/>
          </a:stretch>
        </p:blipFill>
        <p:spPr>
          <a:xfrm>
            <a:off x="-4223242" y="2543651"/>
            <a:ext cx="1415290" cy="156965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14A166-174A-D96B-CE5E-24D0260721E6}"/>
              </a:ext>
            </a:extLst>
          </p:cNvPr>
          <p:cNvCxnSpPr>
            <a:cxnSpLocks/>
          </p:cNvCxnSpPr>
          <p:nvPr/>
        </p:nvCxnSpPr>
        <p:spPr>
          <a:xfrm flipH="1">
            <a:off x="-4530868" y="3308683"/>
            <a:ext cx="30762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C662C66-FB82-DD8F-5CB6-549DE105030D}"/>
              </a:ext>
            </a:extLst>
          </p:cNvPr>
          <p:cNvCxnSpPr>
            <a:cxnSpLocks/>
          </p:cNvCxnSpPr>
          <p:nvPr/>
        </p:nvCxnSpPr>
        <p:spPr>
          <a:xfrm>
            <a:off x="-3744168" y="2569353"/>
            <a:ext cx="0" cy="27853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6F4CD44A-5940-3BAC-A87F-F5D0207FDC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2" b="12714"/>
          <a:stretch>
            <a:fillRect/>
          </a:stretch>
        </p:blipFill>
        <p:spPr>
          <a:xfrm>
            <a:off x="684552" y="1360461"/>
            <a:ext cx="10817632" cy="55745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11FE37F-9E1B-EFBA-F62E-125A7A7707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44893" y="12170467"/>
            <a:ext cx="7934325" cy="50482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0CE8BD-98C8-567C-09D6-8B181F0238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67108" y="7680046"/>
            <a:ext cx="52850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69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5F1E8-0E4F-1D17-4443-31E2FB4CA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43168C9-8119-39F5-F2EE-EA31A4650A5F}"/>
              </a:ext>
            </a:extLst>
          </p:cNvPr>
          <p:cNvSpPr/>
          <p:nvPr/>
        </p:nvSpPr>
        <p:spPr>
          <a:xfrm>
            <a:off x="413986" y="1142834"/>
            <a:ext cx="11465440" cy="5466944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86C3267-CAFF-E3D5-5052-07989B25C1EF}"/>
              </a:ext>
            </a:extLst>
          </p:cNvPr>
          <p:cNvSpPr/>
          <p:nvPr/>
        </p:nvSpPr>
        <p:spPr>
          <a:xfrm>
            <a:off x="12657328" y="1453577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C044D8E-D914-A638-C055-A5EE31215A64}"/>
              </a:ext>
            </a:extLst>
          </p:cNvPr>
          <p:cNvSpPr/>
          <p:nvPr/>
        </p:nvSpPr>
        <p:spPr>
          <a:xfrm>
            <a:off x="-5957482" y="818628"/>
            <a:ext cx="5490248" cy="5156201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8C59742-8576-1339-A51A-787C0F387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4"/>
          <a:stretch>
            <a:fillRect/>
          </a:stretch>
        </p:blipFill>
        <p:spPr>
          <a:xfrm>
            <a:off x="12043268" y="-3664211"/>
            <a:ext cx="4092358" cy="24620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655E897-45CD-CE17-43C7-2B6F744F3EF3}"/>
              </a:ext>
            </a:extLst>
          </p:cNvPr>
          <p:cNvSpPr/>
          <p:nvPr/>
        </p:nvSpPr>
        <p:spPr>
          <a:xfrm>
            <a:off x="14375757" y="-224222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5C597E-2655-1D0A-F387-F0F776809A61}"/>
              </a:ext>
            </a:extLst>
          </p:cNvPr>
          <p:cNvSpPr/>
          <p:nvPr/>
        </p:nvSpPr>
        <p:spPr>
          <a:xfrm>
            <a:off x="-10795783" y="-1697316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9F32DD-F952-60E8-3BCE-2D88E649E45D}"/>
              </a:ext>
            </a:extLst>
          </p:cNvPr>
          <p:cNvSpPr/>
          <p:nvPr/>
        </p:nvSpPr>
        <p:spPr>
          <a:xfrm>
            <a:off x="1256482" y="7695499"/>
            <a:ext cx="844360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ADAEB830-79F9-1773-DFBB-DC8468596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37B5113-7F3A-3CA5-425F-DC68CD12D571}"/>
              </a:ext>
            </a:extLst>
          </p:cNvPr>
          <p:cNvSpPr/>
          <p:nvPr/>
        </p:nvSpPr>
        <p:spPr>
          <a:xfrm>
            <a:off x="250859" y="-6380134"/>
            <a:ext cx="12406469" cy="5431847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1A691CBC-DB4C-17ED-D822-F66FE57147B0}"/>
              </a:ext>
            </a:extLst>
          </p:cNvPr>
          <p:cNvSpPr txBox="1"/>
          <p:nvPr/>
        </p:nvSpPr>
        <p:spPr>
          <a:xfrm>
            <a:off x="391980" y="417863"/>
            <a:ext cx="10353257" cy="478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  <a:ea typeface="Public Sans Bold"/>
                <a:cs typeface="Public Sans Bold"/>
                <a:sym typeface="Public Sans Bold"/>
              </a:rPr>
              <a:t>CXL CONTROLLER ARCHITECTURE 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D2C8DEF-3CDB-C798-41FE-9E42DE7E7E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78076" y="4046739"/>
            <a:ext cx="6128467" cy="423902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D693636-698E-A82F-54B2-B5E3421B15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667" y="1701258"/>
            <a:ext cx="4501016" cy="48108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A897DB-F64C-E8DB-2AC7-B391BB45D8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6" r="12470"/>
          <a:stretch>
            <a:fillRect/>
          </a:stretch>
        </p:blipFill>
        <p:spPr>
          <a:xfrm>
            <a:off x="-6765369" y="4678661"/>
            <a:ext cx="5479315" cy="4968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0D44F1-DE2C-ED2B-C0F6-55128265AC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2226" y="1502655"/>
            <a:ext cx="4625374" cy="50171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F934E3F-7ECC-AC4D-27E5-4AC8F472A5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01814" y="5309495"/>
            <a:ext cx="6393365" cy="49465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73CB49-10AF-AE23-CCAD-333DE34137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4621" y="1502655"/>
            <a:ext cx="4959454" cy="500724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FFE490B-5A5C-238E-1CA3-A0680BC3B9A3}"/>
              </a:ext>
            </a:extLst>
          </p:cNvPr>
          <p:cNvGrpSpPr/>
          <p:nvPr/>
        </p:nvGrpSpPr>
        <p:grpSpPr>
          <a:xfrm>
            <a:off x="6678954" y="7278874"/>
            <a:ext cx="7478648" cy="3960897"/>
            <a:chOff x="3647786" y="1448551"/>
            <a:chExt cx="7478648" cy="396089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93DFFA0-264F-3129-A428-6391CD426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6844" t="5513" r="8358" b="7816"/>
            <a:stretch>
              <a:fillRect/>
            </a:stretch>
          </p:blipFill>
          <p:spPr>
            <a:xfrm>
              <a:off x="3817627" y="1448551"/>
              <a:ext cx="7142659" cy="3960897"/>
            </a:xfrm>
            <a:prstGeom prst="rect">
              <a:avLst/>
            </a:prstGeom>
          </p:spPr>
        </p:pic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97404335-B82F-D8A3-DB4F-B9B66AEB9B59}"/>
                </a:ext>
              </a:extLst>
            </p:cNvPr>
            <p:cNvSpPr/>
            <p:nvPr/>
          </p:nvSpPr>
          <p:spPr>
            <a:xfrm rot="10800000">
              <a:off x="3651477" y="3822699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3EEB84AC-FC89-BF03-462E-26A89A871B86}"/>
                </a:ext>
              </a:extLst>
            </p:cNvPr>
            <p:cNvSpPr/>
            <p:nvPr/>
          </p:nvSpPr>
          <p:spPr>
            <a:xfrm rot="10800000">
              <a:off x="3647786" y="23325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27D2FA67-4074-B570-EA7E-4E35B3C6EECA}"/>
                </a:ext>
              </a:extLst>
            </p:cNvPr>
            <p:cNvSpPr/>
            <p:nvPr/>
          </p:nvSpPr>
          <p:spPr>
            <a:xfrm>
              <a:off x="10794137" y="3119965"/>
              <a:ext cx="332297" cy="245534"/>
            </a:xfrm>
            <a:prstGeom prst="rightArrow">
              <a:avLst/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0D51E3-5EA5-0C95-7BA5-F2154BBC3BB4}"/>
              </a:ext>
            </a:extLst>
          </p:cNvPr>
          <p:cNvSpPr/>
          <p:nvPr/>
        </p:nvSpPr>
        <p:spPr>
          <a:xfrm>
            <a:off x="-4318000" y="1502655"/>
            <a:ext cx="2400300" cy="4733045"/>
          </a:xfrm>
          <a:prstGeom prst="roundRect">
            <a:avLst>
              <a:gd name="adj" fmla="val 4416"/>
            </a:avLst>
          </a:prstGeom>
          <a:solidFill>
            <a:srgbClr val="B2A4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1ECD19-4003-48B1-C55F-CF89C7CBF14D}"/>
              </a:ext>
            </a:extLst>
          </p:cNvPr>
          <p:cNvSpPr txBox="1"/>
          <p:nvPr/>
        </p:nvSpPr>
        <p:spPr>
          <a:xfrm>
            <a:off x="-4222984" y="3047445"/>
            <a:ext cx="239418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spc="562" dirty="0">
                <a:solidFill>
                  <a:schemeClr val="bg1"/>
                </a:solidFill>
                <a:latin typeface="Aptos Narrow" panose="020B0004020202020204" pitchFamily="34" charset="0"/>
              </a:rPr>
              <a:t>Host Integrated Memory controller (IMC)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6E34F2-E59F-72C5-45E9-7DE9D7C61A4A}"/>
              </a:ext>
            </a:extLst>
          </p:cNvPr>
          <p:cNvSpPr/>
          <p:nvPr/>
        </p:nvSpPr>
        <p:spPr>
          <a:xfrm>
            <a:off x="12692650" y="1509783"/>
            <a:ext cx="2400300" cy="4733045"/>
          </a:xfrm>
          <a:prstGeom prst="roundRect">
            <a:avLst>
              <a:gd name="adj" fmla="val 4416"/>
            </a:avLst>
          </a:prstGeom>
          <a:solidFill>
            <a:srgbClr val="B2A4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BD4163-20CD-D749-5457-B8520A8BF1F0}"/>
              </a:ext>
            </a:extLst>
          </p:cNvPr>
          <p:cNvSpPr txBox="1"/>
          <p:nvPr/>
        </p:nvSpPr>
        <p:spPr>
          <a:xfrm>
            <a:off x="13024107" y="3669122"/>
            <a:ext cx="2394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562" dirty="0">
                <a:solidFill>
                  <a:schemeClr val="bg1"/>
                </a:solidFill>
                <a:latin typeface="Aptos Narrow" panose="020B0004020202020204" pitchFamily="34" charset="0"/>
              </a:rPr>
              <a:t>CXL DRAM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301639-FDDA-BE10-FC66-F3E1927866F3}"/>
              </a:ext>
            </a:extLst>
          </p:cNvPr>
          <p:cNvSpPr/>
          <p:nvPr/>
        </p:nvSpPr>
        <p:spPr>
          <a:xfrm>
            <a:off x="12567360" y="1142834"/>
            <a:ext cx="8443609" cy="5367065"/>
          </a:xfrm>
          <a:prstGeom prst="rect">
            <a:avLst/>
          </a:prstGeom>
          <a:solidFill>
            <a:srgbClr val="DDD6B7">
              <a:alpha val="65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3DFE462-05AA-5EE7-18DF-B86A9C9AF61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071" y="1487856"/>
            <a:ext cx="8346963" cy="476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037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978A3-BCBC-0D1D-59CE-603F0D1D8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440D52-FA93-F58E-C001-16A0E493DD42}"/>
              </a:ext>
            </a:extLst>
          </p:cNvPr>
          <p:cNvSpPr txBox="1"/>
          <p:nvPr/>
        </p:nvSpPr>
        <p:spPr>
          <a:xfrm>
            <a:off x="281685" y="177749"/>
            <a:ext cx="1037306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CXL-DRIVEN PAGE AND WORD ACCESS COUNTING: SOFTWARE</a:t>
            </a:r>
            <a:endParaRPr lang="en-GB" sz="28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  <a:p>
            <a:pPr algn="ctr"/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68A60E-7781-EF4F-C8F8-D5A42FDABE5F}"/>
              </a:ext>
            </a:extLst>
          </p:cNvPr>
          <p:cNvSpPr txBox="1"/>
          <p:nvPr/>
        </p:nvSpPr>
        <p:spPr>
          <a:xfrm>
            <a:off x="285095" y="7869022"/>
            <a:ext cx="388050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50" b="1" dirty="0"/>
              <a:t>Problems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dirty="0">
                <a:ea typeface="+mn-lt"/>
                <a:cs typeface="+mn-lt"/>
              </a:rPr>
              <a:t>Does </a:t>
            </a:r>
            <a:r>
              <a:rPr lang="en-US" sz="1750" b="1" dirty="0">
                <a:ea typeface="+mn-lt"/>
                <a:cs typeface="+mn-lt"/>
              </a:rPr>
              <a:t>not capture all accesses</a:t>
            </a:r>
            <a:r>
              <a:rPr lang="en-US" sz="1750" dirty="0">
                <a:ea typeface="+mn-lt"/>
                <a:cs typeface="+mn-lt"/>
              </a:rPr>
              <a:t> (sampling-based → incomplete).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b="1" dirty="0">
                <a:ea typeface="+mn-lt"/>
                <a:cs typeface="+mn-lt"/>
              </a:rPr>
              <a:t>Frequent interrupts</a:t>
            </a:r>
            <a:r>
              <a:rPr lang="en-US" sz="1750" dirty="0">
                <a:ea typeface="+mn-lt"/>
                <a:cs typeface="+mn-lt"/>
              </a:rPr>
              <a:t> increase CPU overhead at high sampling rates.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b="1" dirty="0">
                <a:ea typeface="+mn-lt"/>
                <a:cs typeface="+mn-lt"/>
              </a:rPr>
              <a:t>Limited hardware support</a:t>
            </a:r>
            <a:r>
              <a:rPr lang="en-US" sz="1750" dirty="0">
                <a:ea typeface="+mn-lt"/>
                <a:cs typeface="+mn-lt"/>
              </a:rPr>
              <a:t> (e.g., Intel PEBS can’t sample CXL memory).</a:t>
            </a:r>
            <a:endParaRPr lang="en-GB" sz="1750" dirty="0"/>
          </a:p>
          <a:p>
            <a:endParaRPr lang="en-US" sz="1750" dirty="0"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2B07CC-C87B-5458-45B0-A0DB244E26AC}"/>
              </a:ext>
            </a:extLst>
          </p:cNvPr>
          <p:cNvSpPr txBox="1"/>
          <p:nvPr/>
        </p:nvSpPr>
        <p:spPr>
          <a:xfrm>
            <a:off x="4625013" y="7891785"/>
            <a:ext cx="451052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Conclusions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Provides </a:t>
            </a:r>
            <a:r>
              <a:rPr lang="en-US" b="1" dirty="0">
                <a:ea typeface="+mn-lt"/>
                <a:cs typeface="+mn-lt"/>
              </a:rPr>
              <a:t>approximate hot-page detection</a:t>
            </a:r>
            <a:r>
              <a:rPr lang="en-US" dirty="0">
                <a:ea typeface="+mn-lt"/>
                <a:cs typeface="+mn-lt"/>
              </a:rPr>
              <a:t> with moderate accuracy.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Lower CPU cost than full PTE scanning, but </a:t>
            </a:r>
            <a:r>
              <a:rPr lang="en-US" b="1" dirty="0">
                <a:ea typeface="+mn-lt"/>
                <a:cs typeface="+mn-lt"/>
              </a:rPr>
              <a:t>less precise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Good tradeoff for </a:t>
            </a:r>
            <a:r>
              <a:rPr lang="en-US" b="1" dirty="0">
                <a:ea typeface="+mn-lt"/>
                <a:cs typeface="+mn-lt"/>
              </a:rPr>
              <a:t>large-memory workloads</a:t>
            </a:r>
            <a:r>
              <a:rPr lang="en-US" dirty="0">
                <a:ea typeface="+mn-lt"/>
                <a:cs typeface="+mn-lt"/>
              </a:rPr>
              <a:t> where full tracking is expensive.</a:t>
            </a:r>
            <a:endParaRPr lang="en-GB" dirty="0"/>
          </a:p>
          <a:p>
            <a:endParaRPr lang="en-US" dirty="0"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FC257-04BD-27C4-9B60-1771E2795FE2}"/>
              </a:ext>
            </a:extLst>
          </p:cNvPr>
          <p:cNvSpPr txBox="1"/>
          <p:nvPr/>
        </p:nvSpPr>
        <p:spPr>
          <a:xfrm>
            <a:off x="9392580" y="7866121"/>
            <a:ext cx="2651521" cy="2551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Examples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Intel </a:t>
            </a:r>
            <a:r>
              <a:rPr lang="en-US" b="1" dirty="0">
                <a:ea typeface="+mn-lt"/>
                <a:cs typeface="+mn-lt"/>
              </a:rPr>
              <a:t>Processor Event-Based Sampling (PEBS)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Used in </a:t>
            </a:r>
            <a:r>
              <a:rPr lang="en-US" b="1" dirty="0">
                <a:ea typeface="+mn-lt"/>
                <a:cs typeface="+mn-lt"/>
              </a:rPr>
              <a:t>memory-tiering systems</a:t>
            </a:r>
            <a:r>
              <a:rPr lang="en-US" dirty="0">
                <a:ea typeface="+mn-lt"/>
                <a:cs typeface="+mn-lt"/>
              </a:rPr>
              <a:t> to monitor access frequency.</a:t>
            </a:r>
            <a:endParaRPr lang="en-GB" dirty="0"/>
          </a:p>
          <a:p>
            <a:pPr>
              <a:lnSpc>
                <a:spcPts val="1875"/>
              </a:lnSpc>
            </a:pPr>
            <a:endParaRPr lang="en-US" dirty="0">
              <a:cs typeface="Segoe UI"/>
            </a:endParaRPr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0C5132FF-F3C6-EE3F-C0E0-D7779583C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FE887280-34DC-30FA-74B3-B116BCB87C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" r="30941" b="47965"/>
          <a:stretch>
            <a:fillRect/>
          </a:stretch>
        </p:blipFill>
        <p:spPr>
          <a:xfrm>
            <a:off x="-14079428" y="1514831"/>
            <a:ext cx="10503651" cy="1307353"/>
          </a:xfrm>
          <a:prstGeom prst="rect">
            <a:avLst/>
          </a:prstGeom>
        </p:spPr>
      </p:pic>
      <p:pic>
        <p:nvPicPr>
          <p:cNvPr id="4" name="Picture 3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8497F95D-D53F-EBDA-1FD7-0837F8F073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229" t="-4381" r="90" b="47965"/>
          <a:stretch>
            <a:fillRect/>
          </a:stretch>
        </p:blipFill>
        <p:spPr>
          <a:xfrm>
            <a:off x="-6078734" y="2601954"/>
            <a:ext cx="1602009" cy="1307353"/>
          </a:xfrm>
          <a:prstGeom prst="rect">
            <a:avLst/>
          </a:prstGeom>
        </p:spPr>
      </p:pic>
      <p:pic>
        <p:nvPicPr>
          <p:cNvPr id="14" name="Picture 13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91BD07EF-9E4C-15C3-B5D0-5B97696595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705" r="15279" b="47965"/>
          <a:stretch>
            <a:fillRect/>
          </a:stretch>
        </p:blipFill>
        <p:spPr>
          <a:xfrm>
            <a:off x="-4223242" y="2543651"/>
            <a:ext cx="1415290" cy="156965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930015-874B-B3B2-E67C-B777268AF9C4}"/>
              </a:ext>
            </a:extLst>
          </p:cNvPr>
          <p:cNvCxnSpPr>
            <a:cxnSpLocks/>
          </p:cNvCxnSpPr>
          <p:nvPr/>
        </p:nvCxnSpPr>
        <p:spPr>
          <a:xfrm flipH="1">
            <a:off x="-4530868" y="3308683"/>
            <a:ext cx="30762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C997492-3E41-C328-52F3-512C0CE8D761}"/>
              </a:ext>
            </a:extLst>
          </p:cNvPr>
          <p:cNvCxnSpPr>
            <a:cxnSpLocks/>
          </p:cNvCxnSpPr>
          <p:nvPr/>
        </p:nvCxnSpPr>
        <p:spPr>
          <a:xfrm>
            <a:off x="-3744168" y="2569353"/>
            <a:ext cx="0" cy="27853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7216F3C6-AB67-44D1-DD14-F38F207C38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2" b="12714"/>
          <a:stretch>
            <a:fillRect/>
          </a:stretch>
        </p:blipFill>
        <p:spPr>
          <a:xfrm>
            <a:off x="13097045" y="1122037"/>
            <a:ext cx="10817632" cy="55745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B978BA5-8C4F-41C2-99A2-643217BAA5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78"/>
          <a:stretch>
            <a:fillRect/>
          </a:stretch>
        </p:blipFill>
        <p:spPr>
          <a:xfrm>
            <a:off x="847385" y="1153837"/>
            <a:ext cx="10244743" cy="55745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66F5D6A-36CF-D71A-D681-51FC6CB92A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70135" y="6205190"/>
            <a:ext cx="52850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306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8804D-6709-B027-08CE-B8B146402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08642F-2988-E81F-B791-CAC48AAF268E}"/>
              </a:ext>
            </a:extLst>
          </p:cNvPr>
          <p:cNvSpPr txBox="1"/>
          <p:nvPr/>
        </p:nvSpPr>
        <p:spPr>
          <a:xfrm>
            <a:off x="281685" y="177749"/>
            <a:ext cx="1037306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CXL-DRIVEN PAGE AND WORD ACCESS COUNTING: SCALABILITY</a:t>
            </a:r>
            <a:endParaRPr lang="en-GB" sz="28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  <a:p>
            <a:pPr algn="ctr"/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B65B1C-7737-208A-CD0E-659095E2FA13}"/>
              </a:ext>
            </a:extLst>
          </p:cNvPr>
          <p:cNvSpPr txBox="1"/>
          <p:nvPr/>
        </p:nvSpPr>
        <p:spPr>
          <a:xfrm>
            <a:off x="285095" y="7869022"/>
            <a:ext cx="388050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50" b="1" dirty="0"/>
              <a:t>Problems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dirty="0">
                <a:ea typeface="+mn-lt"/>
                <a:cs typeface="+mn-lt"/>
              </a:rPr>
              <a:t>Does </a:t>
            </a:r>
            <a:r>
              <a:rPr lang="en-US" sz="1750" b="1" dirty="0">
                <a:ea typeface="+mn-lt"/>
                <a:cs typeface="+mn-lt"/>
              </a:rPr>
              <a:t>not capture all accesses</a:t>
            </a:r>
            <a:r>
              <a:rPr lang="en-US" sz="1750" dirty="0">
                <a:ea typeface="+mn-lt"/>
                <a:cs typeface="+mn-lt"/>
              </a:rPr>
              <a:t> (sampling-based → incomplete).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b="1" dirty="0">
                <a:ea typeface="+mn-lt"/>
                <a:cs typeface="+mn-lt"/>
              </a:rPr>
              <a:t>Frequent interrupts</a:t>
            </a:r>
            <a:r>
              <a:rPr lang="en-US" sz="1750" dirty="0">
                <a:ea typeface="+mn-lt"/>
                <a:cs typeface="+mn-lt"/>
              </a:rPr>
              <a:t> increase CPU overhead at high sampling rates.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b="1" dirty="0">
                <a:ea typeface="+mn-lt"/>
                <a:cs typeface="+mn-lt"/>
              </a:rPr>
              <a:t>Limited hardware support</a:t>
            </a:r>
            <a:r>
              <a:rPr lang="en-US" sz="1750" dirty="0">
                <a:ea typeface="+mn-lt"/>
                <a:cs typeface="+mn-lt"/>
              </a:rPr>
              <a:t> (e.g., Intel PEBS can’t sample CXL memory).</a:t>
            </a:r>
            <a:endParaRPr lang="en-GB" sz="1750" dirty="0"/>
          </a:p>
          <a:p>
            <a:endParaRPr lang="en-US" sz="1750" dirty="0"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F0C8A7-4394-F5CB-8B67-5858B330ADCF}"/>
              </a:ext>
            </a:extLst>
          </p:cNvPr>
          <p:cNvSpPr txBox="1"/>
          <p:nvPr/>
        </p:nvSpPr>
        <p:spPr>
          <a:xfrm>
            <a:off x="4625013" y="7891785"/>
            <a:ext cx="451052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Conclusions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Provides </a:t>
            </a:r>
            <a:r>
              <a:rPr lang="en-US" b="1" dirty="0">
                <a:ea typeface="+mn-lt"/>
                <a:cs typeface="+mn-lt"/>
              </a:rPr>
              <a:t>approximate hot-page detection</a:t>
            </a:r>
            <a:r>
              <a:rPr lang="en-US" dirty="0">
                <a:ea typeface="+mn-lt"/>
                <a:cs typeface="+mn-lt"/>
              </a:rPr>
              <a:t> with moderate accuracy.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Lower CPU cost than full PTE scanning, but </a:t>
            </a:r>
            <a:r>
              <a:rPr lang="en-US" b="1" dirty="0">
                <a:ea typeface="+mn-lt"/>
                <a:cs typeface="+mn-lt"/>
              </a:rPr>
              <a:t>less precise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Good tradeoff for </a:t>
            </a:r>
            <a:r>
              <a:rPr lang="en-US" b="1" dirty="0">
                <a:ea typeface="+mn-lt"/>
                <a:cs typeface="+mn-lt"/>
              </a:rPr>
              <a:t>large-memory workloads</a:t>
            </a:r>
            <a:r>
              <a:rPr lang="en-US" dirty="0">
                <a:ea typeface="+mn-lt"/>
                <a:cs typeface="+mn-lt"/>
              </a:rPr>
              <a:t> where full tracking is expensive.</a:t>
            </a:r>
            <a:endParaRPr lang="en-GB" dirty="0"/>
          </a:p>
          <a:p>
            <a:endParaRPr lang="en-US" dirty="0"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84964C-77AC-8864-632D-81D6D12CFC2F}"/>
              </a:ext>
            </a:extLst>
          </p:cNvPr>
          <p:cNvSpPr txBox="1"/>
          <p:nvPr/>
        </p:nvSpPr>
        <p:spPr>
          <a:xfrm>
            <a:off x="9392580" y="7866121"/>
            <a:ext cx="2651521" cy="2551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Examples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Intel </a:t>
            </a:r>
            <a:r>
              <a:rPr lang="en-US" b="1" dirty="0">
                <a:ea typeface="+mn-lt"/>
                <a:cs typeface="+mn-lt"/>
              </a:rPr>
              <a:t>Processor Event-Based Sampling (PEBS)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Used in </a:t>
            </a:r>
            <a:r>
              <a:rPr lang="en-US" b="1" dirty="0">
                <a:ea typeface="+mn-lt"/>
                <a:cs typeface="+mn-lt"/>
              </a:rPr>
              <a:t>memory-tiering systems</a:t>
            </a:r>
            <a:r>
              <a:rPr lang="en-US" dirty="0">
                <a:ea typeface="+mn-lt"/>
                <a:cs typeface="+mn-lt"/>
              </a:rPr>
              <a:t> to monitor access frequency.</a:t>
            </a:r>
            <a:endParaRPr lang="en-GB" dirty="0"/>
          </a:p>
          <a:p>
            <a:pPr>
              <a:lnSpc>
                <a:spcPts val="1875"/>
              </a:lnSpc>
            </a:pPr>
            <a:endParaRPr lang="en-US" dirty="0">
              <a:cs typeface="Segoe UI"/>
            </a:endParaRPr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2B80F847-A8D9-4216-6C16-A81ECD932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ECE6FF90-442F-1826-F06C-C4571B4C08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" r="30941" b="47965"/>
          <a:stretch>
            <a:fillRect/>
          </a:stretch>
        </p:blipFill>
        <p:spPr>
          <a:xfrm>
            <a:off x="-14079428" y="1514831"/>
            <a:ext cx="10503651" cy="1307353"/>
          </a:xfrm>
          <a:prstGeom prst="rect">
            <a:avLst/>
          </a:prstGeom>
        </p:spPr>
      </p:pic>
      <p:pic>
        <p:nvPicPr>
          <p:cNvPr id="4" name="Picture 3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34959947-6703-E8D5-0340-3B8F2BC06C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229" t="-4381" r="90" b="47965"/>
          <a:stretch>
            <a:fillRect/>
          </a:stretch>
        </p:blipFill>
        <p:spPr>
          <a:xfrm>
            <a:off x="-6078734" y="2601954"/>
            <a:ext cx="1602009" cy="1307353"/>
          </a:xfrm>
          <a:prstGeom prst="rect">
            <a:avLst/>
          </a:prstGeom>
        </p:spPr>
      </p:pic>
      <p:pic>
        <p:nvPicPr>
          <p:cNvPr id="14" name="Picture 13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C34E5775-44C6-08EF-7496-37FD332417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705" r="15279" b="47965"/>
          <a:stretch>
            <a:fillRect/>
          </a:stretch>
        </p:blipFill>
        <p:spPr>
          <a:xfrm>
            <a:off x="-4223242" y="2543651"/>
            <a:ext cx="1415290" cy="156965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B27DDD5-3751-54D0-C7E3-47D088236F2D}"/>
              </a:ext>
            </a:extLst>
          </p:cNvPr>
          <p:cNvCxnSpPr>
            <a:cxnSpLocks/>
          </p:cNvCxnSpPr>
          <p:nvPr/>
        </p:nvCxnSpPr>
        <p:spPr>
          <a:xfrm flipH="1">
            <a:off x="-4530868" y="3308683"/>
            <a:ext cx="30762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02DF97F-6FC5-CEE7-6C26-CA71CA37399E}"/>
              </a:ext>
            </a:extLst>
          </p:cNvPr>
          <p:cNvCxnSpPr>
            <a:cxnSpLocks/>
          </p:cNvCxnSpPr>
          <p:nvPr/>
        </p:nvCxnSpPr>
        <p:spPr>
          <a:xfrm>
            <a:off x="-3744168" y="2569353"/>
            <a:ext cx="0" cy="27853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9E0AB8B6-95FF-6B2F-732D-87A1E03BCA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2" b="12714"/>
          <a:stretch>
            <a:fillRect/>
          </a:stretch>
        </p:blipFill>
        <p:spPr>
          <a:xfrm>
            <a:off x="13097045" y="1122037"/>
            <a:ext cx="10817632" cy="55745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4549367-63B6-71AA-97A4-73A6B630F9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78"/>
          <a:stretch>
            <a:fillRect/>
          </a:stretch>
        </p:blipFill>
        <p:spPr>
          <a:xfrm>
            <a:off x="12555710" y="1225550"/>
            <a:ext cx="10244743" cy="55745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196351E-DF60-F5AC-14BA-EA24B368B2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84"/>
          <a:stretch>
            <a:fillRect/>
          </a:stretch>
        </p:blipFill>
        <p:spPr>
          <a:xfrm>
            <a:off x="4165600" y="1043204"/>
            <a:ext cx="5380855" cy="582442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A711614-A0B3-DC35-A1AC-A240E8F7EB63}"/>
              </a:ext>
            </a:extLst>
          </p:cNvPr>
          <p:cNvSpPr/>
          <p:nvPr/>
        </p:nvSpPr>
        <p:spPr>
          <a:xfrm>
            <a:off x="908572" y="7464030"/>
            <a:ext cx="1113552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9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3FC33-59F4-A346-8ED0-027B09D0A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639E6A7-DE37-7C3B-60DD-7F39C91FCBB2}"/>
              </a:ext>
            </a:extLst>
          </p:cNvPr>
          <p:cNvSpPr txBox="1"/>
          <p:nvPr/>
        </p:nvSpPr>
        <p:spPr>
          <a:xfrm>
            <a:off x="285095" y="7869022"/>
            <a:ext cx="388050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50" b="1" dirty="0"/>
              <a:t>Problems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dirty="0">
                <a:ea typeface="+mn-lt"/>
                <a:cs typeface="+mn-lt"/>
              </a:rPr>
              <a:t>Does </a:t>
            </a:r>
            <a:r>
              <a:rPr lang="en-US" sz="1750" b="1" dirty="0">
                <a:ea typeface="+mn-lt"/>
                <a:cs typeface="+mn-lt"/>
              </a:rPr>
              <a:t>not capture all accesses</a:t>
            </a:r>
            <a:r>
              <a:rPr lang="en-US" sz="1750" dirty="0">
                <a:ea typeface="+mn-lt"/>
                <a:cs typeface="+mn-lt"/>
              </a:rPr>
              <a:t> (sampling-based → incomplete).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b="1" dirty="0">
                <a:ea typeface="+mn-lt"/>
                <a:cs typeface="+mn-lt"/>
              </a:rPr>
              <a:t>Frequent interrupts</a:t>
            </a:r>
            <a:r>
              <a:rPr lang="en-US" sz="1750" dirty="0">
                <a:ea typeface="+mn-lt"/>
                <a:cs typeface="+mn-lt"/>
              </a:rPr>
              <a:t> increase CPU overhead at high sampling rates.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b="1" dirty="0">
                <a:ea typeface="+mn-lt"/>
                <a:cs typeface="+mn-lt"/>
              </a:rPr>
              <a:t>Limited hardware support</a:t>
            </a:r>
            <a:r>
              <a:rPr lang="en-US" sz="1750" dirty="0">
                <a:ea typeface="+mn-lt"/>
                <a:cs typeface="+mn-lt"/>
              </a:rPr>
              <a:t> (e.g., Intel PEBS can’t sample CXL memory).</a:t>
            </a:r>
            <a:endParaRPr lang="en-GB" sz="1750" dirty="0"/>
          </a:p>
          <a:p>
            <a:endParaRPr lang="en-US" sz="1750" dirty="0"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6D7A06-4AAD-DD03-8FFF-3473337D7E53}"/>
              </a:ext>
            </a:extLst>
          </p:cNvPr>
          <p:cNvSpPr txBox="1"/>
          <p:nvPr/>
        </p:nvSpPr>
        <p:spPr>
          <a:xfrm>
            <a:off x="4625013" y="7891785"/>
            <a:ext cx="451052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Conclusions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Provides </a:t>
            </a:r>
            <a:r>
              <a:rPr lang="en-US" b="1" dirty="0">
                <a:ea typeface="+mn-lt"/>
                <a:cs typeface="+mn-lt"/>
              </a:rPr>
              <a:t>approximate hot-page detection</a:t>
            </a:r>
            <a:r>
              <a:rPr lang="en-US" dirty="0">
                <a:ea typeface="+mn-lt"/>
                <a:cs typeface="+mn-lt"/>
              </a:rPr>
              <a:t> with moderate accuracy.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Lower CPU cost than full PTE scanning, but </a:t>
            </a:r>
            <a:r>
              <a:rPr lang="en-US" b="1" dirty="0">
                <a:ea typeface="+mn-lt"/>
                <a:cs typeface="+mn-lt"/>
              </a:rPr>
              <a:t>less precise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Good tradeoff for </a:t>
            </a:r>
            <a:r>
              <a:rPr lang="en-US" b="1" dirty="0">
                <a:ea typeface="+mn-lt"/>
                <a:cs typeface="+mn-lt"/>
              </a:rPr>
              <a:t>large-memory workloads</a:t>
            </a:r>
            <a:r>
              <a:rPr lang="en-US" dirty="0">
                <a:ea typeface="+mn-lt"/>
                <a:cs typeface="+mn-lt"/>
              </a:rPr>
              <a:t> where full tracking is expensive.</a:t>
            </a:r>
            <a:endParaRPr lang="en-GB" dirty="0"/>
          </a:p>
          <a:p>
            <a:endParaRPr lang="en-US" dirty="0"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789085-B5AD-8E96-06AF-699991F5113D}"/>
              </a:ext>
            </a:extLst>
          </p:cNvPr>
          <p:cNvSpPr txBox="1"/>
          <p:nvPr/>
        </p:nvSpPr>
        <p:spPr>
          <a:xfrm>
            <a:off x="9392580" y="7866121"/>
            <a:ext cx="2651521" cy="2551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Examples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Intel </a:t>
            </a:r>
            <a:r>
              <a:rPr lang="en-US" b="1" dirty="0">
                <a:ea typeface="+mn-lt"/>
                <a:cs typeface="+mn-lt"/>
              </a:rPr>
              <a:t>Processor Event-Based Sampling (PEBS)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Used in </a:t>
            </a:r>
            <a:r>
              <a:rPr lang="en-US" b="1" dirty="0">
                <a:ea typeface="+mn-lt"/>
                <a:cs typeface="+mn-lt"/>
              </a:rPr>
              <a:t>memory-tiering systems</a:t>
            </a:r>
            <a:r>
              <a:rPr lang="en-US" dirty="0">
                <a:ea typeface="+mn-lt"/>
                <a:cs typeface="+mn-lt"/>
              </a:rPr>
              <a:t> to monitor access frequency.</a:t>
            </a:r>
            <a:endParaRPr lang="en-GB" dirty="0"/>
          </a:p>
          <a:p>
            <a:pPr>
              <a:lnSpc>
                <a:spcPts val="1875"/>
              </a:lnSpc>
            </a:pPr>
            <a:endParaRPr lang="en-US" dirty="0">
              <a:cs typeface="Segoe UI"/>
            </a:endParaRPr>
          </a:p>
        </p:txBody>
      </p:sp>
      <p:pic>
        <p:nvPicPr>
          <p:cNvPr id="3" name="Picture 2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5115BD08-B48B-35A1-1F8D-0094323F30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" r="30941" b="47965"/>
          <a:stretch>
            <a:fillRect/>
          </a:stretch>
        </p:blipFill>
        <p:spPr>
          <a:xfrm>
            <a:off x="-14079428" y="1514831"/>
            <a:ext cx="10503651" cy="1307353"/>
          </a:xfrm>
          <a:prstGeom prst="rect">
            <a:avLst/>
          </a:prstGeom>
        </p:spPr>
      </p:pic>
      <p:pic>
        <p:nvPicPr>
          <p:cNvPr id="4" name="Picture 3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8CED2F83-B889-B062-27BA-D915C7898A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229" t="-4381" r="90" b="47965"/>
          <a:stretch>
            <a:fillRect/>
          </a:stretch>
        </p:blipFill>
        <p:spPr>
          <a:xfrm>
            <a:off x="-6078734" y="2601954"/>
            <a:ext cx="1602009" cy="1307353"/>
          </a:xfrm>
          <a:prstGeom prst="rect">
            <a:avLst/>
          </a:prstGeom>
        </p:spPr>
      </p:pic>
      <p:pic>
        <p:nvPicPr>
          <p:cNvPr id="14" name="Picture 13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58584DD5-FD81-6D34-B323-3BE02B10E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705" r="15279" b="47965"/>
          <a:stretch>
            <a:fillRect/>
          </a:stretch>
        </p:blipFill>
        <p:spPr>
          <a:xfrm>
            <a:off x="-4223242" y="2543651"/>
            <a:ext cx="1415290" cy="156965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789AF8-8387-92ED-9A62-1351C835F6DC}"/>
              </a:ext>
            </a:extLst>
          </p:cNvPr>
          <p:cNvCxnSpPr>
            <a:cxnSpLocks/>
          </p:cNvCxnSpPr>
          <p:nvPr/>
        </p:nvCxnSpPr>
        <p:spPr>
          <a:xfrm flipH="1">
            <a:off x="-4530868" y="3308683"/>
            <a:ext cx="30762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1ACDA1-67BF-ED2F-912E-D8FF8C7AFEC4}"/>
              </a:ext>
            </a:extLst>
          </p:cNvPr>
          <p:cNvCxnSpPr>
            <a:cxnSpLocks/>
          </p:cNvCxnSpPr>
          <p:nvPr/>
        </p:nvCxnSpPr>
        <p:spPr>
          <a:xfrm>
            <a:off x="-3744168" y="2569353"/>
            <a:ext cx="0" cy="27853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A8E955D-1E99-8BC2-34F7-06A1149565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2" b="12714"/>
          <a:stretch>
            <a:fillRect/>
          </a:stretch>
        </p:blipFill>
        <p:spPr>
          <a:xfrm>
            <a:off x="13097045" y="1122037"/>
            <a:ext cx="10817632" cy="55745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117CA76-1D52-6C30-E321-1B6007DB11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78"/>
          <a:stretch>
            <a:fillRect/>
          </a:stretch>
        </p:blipFill>
        <p:spPr>
          <a:xfrm>
            <a:off x="12555710" y="1225550"/>
            <a:ext cx="10244743" cy="55745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01FF23B-4E2E-AB29-31C0-8AF8A16727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84"/>
          <a:stretch>
            <a:fillRect/>
          </a:stretch>
        </p:blipFill>
        <p:spPr>
          <a:xfrm>
            <a:off x="1535657" y="1389093"/>
            <a:ext cx="10012467" cy="108378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2CFF5E-AACB-7BBE-10D3-EC3990FB2098}"/>
              </a:ext>
            </a:extLst>
          </p:cNvPr>
          <p:cNvSpPr/>
          <p:nvPr/>
        </p:nvSpPr>
        <p:spPr>
          <a:xfrm>
            <a:off x="771376" y="6230078"/>
            <a:ext cx="1113552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6B0366-5652-F080-5DCD-9D1841CA3ACB}"/>
              </a:ext>
            </a:extLst>
          </p:cNvPr>
          <p:cNvSpPr/>
          <p:nvPr/>
        </p:nvSpPr>
        <p:spPr>
          <a:xfrm>
            <a:off x="923776" y="-12138976"/>
            <a:ext cx="1113552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F6E4E1E5-15A5-E9E3-FD15-2BF9DF9FE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8DE964-C6C6-E694-47C1-ABF0F2FA7647}"/>
              </a:ext>
            </a:extLst>
          </p:cNvPr>
          <p:cNvSpPr txBox="1"/>
          <p:nvPr/>
        </p:nvSpPr>
        <p:spPr>
          <a:xfrm>
            <a:off x="281685" y="177749"/>
            <a:ext cx="1037306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CXL-DRIVEN PAGE AND WORD ACCESS COUNTING: SCALABILITY</a:t>
            </a:r>
            <a:endParaRPr lang="en-GB" sz="28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  <a:p>
            <a:pPr algn="ctr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123356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E65E7-9F96-2DD0-E356-23FC856EA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60D32EA-DE80-241F-4A00-94B56F850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84"/>
          <a:stretch>
            <a:fillRect/>
          </a:stretch>
        </p:blipFill>
        <p:spPr>
          <a:xfrm>
            <a:off x="2924272" y="-3546961"/>
            <a:ext cx="9684452" cy="1048278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7FFF86F-BDF0-E337-7983-D070874F07D0}"/>
              </a:ext>
            </a:extLst>
          </p:cNvPr>
          <p:cNvSpPr/>
          <p:nvPr/>
        </p:nvSpPr>
        <p:spPr>
          <a:xfrm>
            <a:off x="774786" y="-9674054"/>
            <a:ext cx="1113552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DA0334-F8A6-B8FE-C26D-8CB455B123EA}"/>
              </a:ext>
            </a:extLst>
          </p:cNvPr>
          <p:cNvSpPr txBox="1"/>
          <p:nvPr/>
        </p:nvSpPr>
        <p:spPr>
          <a:xfrm>
            <a:off x="285095" y="7869022"/>
            <a:ext cx="388050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50" b="1" dirty="0"/>
              <a:t>Problems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dirty="0">
                <a:ea typeface="+mn-lt"/>
                <a:cs typeface="+mn-lt"/>
              </a:rPr>
              <a:t>Does </a:t>
            </a:r>
            <a:r>
              <a:rPr lang="en-US" sz="1750" b="1" dirty="0">
                <a:ea typeface="+mn-lt"/>
                <a:cs typeface="+mn-lt"/>
              </a:rPr>
              <a:t>not capture all accesses</a:t>
            </a:r>
            <a:r>
              <a:rPr lang="en-US" sz="1750" dirty="0">
                <a:ea typeface="+mn-lt"/>
                <a:cs typeface="+mn-lt"/>
              </a:rPr>
              <a:t> (sampling-based → incomplete).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b="1" dirty="0">
                <a:ea typeface="+mn-lt"/>
                <a:cs typeface="+mn-lt"/>
              </a:rPr>
              <a:t>Frequent interrupts</a:t>
            </a:r>
            <a:r>
              <a:rPr lang="en-US" sz="1750" dirty="0">
                <a:ea typeface="+mn-lt"/>
                <a:cs typeface="+mn-lt"/>
              </a:rPr>
              <a:t> increase CPU overhead at high sampling rates.</a:t>
            </a:r>
            <a:endParaRPr lang="en-US" sz="1750" dirty="0"/>
          </a:p>
          <a:p>
            <a:pPr marL="285750" indent="-285750">
              <a:buFont typeface="Arial"/>
              <a:buChar char="•"/>
            </a:pPr>
            <a:r>
              <a:rPr lang="en-US" sz="1750" b="1" dirty="0">
                <a:ea typeface="+mn-lt"/>
                <a:cs typeface="+mn-lt"/>
              </a:rPr>
              <a:t>Limited hardware support</a:t>
            </a:r>
            <a:r>
              <a:rPr lang="en-US" sz="1750" dirty="0">
                <a:ea typeface="+mn-lt"/>
                <a:cs typeface="+mn-lt"/>
              </a:rPr>
              <a:t> (e.g., Intel PEBS can’t sample CXL memory).</a:t>
            </a:r>
            <a:endParaRPr lang="en-GB" sz="1750" dirty="0"/>
          </a:p>
          <a:p>
            <a:endParaRPr lang="en-US" sz="1750" dirty="0"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284751-8C80-6F3B-EF7E-48CA245998D9}"/>
              </a:ext>
            </a:extLst>
          </p:cNvPr>
          <p:cNvSpPr txBox="1"/>
          <p:nvPr/>
        </p:nvSpPr>
        <p:spPr>
          <a:xfrm>
            <a:off x="4625013" y="7891785"/>
            <a:ext cx="451052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Conclusions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Provides </a:t>
            </a:r>
            <a:r>
              <a:rPr lang="en-US" b="1" dirty="0">
                <a:ea typeface="+mn-lt"/>
                <a:cs typeface="+mn-lt"/>
              </a:rPr>
              <a:t>approximate hot-page detection</a:t>
            </a:r>
            <a:r>
              <a:rPr lang="en-US" dirty="0">
                <a:ea typeface="+mn-lt"/>
                <a:cs typeface="+mn-lt"/>
              </a:rPr>
              <a:t> with moderate accuracy.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Lower CPU cost than full PTE scanning, but </a:t>
            </a:r>
            <a:r>
              <a:rPr lang="en-US" b="1" dirty="0">
                <a:ea typeface="+mn-lt"/>
                <a:cs typeface="+mn-lt"/>
              </a:rPr>
              <a:t>less precise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Good tradeoff for </a:t>
            </a:r>
            <a:r>
              <a:rPr lang="en-US" b="1" dirty="0">
                <a:ea typeface="+mn-lt"/>
                <a:cs typeface="+mn-lt"/>
              </a:rPr>
              <a:t>large-memory workloads</a:t>
            </a:r>
            <a:r>
              <a:rPr lang="en-US" dirty="0">
                <a:ea typeface="+mn-lt"/>
                <a:cs typeface="+mn-lt"/>
              </a:rPr>
              <a:t> where full tracking is expensive.</a:t>
            </a:r>
            <a:endParaRPr lang="en-GB" dirty="0"/>
          </a:p>
          <a:p>
            <a:endParaRPr lang="en-US" dirty="0"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03E5D3-FD7A-4B86-497B-1AD67116FF7A}"/>
              </a:ext>
            </a:extLst>
          </p:cNvPr>
          <p:cNvSpPr txBox="1"/>
          <p:nvPr/>
        </p:nvSpPr>
        <p:spPr>
          <a:xfrm>
            <a:off x="9392580" y="7866121"/>
            <a:ext cx="2651521" cy="2551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Examples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Intel </a:t>
            </a:r>
            <a:r>
              <a:rPr lang="en-US" b="1" dirty="0">
                <a:ea typeface="+mn-lt"/>
                <a:cs typeface="+mn-lt"/>
              </a:rPr>
              <a:t>Processor Event-Based Sampling (PEBS)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Used in </a:t>
            </a:r>
            <a:r>
              <a:rPr lang="en-US" b="1" dirty="0">
                <a:ea typeface="+mn-lt"/>
                <a:cs typeface="+mn-lt"/>
              </a:rPr>
              <a:t>memory-tiering systems</a:t>
            </a:r>
            <a:r>
              <a:rPr lang="en-US" dirty="0">
                <a:ea typeface="+mn-lt"/>
                <a:cs typeface="+mn-lt"/>
              </a:rPr>
              <a:t> to monitor access frequency.</a:t>
            </a:r>
            <a:endParaRPr lang="en-GB" dirty="0"/>
          </a:p>
          <a:p>
            <a:pPr>
              <a:lnSpc>
                <a:spcPts val="1875"/>
              </a:lnSpc>
            </a:pPr>
            <a:endParaRPr lang="en-US" dirty="0">
              <a:cs typeface="Segoe UI"/>
            </a:endParaRPr>
          </a:p>
        </p:txBody>
      </p:sp>
      <p:pic>
        <p:nvPicPr>
          <p:cNvPr id="3" name="Picture 2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D1285536-29B8-CECB-A60F-FE037264B3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" r="30941" b="47965"/>
          <a:stretch>
            <a:fillRect/>
          </a:stretch>
        </p:blipFill>
        <p:spPr>
          <a:xfrm>
            <a:off x="-14079428" y="1514831"/>
            <a:ext cx="10503651" cy="1307353"/>
          </a:xfrm>
          <a:prstGeom prst="rect">
            <a:avLst/>
          </a:prstGeom>
        </p:spPr>
      </p:pic>
      <p:pic>
        <p:nvPicPr>
          <p:cNvPr id="4" name="Picture 3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D8E98FCD-2FDD-137B-77D9-F0A7C7DA90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229" t="-4381" r="90" b="47965"/>
          <a:stretch>
            <a:fillRect/>
          </a:stretch>
        </p:blipFill>
        <p:spPr>
          <a:xfrm>
            <a:off x="-6078734" y="2601954"/>
            <a:ext cx="1602009" cy="1307353"/>
          </a:xfrm>
          <a:prstGeom prst="rect">
            <a:avLst/>
          </a:prstGeom>
        </p:spPr>
      </p:pic>
      <p:pic>
        <p:nvPicPr>
          <p:cNvPr id="14" name="Picture 13" descr="A computer keyboard with text on it&#10;&#10;AI-generated content may be incorrect.">
            <a:extLst>
              <a:ext uri="{FF2B5EF4-FFF2-40B4-BE49-F238E27FC236}">
                <a16:creationId xmlns:a16="http://schemas.microsoft.com/office/drawing/2014/main" id="{4D41AB40-05B6-5C26-6311-ADBDF4B406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705" r="15279" b="47965"/>
          <a:stretch>
            <a:fillRect/>
          </a:stretch>
        </p:blipFill>
        <p:spPr>
          <a:xfrm>
            <a:off x="-4223242" y="2543651"/>
            <a:ext cx="1415290" cy="156965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647DA5-5F0B-DD72-FC19-75C4AAA43156}"/>
              </a:ext>
            </a:extLst>
          </p:cNvPr>
          <p:cNvCxnSpPr>
            <a:cxnSpLocks/>
          </p:cNvCxnSpPr>
          <p:nvPr/>
        </p:nvCxnSpPr>
        <p:spPr>
          <a:xfrm flipH="1">
            <a:off x="-4530868" y="3308683"/>
            <a:ext cx="307626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27490B8-68A6-B1F0-4F56-9999A0C48BF2}"/>
              </a:ext>
            </a:extLst>
          </p:cNvPr>
          <p:cNvCxnSpPr>
            <a:cxnSpLocks/>
          </p:cNvCxnSpPr>
          <p:nvPr/>
        </p:nvCxnSpPr>
        <p:spPr>
          <a:xfrm>
            <a:off x="-3744168" y="2569353"/>
            <a:ext cx="0" cy="27853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93AD823-119A-4E04-293A-F09ECB1306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2" b="12714"/>
          <a:stretch>
            <a:fillRect/>
          </a:stretch>
        </p:blipFill>
        <p:spPr>
          <a:xfrm>
            <a:off x="13097045" y="1122037"/>
            <a:ext cx="10817632" cy="55745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0C2AB93-CD8C-FB8D-D743-93950E5A90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78"/>
          <a:stretch>
            <a:fillRect/>
          </a:stretch>
        </p:blipFill>
        <p:spPr>
          <a:xfrm>
            <a:off x="12555710" y="1225550"/>
            <a:ext cx="10244743" cy="55745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CCCA29B-E2D8-5FAB-8228-7DBF4A176350}"/>
              </a:ext>
            </a:extLst>
          </p:cNvPr>
          <p:cNvSpPr/>
          <p:nvPr/>
        </p:nvSpPr>
        <p:spPr>
          <a:xfrm>
            <a:off x="1420181" y="7743424"/>
            <a:ext cx="1113552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7BEC4D87-2EBE-7C5D-2CFB-DBCD61121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A845D0-A825-6C54-2E9C-A1DDFD24638B}"/>
              </a:ext>
            </a:extLst>
          </p:cNvPr>
          <p:cNvSpPr txBox="1"/>
          <p:nvPr/>
        </p:nvSpPr>
        <p:spPr>
          <a:xfrm>
            <a:off x="281685" y="177749"/>
            <a:ext cx="1037306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CXL-DRIVEN PAGE AND WORD ACCESS COUNTING: SCALABILITY</a:t>
            </a:r>
            <a:endParaRPr lang="en-GB" sz="28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  <a:p>
            <a:pPr algn="ctr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83212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A2A3E-75E2-2FA6-6A6E-30BBAE5C2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6581B9-184B-F769-829D-D7E14E4CA8D3}"/>
              </a:ext>
            </a:extLst>
          </p:cNvPr>
          <p:cNvSpPr/>
          <p:nvPr/>
        </p:nvSpPr>
        <p:spPr>
          <a:xfrm>
            <a:off x="272371" y="4394838"/>
            <a:ext cx="11701916" cy="2234004"/>
          </a:xfrm>
          <a:prstGeom prst="roundRect">
            <a:avLst>
              <a:gd name="adj" fmla="val 3859"/>
            </a:avLst>
          </a:prstGeom>
          <a:solidFill>
            <a:srgbClr val="D5CDA7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48ACDF2-4606-7308-871A-63507C44E148}"/>
              </a:ext>
            </a:extLst>
          </p:cNvPr>
          <p:cNvSpPr/>
          <p:nvPr/>
        </p:nvSpPr>
        <p:spPr>
          <a:xfrm>
            <a:off x="272370" y="1403942"/>
            <a:ext cx="8732791" cy="2808513"/>
          </a:xfrm>
          <a:prstGeom prst="roundRect">
            <a:avLst>
              <a:gd name="adj" fmla="val 3859"/>
            </a:avLst>
          </a:prstGeom>
          <a:solidFill>
            <a:srgbClr val="D5CDA7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11DA5F-25DF-E9B9-21A3-7BD48133BC81}"/>
              </a:ext>
            </a:extLst>
          </p:cNvPr>
          <p:cNvSpPr txBox="1"/>
          <p:nvPr/>
        </p:nvSpPr>
        <p:spPr>
          <a:xfrm>
            <a:off x="239712" y="142070"/>
            <a:ext cx="1044098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USEFULNESS &amp; COST OF CPU-DRIVEN PAGE MIGRATION SOLUTIONS</a:t>
            </a:r>
            <a:endParaRPr lang="en-US" sz="28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E5F841-2F44-74CE-EA9F-21CD780E0A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677" r="-52" b="18487"/>
          <a:stretch>
            <a:fillRect/>
          </a:stretch>
        </p:blipFill>
        <p:spPr>
          <a:xfrm>
            <a:off x="442913" y="1594640"/>
            <a:ext cx="8266340" cy="25122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2BFA07-3167-5D8D-4C25-7C267F5542C2}"/>
              </a:ext>
            </a:extLst>
          </p:cNvPr>
          <p:cNvSpPr txBox="1"/>
          <p:nvPr/>
        </p:nvSpPr>
        <p:spPr>
          <a:xfrm>
            <a:off x="578543" y="4650747"/>
            <a:ext cx="11178030" cy="20744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40" dirty="0">
                <a:ea typeface="+mn-lt"/>
                <a:cs typeface="+mn-lt"/>
              </a:rPr>
              <a:t>Evaluate how accurately and efficiently </a:t>
            </a:r>
            <a:r>
              <a:rPr lang="en-US" sz="1840" b="1" dirty="0">
                <a:ea typeface="+mn-lt"/>
                <a:cs typeface="+mn-lt"/>
              </a:rPr>
              <a:t>CPU-driven page-migration solutions</a:t>
            </a:r>
            <a:r>
              <a:rPr lang="en-US" sz="1840" dirty="0">
                <a:ea typeface="+mn-lt"/>
                <a:cs typeface="+mn-lt"/>
              </a:rPr>
              <a:t> identify “hot” pages in memory using:</a:t>
            </a:r>
            <a:endParaRPr lang="en-US" sz="1840" dirty="0">
              <a:ea typeface="Calibri"/>
              <a:cs typeface="Calibri"/>
            </a:endParaRPr>
          </a:p>
          <a:p>
            <a:r>
              <a:rPr lang="en-US" sz="1840" dirty="0">
                <a:ea typeface="+mn-lt"/>
                <a:cs typeface="+mn-lt"/>
              </a:rPr>
              <a:t>🔹 </a:t>
            </a:r>
            <a:r>
              <a:rPr lang="en-US" sz="1840" b="1" dirty="0">
                <a:ea typeface="+mn-lt"/>
                <a:cs typeface="+mn-lt"/>
              </a:rPr>
              <a:t>PAC (Page Access Counter):</a:t>
            </a:r>
            <a:r>
              <a:rPr lang="en-US" sz="1840" dirty="0">
                <a:ea typeface="+mn-lt"/>
                <a:cs typeface="+mn-lt"/>
              </a:rPr>
              <a:t> Measures the </a:t>
            </a:r>
            <a:r>
              <a:rPr lang="en-US" sz="1840" i="1" dirty="0">
                <a:ea typeface="+mn-lt"/>
                <a:cs typeface="+mn-lt"/>
              </a:rPr>
              <a:t>true</a:t>
            </a:r>
            <a:r>
              <a:rPr lang="en-US" sz="1840" dirty="0">
                <a:ea typeface="+mn-lt"/>
                <a:cs typeface="+mn-lt"/>
              </a:rPr>
              <a:t> number of accesses to each page.</a:t>
            </a:r>
            <a:endParaRPr lang="en-US" sz="1840" dirty="0">
              <a:ea typeface="Calibri" panose="020F0502020204030204"/>
              <a:cs typeface="Calibri" panose="020F0502020204030204"/>
            </a:endParaRPr>
          </a:p>
          <a:p>
            <a:r>
              <a:rPr lang="en-US" sz="1840" dirty="0">
                <a:ea typeface="+mn-lt"/>
                <a:cs typeface="+mn-lt"/>
              </a:rPr>
              <a:t>🔹 </a:t>
            </a:r>
            <a:r>
              <a:rPr lang="en-US" sz="1840" b="1" dirty="0">
                <a:ea typeface="+mn-lt"/>
                <a:cs typeface="+mn-lt"/>
              </a:rPr>
              <a:t>WAC (Word Access Counter):</a:t>
            </a:r>
            <a:r>
              <a:rPr lang="en-US" sz="1840" dirty="0">
                <a:ea typeface="+mn-lt"/>
                <a:cs typeface="+mn-lt"/>
              </a:rPr>
              <a:t> Measures how many </a:t>
            </a:r>
            <a:r>
              <a:rPr lang="en-US" sz="1840" i="1" dirty="0">
                <a:ea typeface="+mn-lt"/>
                <a:cs typeface="+mn-lt"/>
              </a:rPr>
              <a:t>unique 64B words</a:t>
            </a:r>
            <a:r>
              <a:rPr lang="en-US" sz="1840" dirty="0">
                <a:ea typeface="+mn-lt"/>
                <a:cs typeface="+mn-lt"/>
              </a:rPr>
              <a:t> within a page are accessed (page sparsity).</a:t>
            </a:r>
            <a:endParaRPr lang="en-US" sz="1840" dirty="0">
              <a:ea typeface="Calibri" panose="020F0502020204030204"/>
              <a:cs typeface="Calibri" panose="020F0502020204030204"/>
            </a:endParaRPr>
          </a:p>
          <a:p>
            <a:r>
              <a:rPr lang="en-US" sz="1840" dirty="0">
                <a:ea typeface="+mn-lt"/>
                <a:cs typeface="+mn-lt"/>
              </a:rPr>
              <a:t>🔹 </a:t>
            </a:r>
            <a:r>
              <a:rPr lang="en-US" sz="1840" b="1" dirty="0">
                <a:ea typeface="+mn-lt"/>
                <a:cs typeface="+mn-lt"/>
              </a:rPr>
              <a:t>ANB (Accessed-bit-based method):</a:t>
            </a:r>
            <a:r>
              <a:rPr lang="en-US" sz="1840" dirty="0">
                <a:ea typeface="+mn-lt"/>
                <a:cs typeface="+mn-lt"/>
              </a:rPr>
              <a:t> Detects hot pages by tracking accessed bits and soft page faults.</a:t>
            </a:r>
            <a:endParaRPr lang="en-US" sz="1840" dirty="0">
              <a:ea typeface="Calibri" panose="020F0502020204030204"/>
              <a:cs typeface="Calibri" panose="020F0502020204030204"/>
            </a:endParaRPr>
          </a:p>
          <a:p>
            <a:r>
              <a:rPr lang="en-US" sz="1840" dirty="0">
                <a:ea typeface="+mn-lt"/>
                <a:cs typeface="+mn-lt"/>
              </a:rPr>
              <a:t>🔹 </a:t>
            </a:r>
            <a:r>
              <a:rPr lang="en-US" sz="1840" b="1" dirty="0">
                <a:ea typeface="+mn-lt"/>
                <a:cs typeface="+mn-lt"/>
              </a:rPr>
              <a:t>DAMON (Data Access Monitor):</a:t>
            </a:r>
            <a:r>
              <a:rPr lang="en-US" sz="1840" dirty="0">
                <a:ea typeface="+mn-lt"/>
                <a:cs typeface="+mn-lt"/>
              </a:rPr>
              <a:t> Identifies hot pages by sampling and scanning page table entries efficiently.</a:t>
            </a:r>
            <a:endParaRPr lang="en-US" sz="1840" dirty="0">
              <a:ea typeface="Calibri" panose="020F0502020204030204"/>
              <a:cs typeface="Calibri" panose="020F0502020204030204"/>
            </a:endParaRPr>
          </a:p>
          <a:p>
            <a:endParaRPr lang="en-US" sz="1840" dirty="0">
              <a:ea typeface="Calibri" panose="020F0502020204030204"/>
              <a:cs typeface="Calibri" panose="020F0502020204030204"/>
            </a:endParaRPr>
          </a:p>
          <a:p>
            <a:pPr algn="ctr"/>
            <a:endParaRPr lang="en-GB" sz="184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685E3C-C900-E5B6-103F-6046E6A50B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9" b="29275"/>
          <a:stretch>
            <a:fillRect/>
          </a:stretch>
        </p:blipFill>
        <p:spPr>
          <a:xfrm>
            <a:off x="9149916" y="2558143"/>
            <a:ext cx="2860693" cy="1718208"/>
          </a:xfrm>
          <a:prstGeom prst="rect">
            <a:avLst/>
          </a:prstGeom>
        </p:spPr>
      </p:pic>
      <p:pic>
        <p:nvPicPr>
          <p:cNvPr id="7" name="Picture 2" descr="ICANN2019">
            <a:extLst>
              <a:ext uri="{FF2B5EF4-FFF2-40B4-BE49-F238E27FC236}">
                <a16:creationId xmlns:a16="http://schemas.microsoft.com/office/drawing/2014/main" id="{1829CAEB-DB06-F6F1-1CC5-4FD995DB0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1958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ECB8A-FCB4-BFD0-671A-F73665C0F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03DF6E-6D38-820B-1C58-22AA0DF6C529}"/>
              </a:ext>
            </a:extLst>
          </p:cNvPr>
          <p:cNvSpPr/>
          <p:nvPr/>
        </p:nvSpPr>
        <p:spPr>
          <a:xfrm>
            <a:off x="5626101" y="3347271"/>
            <a:ext cx="6348186" cy="3281571"/>
          </a:xfrm>
          <a:prstGeom prst="roundRect">
            <a:avLst>
              <a:gd name="adj" fmla="val 3859"/>
            </a:avLst>
          </a:prstGeom>
          <a:solidFill>
            <a:srgbClr val="D5CDA7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210D1F-280F-6E47-6B0F-5942BBF43179}"/>
              </a:ext>
            </a:extLst>
          </p:cNvPr>
          <p:cNvSpPr/>
          <p:nvPr/>
        </p:nvSpPr>
        <p:spPr>
          <a:xfrm>
            <a:off x="272370" y="1244601"/>
            <a:ext cx="9252630" cy="1898750"/>
          </a:xfrm>
          <a:prstGeom prst="roundRect">
            <a:avLst>
              <a:gd name="adj" fmla="val 3859"/>
            </a:avLst>
          </a:prstGeom>
          <a:solidFill>
            <a:srgbClr val="D5CDA7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364ED-F460-E3FA-FD40-9F1B0A09970F}"/>
              </a:ext>
            </a:extLst>
          </p:cNvPr>
          <p:cNvSpPr txBox="1"/>
          <p:nvPr/>
        </p:nvSpPr>
        <p:spPr>
          <a:xfrm>
            <a:off x="297770" y="229158"/>
            <a:ext cx="10440987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9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USEFULNESS OF IDENTIFIED HOT PAGES</a:t>
            </a:r>
            <a:endParaRPr lang="en-US" sz="29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B078EB-1114-8021-5ED5-AAC57E88EC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677" r="-52" b="18487"/>
          <a:stretch>
            <a:fillRect/>
          </a:stretch>
        </p:blipFill>
        <p:spPr>
          <a:xfrm>
            <a:off x="-8635596" y="1761693"/>
            <a:ext cx="8266340" cy="25122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787700-D600-C64A-714C-9F8FE9150DCC}"/>
              </a:ext>
            </a:extLst>
          </p:cNvPr>
          <p:cNvSpPr txBox="1"/>
          <p:nvPr/>
        </p:nvSpPr>
        <p:spPr>
          <a:xfrm>
            <a:off x="890638" y="7880330"/>
            <a:ext cx="11178030" cy="23575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40" dirty="0">
                <a:ea typeface="+mn-lt"/>
                <a:cs typeface="+mn-lt"/>
              </a:rPr>
              <a:t>Evaluate how accurately and efficiently </a:t>
            </a:r>
            <a:r>
              <a:rPr lang="en-US" sz="1840" b="1" dirty="0">
                <a:ea typeface="+mn-lt"/>
                <a:cs typeface="+mn-lt"/>
              </a:rPr>
              <a:t>CPU-driven page-migration solutions</a:t>
            </a:r>
            <a:r>
              <a:rPr lang="en-US" sz="1840" dirty="0">
                <a:ea typeface="+mn-lt"/>
                <a:cs typeface="+mn-lt"/>
              </a:rPr>
              <a:t> identify “hot” pages in memory using:</a:t>
            </a:r>
            <a:endParaRPr lang="en-US" sz="1840" dirty="0">
              <a:ea typeface="Calibri"/>
              <a:cs typeface="Calibri"/>
            </a:endParaRPr>
          </a:p>
          <a:p>
            <a:r>
              <a:rPr lang="en-US" sz="1840" dirty="0">
                <a:ea typeface="+mn-lt"/>
                <a:cs typeface="+mn-lt"/>
              </a:rPr>
              <a:t>🔹 </a:t>
            </a:r>
            <a:r>
              <a:rPr lang="en-US" sz="1840" b="1" dirty="0">
                <a:ea typeface="+mn-lt"/>
                <a:cs typeface="+mn-lt"/>
              </a:rPr>
              <a:t>PAC (Page Access Counter):</a:t>
            </a:r>
            <a:r>
              <a:rPr lang="en-US" sz="1840" dirty="0">
                <a:ea typeface="+mn-lt"/>
                <a:cs typeface="+mn-lt"/>
              </a:rPr>
              <a:t> Measures the </a:t>
            </a:r>
            <a:r>
              <a:rPr lang="en-US" sz="1840" i="1" dirty="0">
                <a:ea typeface="+mn-lt"/>
                <a:cs typeface="+mn-lt"/>
              </a:rPr>
              <a:t>true</a:t>
            </a:r>
            <a:r>
              <a:rPr lang="en-US" sz="1840" dirty="0">
                <a:ea typeface="+mn-lt"/>
                <a:cs typeface="+mn-lt"/>
              </a:rPr>
              <a:t> number of accesses to each page.</a:t>
            </a:r>
            <a:endParaRPr lang="en-US" sz="1840" dirty="0">
              <a:ea typeface="Calibri" panose="020F0502020204030204"/>
              <a:cs typeface="Calibri" panose="020F0502020204030204"/>
            </a:endParaRPr>
          </a:p>
          <a:p>
            <a:r>
              <a:rPr lang="en-US" sz="1840" dirty="0">
                <a:ea typeface="+mn-lt"/>
                <a:cs typeface="+mn-lt"/>
              </a:rPr>
              <a:t>🔹 </a:t>
            </a:r>
            <a:r>
              <a:rPr lang="en-US" sz="1840" b="1" dirty="0">
                <a:ea typeface="+mn-lt"/>
                <a:cs typeface="+mn-lt"/>
              </a:rPr>
              <a:t>WAC (Word Access Counter):</a:t>
            </a:r>
            <a:r>
              <a:rPr lang="en-US" sz="1840" dirty="0">
                <a:ea typeface="+mn-lt"/>
                <a:cs typeface="+mn-lt"/>
              </a:rPr>
              <a:t> Measures how many </a:t>
            </a:r>
            <a:r>
              <a:rPr lang="en-US" sz="1840" i="1" dirty="0">
                <a:ea typeface="+mn-lt"/>
                <a:cs typeface="+mn-lt"/>
              </a:rPr>
              <a:t>unique 64B words</a:t>
            </a:r>
            <a:r>
              <a:rPr lang="en-US" sz="1840" dirty="0">
                <a:ea typeface="+mn-lt"/>
                <a:cs typeface="+mn-lt"/>
              </a:rPr>
              <a:t> within a page are accessed (page sparsity).</a:t>
            </a:r>
            <a:endParaRPr lang="en-US" sz="1840" dirty="0">
              <a:ea typeface="Calibri" panose="020F0502020204030204"/>
              <a:cs typeface="Calibri" panose="020F0502020204030204"/>
            </a:endParaRPr>
          </a:p>
          <a:p>
            <a:r>
              <a:rPr lang="en-US" sz="1840" dirty="0">
                <a:ea typeface="+mn-lt"/>
                <a:cs typeface="+mn-lt"/>
              </a:rPr>
              <a:t>🔹 </a:t>
            </a:r>
            <a:r>
              <a:rPr lang="en-US" sz="1840" b="1" dirty="0">
                <a:ea typeface="+mn-lt"/>
                <a:cs typeface="+mn-lt"/>
              </a:rPr>
              <a:t>ANB (Accessed-bit-based method):</a:t>
            </a:r>
            <a:r>
              <a:rPr lang="en-US" sz="1840" dirty="0">
                <a:ea typeface="+mn-lt"/>
                <a:cs typeface="+mn-lt"/>
              </a:rPr>
              <a:t> Detects hot pages by tracking accessed bits and soft page faults.</a:t>
            </a:r>
            <a:endParaRPr lang="en-US" sz="1840" dirty="0">
              <a:ea typeface="Calibri" panose="020F0502020204030204"/>
              <a:cs typeface="Calibri" panose="020F0502020204030204"/>
            </a:endParaRPr>
          </a:p>
          <a:p>
            <a:r>
              <a:rPr lang="en-US" sz="1840" dirty="0">
                <a:ea typeface="+mn-lt"/>
                <a:cs typeface="+mn-lt"/>
              </a:rPr>
              <a:t>🔹 </a:t>
            </a:r>
            <a:r>
              <a:rPr lang="en-US" sz="1840" b="1" dirty="0">
                <a:ea typeface="+mn-lt"/>
                <a:cs typeface="+mn-lt"/>
              </a:rPr>
              <a:t>DAMON (Data Access Monitor):</a:t>
            </a:r>
            <a:r>
              <a:rPr lang="en-US" sz="1840" dirty="0">
                <a:ea typeface="+mn-lt"/>
                <a:cs typeface="+mn-lt"/>
              </a:rPr>
              <a:t> Identifies hot pages by sampling and scanning page table entries efficiently.</a:t>
            </a:r>
            <a:endParaRPr lang="en-US" sz="1840" dirty="0">
              <a:ea typeface="Calibri" panose="020F0502020204030204"/>
              <a:cs typeface="Calibri" panose="020F0502020204030204"/>
            </a:endParaRPr>
          </a:p>
          <a:p>
            <a:endParaRPr lang="en-US" sz="1840" dirty="0">
              <a:ea typeface="Calibri" panose="020F0502020204030204"/>
              <a:cs typeface="Calibri" panose="020F0502020204030204"/>
            </a:endParaRPr>
          </a:p>
          <a:p>
            <a:pPr algn="ctr"/>
            <a:endParaRPr lang="en-GB" sz="184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CD588D-A43D-9295-6BB7-53AC097FFD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9" b="29275"/>
          <a:stretch>
            <a:fillRect/>
          </a:stretch>
        </p:blipFill>
        <p:spPr>
          <a:xfrm>
            <a:off x="13585729" y="2521717"/>
            <a:ext cx="2860693" cy="1718208"/>
          </a:xfrm>
          <a:prstGeom prst="rect">
            <a:avLst/>
          </a:prstGeom>
        </p:spPr>
      </p:pic>
      <p:pic>
        <p:nvPicPr>
          <p:cNvPr id="7" name="Picture 2" descr="ICANN2019">
            <a:extLst>
              <a:ext uri="{FF2B5EF4-FFF2-40B4-BE49-F238E27FC236}">
                <a16:creationId xmlns:a16="http://schemas.microsoft.com/office/drawing/2014/main" id="{A10E2B46-714A-2290-DABB-6305F7CBB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88900"/>
            <a:ext cx="1045068" cy="1048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screen shot of a phone">
            <a:extLst>
              <a:ext uri="{FF2B5EF4-FFF2-40B4-BE49-F238E27FC236}">
                <a16:creationId xmlns:a16="http://schemas.microsoft.com/office/drawing/2014/main" id="{D4FB7D0C-F799-EBD3-1866-7FB0ED8554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998" t="-150" r="926" b="36877"/>
          <a:stretch>
            <a:fillRect/>
          </a:stretch>
        </p:blipFill>
        <p:spPr>
          <a:xfrm>
            <a:off x="323170" y="1832595"/>
            <a:ext cx="8998065" cy="1127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E6504E-E67E-5775-B9A2-04899EBE0482}"/>
              </a:ext>
            </a:extLst>
          </p:cNvPr>
          <p:cNvSpPr txBox="1"/>
          <p:nvPr/>
        </p:nvSpPr>
        <p:spPr>
          <a:xfrm>
            <a:off x="415298" y="1339669"/>
            <a:ext cx="24151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ea typeface="Calibri"/>
                <a:cs typeface="Calibri"/>
              </a:rPr>
              <a:t>Access Count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6AE600-CF06-E8CC-4F1F-BD4BCB609100}"/>
              </a:ext>
            </a:extLst>
          </p:cNvPr>
          <p:cNvSpPr txBox="1"/>
          <p:nvPr/>
        </p:nvSpPr>
        <p:spPr>
          <a:xfrm>
            <a:off x="9733213" y="1244601"/>
            <a:ext cx="2446087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dirty="0">
                <a:ea typeface="+mn-lt"/>
                <a:cs typeface="+mn-lt"/>
              </a:rPr>
              <a:t>🟩 </a:t>
            </a:r>
            <a:r>
              <a:rPr lang="en-GB" sz="2000" i="1" dirty="0">
                <a:ea typeface="+mn-lt"/>
                <a:cs typeface="+mn-lt"/>
              </a:rPr>
              <a:t>High ratio ⇒ Accurate identification</a:t>
            </a:r>
            <a:br>
              <a:rPr lang="en-GB" sz="2000" i="1" dirty="0">
                <a:ea typeface="+mn-lt"/>
                <a:cs typeface="+mn-lt"/>
              </a:rPr>
            </a:br>
            <a:r>
              <a:rPr lang="en-GB" sz="2000" i="1" dirty="0">
                <a:ea typeface="+mn-lt"/>
                <a:cs typeface="+mn-lt"/>
              </a:rPr>
              <a:t> 🟥 Low ratio ⇒ Warm pages mistaken as hot</a:t>
            </a:r>
            <a:endParaRPr lang="en-US" sz="2000" dirty="0">
              <a:ea typeface="Calibri"/>
              <a:cs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C02A38-2D13-C51B-7F77-BD7D6B32D2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3347271"/>
            <a:ext cx="5091481" cy="326804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674CD3E-C757-D347-3DCF-4FEEFC05268A}"/>
              </a:ext>
            </a:extLst>
          </p:cNvPr>
          <p:cNvSpPr txBox="1"/>
          <p:nvPr/>
        </p:nvSpPr>
        <p:spPr>
          <a:xfrm>
            <a:off x="6372273" y="3836057"/>
            <a:ext cx="4982842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ea typeface="+mn-lt"/>
                <a:cs typeface="+mn-lt"/>
              </a:rPr>
              <a:t>Observations:</a:t>
            </a:r>
          </a:p>
          <a:p>
            <a:pPr marL="285750" indent="-285750">
              <a:buFont typeface="Arial"/>
              <a:buChar char="•"/>
            </a:pPr>
            <a:endParaRPr lang="en-GB" sz="2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2400" dirty="0">
                <a:ea typeface="+mn-lt"/>
                <a:cs typeface="+mn-lt"/>
              </a:rPr>
              <a:t>&lt;0.4 on average → poor precision</a:t>
            </a:r>
            <a:endParaRPr lang="en-US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dirty="0">
                <a:ea typeface="+mn-lt"/>
                <a:cs typeface="+mn-lt"/>
              </a:rPr>
              <a:t>DAMON slightly better than ANB</a:t>
            </a:r>
            <a:endParaRPr lang="en-GB" sz="2400" dirty="0"/>
          </a:p>
          <a:p>
            <a:pPr marL="285750" indent="-285750">
              <a:buFont typeface="Arial"/>
              <a:buChar char="•"/>
            </a:pPr>
            <a:r>
              <a:rPr lang="en-GB" sz="2400" dirty="0">
                <a:ea typeface="+mn-lt"/>
                <a:cs typeface="+mn-lt"/>
              </a:rPr>
              <a:t>CPU-driven solutions often identify </a:t>
            </a:r>
            <a:r>
              <a:rPr lang="en-GB" sz="2400" b="1" dirty="0">
                <a:ea typeface="+mn-lt"/>
                <a:cs typeface="+mn-lt"/>
              </a:rPr>
              <a:t>warm</a:t>
            </a:r>
            <a:r>
              <a:rPr lang="en-GB" sz="2400" dirty="0">
                <a:ea typeface="+mn-lt"/>
                <a:cs typeface="+mn-lt"/>
              </a:rPr>
              <a:t> pages as hot pages.</a:t>
            </a:r>
          </a:p>
          <a:p>
            <a:endParaRPr lang="en-GB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3774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86787-491A-7745-ADC7-F9821FF08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B1843AE-3D48-28F9-26AA-180889A65DE7}"/>
              </a:ext>
            </a:extLst>
          </p:cNvPr>
          <p:cNvSpPr/>
          <p:nvPr/>
        </p:nvSpPr>
        <p:spPr>
          <a:xfrm>
            <a:off x="6095999" y="3539315"/>
            <a:ext cx="5878287" cy="3089528"/>
          </a:xfrm>
          <a:prstGeom prst="roundRect">
            <a:avLst>
              <a:gd name="adj" fmla="val 3859"/>
            </a:avLst>
          </a:prstGeom>
          <a:solidFill>
            <a:srgbClr val="D5CDA7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BE8086-A501-022F-9A9C-D7806C05C4C0}"/>
              </a:ext>
            </a:extLst>
          </p:cNvPr>
          <p:cNvSpPr/>
          <p:nvPr/>
        </p:nvSpPr>
        <p:spPr>
          <a:xfrm>
            <a:off x="272370" y="1244601"/>
            <a:ext cx="6928530" cy="1898750"/>
          </a:xfrm>
          <a:prstGeom prst="roundRect">
            <a:avLst>
              <a:gd name="adj" fmla="val 3859"/>
            </a:avLst>
          </a:prstGeom>
          <a:solidFill>
            <a:srgbClr val="D5CDA7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EF1B7-0AD9-AA7C-A92B-3FC859658C4D}"/>
              </a:ext>
            </a:extLst>
          </p:cNvPr>
          <p:cNvSpPr txBox="1"/>
          <p:nvPr/>
        </p:nvSpPr>
        <p:spPr>
          <a:xfrm>
            <a:off x="297770" y="229158"/>
            <a:ext cx="10440987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USEFULNESS OF IDENTIFIED HOT PAGES​</a:t>
            </a:r>
          </a:p>
          <a:p>
            <a:pPr algn="ctr"/>
            <a:endParaRPr lang="en-US" sz="3600" dirty="0"/>
          </a:p>
        </p:txBody>
      </p:sp>
      <p:pic>
        <p:nvPicPr>
          <p:cNvPr id="7" name="Picture 2" descr="ICANN2019">
            <a:extLst>
              <a:ext uri="{FF2B5EF4-FFF2-40B4-BE49-F238E27FC236}">
                <a16:creationId xmlns:a16="http://schemas.microsoft.com/office/drawing/2014/main" id="{8B2691E0-D5DF-C4DF-300D-83B97DF8E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88900"/>
            <a:ext cx="1045068" cy="1048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screen shot of a phone">
            <a:extLst>
              <a:ext uri="{FF2B5EF4-FFF2-40B4-BE49-F238E27FC236}">
                <a16:creationId xmlns:a16="http://schemas.microsoft.com/office/drawing/2014/main" id="{52F13D11-22ED-5FC0-AC99-2ABB8048C3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98" t="-150" r="926" b="36877"/>
          <a:stretch>
            <a:fillRect/>
          </a:stretch>
        </p:blipFill>
        <p:spPr>
          <a:xfrm>
            <a:off x="-10635708" y="2016351"/>
            <a:ext cx="8998065" cy="1127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290A04-9617-D836-DD46-8711CD538BE1}"/>
              </a:ext>
            </a:extLst>
          </p:cNvPr>
          <p:cNvSpPr txBox="1"/>
          <p:nvPr/>
        </p:nvSpPr>
        <p:spPr>
          <a:xfrm>
            <a:off x="-3454464" y="1244601"/>
            <a:ext cx="24151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ea typeface="Calibri"/>
                <a:cs typeface="Calibri"/>
              </a:rPr>
              <a:t>Access Count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3F38A7-8108-1C6C-C760-7F2661AC8473}"/>
              </a:ext>
            </a:extLst>
          </p:cNvPr>
          <p:cNvSpPr txBox="1"/>
          <p:nvPr/>
        </p:nvSpPr>
        <p:spPr>
          <a:xfrm>
            <a:off x="13035213" y="1408279"/>
            <a:ext cx="2446087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dirty="0">
                <a:ea typeface="+mn-lt"/>
                <a:cs typeface="+mn-lt"/>
              </a:rPr>
              <a:t>🟩 </a:t>
            </a:r>
            <a:r>
              <a:rPr lang="en-GB" sz="2000" i="1" dirty="0">
                <a:ea typeface="+mn-lt"/>
                <a:cs typeface="+mn-lt"/>
              </a:rPr>
              <a:t>High ratio ⇒ Accurate identification</a:t>
            </a:r>
            <a:br>
              <a:rPr lang="en-GB" sz="2000" i="1" dirty="0">
                <a:ea typeface="+mn-lt"/>
                <a:cs typeface="+mn-lt"/>
              </a:rPr>
            </a:br>
            <a:r>
              <a:rPr lang="en-GB" sz="2000" i="1" dirty="0">
                <a:ea typeface="+mn-lt"/>
                <a:cs typeface="+mn-lt"/>
              </a:rPr>
              <a:t> 🟥 Low ratio ⇒ Warm pages mistaken as hot</a:t>
            </a:r>
            <a:endParaRPr lang="en-US" sz="2000" dirty="0">
              <a:ea typeface="Calibri"/>
              <a:cs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3186C2-85AD-9C0F-2860-210692FB6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62800" y="3360800"/>
            <a:ext cx="5091481" cy="326804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2A2A9B4-01DE-A802-655A-A8F92D7111A1}"/>
              </a:ext>
            </a:extLst>
          </p:cNvPr>
          <p:cNvSpPr txBox="1"/>
          <p:nvPr/>
        </p:nvSpPr>
        <p:spPr>
          <a:xfrm>
            <a:off x="12892334" y="3951186"/>
            <a:ext cx="4982842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ea typeface="+mn-lt"/>
                <a:cs typeface="+mn-lt"/>
              </a:rPr>
              <a:t>Observations:</a:t>
            </a:r>
          </a:p>
          <a:p>
            <a:pPr marL="285750" indent="-285750">
              <a:buFont typeface="Arial"/>
              <a:buChar char="•"/>
            </a:pPr>
            <a:endParaRPr lang="en-GB" sz="2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2400" dirty="0">
                <a:ea typeface="+mn-lt"/>
                <a:cs typeface="+mn-lt"/>
              </a:rPr>
              <a:t>&lt;0.4 on average → poor precision</a:t>
            </a:r>
            <a:endParaRPr lang="en-US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400" dirty="0">
                <a:ea typeface="+mn-lt"/>
                <a:cs typeface="+mn-lt"/>
              </a:rPr>
              <a:t>DAMON slightly better than ANB</a:t>
            </a:r>
            <a:endParaRPr lang="en-GB" sz="2400" dirty="0"/>
          </a:p>
          <a:p>
            <a:pPr marL="285750" indent="-285750">
              <a:buFont typeface="Arial"/>
              <a:buChar char="•"/>
            </a:pPr>
            <a:r>
              <a:rPr lang="en-GB" sz="2400" dirty="0">
                <a:ea typeface="+mn-lt"/>
                <a:cs typeface="+mn-lt"/>
              </a:rPr>
              <a:t>CPU-driven solutions often identify </a:t>
            </a:r>
            <a:r>
              <a:rPr lang="en-GB" sz="2400" b="1" dirty="0">
                <a:ea typeface="+mn-lt"/>
                <a:cs typeface="+mn-lt"/>
              </a:rPr>
              <a:t>warm</a:t>
            </a:r>
            <a:r>
              <a:rPr lang="en-GB" sz="2400" dirty="0">
                <a:ea typeface="+mn-lt"/>
                <a:cs typeface="+mn-lt"/>
              </a:rPr>
              <a:t> pages as hot pages.</a:t>
            </a:r>
          </a:p>
          <a:p>
            <a:endParaRPr lang="en-GB" sz="2400" dirty="0">
              <a:ea typeface="+mn-lt"/>
              <a:cs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43D624-52F0-495B-4E1D-304B1CA71659}"/>
              </a:ext>
            </a:extLst>
          </p:cNvPr>
          <p:cNvSpPr txBox="1"/>
          <p:nvPr/>
        </p:nvSpPr>
        <p:spPr>
          <a:xfrm>
            <a:off x="360447" y="1348396"/>
            <a:ext cx="60960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Access </a:t>
            </a:r>
            <a:r>
              <a:rPr lang="en-GB" sz="2400" b="1" dirty="0">
                <a:solidFill>
                  <a:srgbClr val="000000"/>
                </a:solidFill>
                <a:ea typeface="+mn-lt"/>
                <a:cs typeface="+mn-lt"/>
              </a:rPr>
              <a:t>sparsity</a:t>
            </a:r>
            <a:endParaRPr lang="en-US" sz="2400" b="1" dirty="0">
              <a:ea typeface="Calibri"/>
              <a:cs typeface="Calibri"/>
            </a:endParaRPr>
          </a:p>
          <a:p>
            <a:endParaRPr lang="en-GB" sz="2400" b="1" dirty="0">
              <a:ea typeface="Calibri"/>
              <a:cs typeface="Calibri"/>
            </a:endParaRPr>
          </a:p>
        </p:txBody>
      </p:sp>
      <p:pic>
        <p:nvPicPr>
          <p:cNvPr id="15" name="Picture 1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20924452-2EA7-7A36-646C-26DA57485C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21" r="-596" b="35275"/>
          <a:stretch>
            <a:fillRect/>
          </a:stretch>
        </p:blipFill>
        <p:spPr>
          <a:xfrm>
            <a:off x="496450" y="1725794"/>
            <a:ext cx="6534753" cy="1254231"/>
          </a:xfrm>
          <a:prstGeom prst="rect">
            <a:avLst/>
          </a:prstGeom>
        </p:spPr>
      </p:pic>
      <p:pic>
        <p:nvPicPr>
          <p:cNvPr id="16" name="Picture 1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53638EA-9F6B-DD54-421E-CD75DDD64B1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426" t="-392" r="1014" b="15567"/>
          <a:stretch>
            <a:fillRect/>
          </a:stretch>
        </p:blipFill>
        <p:spPr>
          <a:xfrm>
            <a:off x="7735342" y="1188998"/>
            <a:ext cx="1682281" cy="20179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007FA50-3BFA-D28C-7B77-1392A1FDEBAC}"/>
              </a:ext>
            </a:extLst>
          </p:cNvPr>
          <p:cNvSpPr txBox="1"/>
          <p:nvPr/>
        </p:nvSpPr>
        <p:spPr>
          <a:xfrm>
            <a:off x="9480874" y="1318998"/>
            <a:ext cx="273085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ea typeface="+mn-lt"/>
                <a:cs typeface="+mn-lt"/>
              </a:rPr>
              <a:t>Sparse hot page wastes fast memory space &amp; pollutes caches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6A4083-A53B-5261-F2A2-194507828C45}"/>
              </a:ext>
            </a:extLst>
          </p:cNvPr>
          <p:cNvSpPr txBox="1"/>
          <p:nvPr/>
        </p:nvSpPr>
        <p:spPr>
          <a:xfrm>
            <a:off x="6361621" y="3714489"/>
            <a:ext cx="5495966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GB" sz="2800" b="1" baseline="0" dirty="0">
                <a:latin typeface="Calibri"/>
                <a:ea typeface="Segoe UI"/>
                <a:cs typeface="Segoe UI"/>
              </a:rPr>
              <a:t>Observations:</a:t>
            </a:r>
            <a:r>
              <a:rPr lang="en-US" sz="2800" dirty="0">
                <a:latin typeface="Calibri"/>
                <a:ea typeface="Segoe UI"/>
                <a:cs typeface="Segoe UI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endParaRPr lang="en-GB" sz="2800" dirty="0">
              <a:latin typeface="Arial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800" dirty="0">
                <a:ea typeface="+mn-lt"/>
                <a:cs typeface="+mn-lt"/>
              </a:rPr>
              <a:t>Many apps (e.g., Redis, Memcached) have </a:t>
            </a:r>
            <a:r>
              <a:rPr lang="en-US" sz="2800" b="1" dirty="0">
                <a:ea typeface="+mn-lt"/>
                <a:cs typeface="+mn-lt"/>
              </a:rPr>
              <a:t>sparse access patterns</a:t>
            </a:r>
            <a:r>
              <a:rPr lang="en-US" sz="2800" dirty="0">
                <a:ea typeface="+mn-lt"/>
                <a:cs typeface="+mn-lt"/>
              </a:rPr>
              <a:t>, so migrating full </a:t>
            </a:r>
            <a:r>
              <a:rPr lang="en-US" sz="2800" baseline="0" dirty="0">
                <a:ea typeface="+mn-lt"/>
                <a:cs typeface="+mn-lt"/>
              </a:rPr>
              <a:t>pages </a:t>
            </a:r>
            <a:r>
              <a:rPr lang="en-US" sz="2800" dirty="0">
                <a:ea typeface="+mn-lt"/>
                <a:cs typeface="+mn-lt"/>
              </a:rPr>
              <a:t>is inefficient</a:t>
            </a:r>
            <a:r>
              <a:rPr lang="en-US" sz="2800" baseline="0" dirty="0">
                <a:ea typeface="+mn-lt"/>
                <a:cs typeface="+mn-lt"/>
              </a:rPr>
              <a:t>.</a:t>
            </a:r>
            <a:endParaRPr lang="en-US" sz="2800" dirty="0">
              <a:ea typeface="+mn-lt"/>
              <a:cs typeface="+mn-lt"/>
            </a:endParaRPr>
          </a:p>
          <a:p>
            <a:pPr rtl="0"/>
            <a:r>
              <a:rPr lang="en-GB" sz="2800" dirty="0"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endParaRPr lang="en-GB" sz="2800" dirty="0"/>
          </a:p>
        </p:txBody>
      </p:sp>
      <p:pic>
        <p:nvPicPr>
          <p:cNvPr id="19" name="Picture 18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928720A3-B2C0-02B8-5EAA-4F85192145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313" y="3539314"/>
            <a:ext cx="5612971" cy="303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833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79E11-CB89-E643-4814-915863B94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CAE54D-1755-AEDF-FA2B-0909F3F51BA9}"/>
              </a:ext>
            </a:extLst>
          </p:cNvPr>
          <p:cNvSpPr txBox="1"/>
          <p:nvPr/>
        </p:nvSpPr>
        <p:spPr>
          <a:xfrm>
            <a:off x="297770" y="229158"/>
            <a:ext cx="10440987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PERFORMANCE COST OF IDENTIFYING HOT PAGES</a:t>
            </a:r>
            <a:endParaRPr lang="en-US" sz="28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  <a:p>
            <a:endParaRPr lang="en-GB" sz="28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  <a:p>
            <a:pPr algn="ctr"/>
            <a:r>
              <a:rPr lang="en-GB" dirty="0">
                <a:ea typeface="Segoe UI"/>
                <a:cs typeface="Segoe UI"/>
              </a:rPr>
              <a:t>​</a:t>
            </a:r>
          </a:p>
          <a:p>
            <a:pPr algn="ctr"/>
            <a:endParaRPr lang="en-GB" sz="2800" dirty="0"/>
          </a:p>
        </p:txBody>
      </p:sp>
      <p:pic>
        <p:nvPicPr>
          <p:cNvPr id="7" name="Picture 2" descr="ICANN2019">
            <a:extLst>
              <a:ext uri="{FF2B5EF4-FFF2-40B4-BE49-F238E27FC236}">
                <a16:creationId xmlns:a16="http://schemas.microsoft.com/office/drawing/2014/main" id="{5D57C15C-3420-AD5A-2C26-CAF74E39F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88900"/>
            <a:ext cx="1045068" cy="1048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158399-D87F-2F1B-FFAF-F0995C0191A6}"/>
              </a:ext>
            </a:extLst>
          </p:cNvPr>
          <p:cNvSpPr txBox="1"/>
          <p:nvPr/>
        </p:nvSpPr>
        <p:spPr>
          <a:xfrm>
            <a:off x="-9088353" y="1348396"/>
            <a:ext cx="60960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Access </a:t>
            </a:r>
            <a:r>
              <a:rPr lang="en-GB" sz="2400" b="1" dirty="0">
                <a:solidFill>
                  <a:srgbClr val="000000"/>
                </a:solidFill>
                <a:ea typeface="+mn-lt"/>
                <a:cs typeface="+mn-lt"/>
              </a:rPr>
              <a:t>sparsity</a:t>
            </a:r>
            <a:endParaRPr lang="en-US" sz="2400" b="1" dirty="0">
              <a:ea typeface="Calibri"/>
              <a:cs typeface="Calibri"/>
            </a:endParaRPr>
          </a:p>
          <a:p>
            <a:endParaRPr lang="en-GB" sz="2400" b="1" dirty="0">
              <a:ea typeface="Calibri"/>
              <a:cs typeface="Calibri"/>
            </a:endParaRPr>
          </a:p>
        </p:txBody>
      </p:sp>
      <p:pic>
        <p:nvPicPr>
          <p:cNvPr id="15" name="Picture 1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2ADB90BD-8CBB-8596-4352-8C8B7053BD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21" r="-596" b="35275"/>
          <a:stretch>
            <a:fillRect/>
          </a:stretch>
        </p:blipFill>
        <p:spPr>
          <a:xfrm>
            <a:off x="-8952350" y="1725794"/>
            <a:ext cx="6534753" cy="1254231"/>
          </a:xfrm>
          <a:prstGeom prst="rect">
            <a:avLst/>
          </a:prstGeom>
        </p:spPr>
      </p:pic>
      <p:pic>
        <p:nvPicPr>
          <p:cNvPr id="16" name="Picture 1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8A53742-818B-D3E2-59DD-16AC484EFF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26" t="-392" r="1014" b="15567"/>
          <a:stretch>
            <a:fillRect/>
          </a:stretch>
        </p:blipFill>
        <p:spPr>
          <a:xfrm>
            <a:off x="16701542" y="1188998"/>
            <a:ext cx="1682281" cy="20179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F93B2B9-A1E4-E4D8-ECF3-164268B984EE}"/>
              </a:ext>
            </a:extLst>
          </p:cNvPr>
          <p:cNvSpPr txBox="1"/>
          <p:nvPr/>
        </p:nvSpPr>
        <p:spPr>
          <a:xfrm>
            <a:off x="18447074" y="1318998"/>
            <a:ext cx="273085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ea typeface="+mn-lt"/>
                <a:cs typeface="+mn-lt"/>
              </a:rPr>
              <a:t>Sparse hot page wastes fast memory space &amp; pollutes caches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559BDD-39CA-7014-9E1F-DD0E1350802C}"/>
              </a:ext>
            </a:extLst>
          </p:cNvPr>
          <p:cNvSpPr txBox="1"/>
          <p:nvPr/>
        </p:nvSpPr>
        <p:spPr>
          <a:xfrm>
            <a:off x="15327821" y="3714489"/>
            <a:ext cx="5495966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GB" sz="2800" b="1" baseline="0" dirty="0">
                <a:latin typeface="Calibri"/>
                <a:ea typeface="Segoe UI"/>
                <a:cs typeface="Segoe UI"/>
              </a:rPr>
              <a:t>Observations:</a:t>
            </a:r>
            <a:r>
              <a:rPr lang="en-US" sz="2800" dirty="0">
                <a:latin typeface="Calibri"/>
                <a:ea typeface="Segoe UI"/>
                <a:cs typeface="Segoe UI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endParaRPr lang="en-GB" sz="2800" dirty="0">
              <a:latin typeface="Arial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800" dirty="0">
                <a:ea typeface="+mn-lt"/>
                <a:cs typeface="+mn-lt"/>
              </a:rPr>
              <a:t>Many apps (e.g., Redis, Memcached) have </a:t>
            </a:r>
            <a:r>
              <a:rPr lang="en-US" sz="2800" b="1" dirty="0">
                <a:ea typeface="+mn-lt"/>
                <a:cs typeface="+mn-lt"/>
              </a:rPr>
              <a:t>sparse access patterns</a:t>
            </a:r>
            <a:r>
              <a:rPr lang="en-US" sz="2800" dirty="0">
                <a:ea typeface="+mn-lt"/>
                <a:cs typeface="+mn-lt"/>
              </a:rPr>
              <a:t>, so migrating full </a:t>
            </a:r>
            <a:r>
              <a:rPr lang="en-US" sz="2800" baseline="0" dirty="0">
                <a:ea typeface="+mn-lt"/>
                <a:cs typeface="+mn-lt"/>
              </a:rPr>
              <a:t>pages </a:t>
            </a:r>
            <a:r>
              <a:rPr lang="en-US" sz="2800" dirty="0">
                <a:ea typeface="+mn-lt"/>
                <a:cs typeface="+mn-lt"/>
              </a:rPr>
              <a:t>is inefficient</a:t>
            </a:r>
            <a:r>
              <a:rPr lang="en-US" sz="2800" baseline="0" dirty="0">
                <a:ea typeface="+mn-lt"/>
                <a:cs typeface="+mn-lt"/>
              </a:rPr>
              <a:t>.</a:t>
            </a:r>
            <a:endParaRPr lang="en-US" sz="2800" dirty="0">
              <a:ea typeface="+mn-lt"/>
              <a:cs typeface="+mn-lt"/>
            </a:endParaRPr>
          </a:p>
          <a:p>
            <a:pPr rtl="0"/>
            <a:r>
              <a:rPr lang="en-GB" sz="2800" dirty="0"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endParaRPr lang="en-GB" sz="2800" dirty="0"/>
          </a:p>
        </p:txBody>
      </p:sp>
      <p:pic>
        <p:nvPicPr>
          <p:cNvPr id="19" name="Picture 18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7AC13566-F8D9-B0F3-A026-1F0F21217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152487" y="3539314"/>
            <a:ext cx="5612971" cy="3030565"/>
          </a:xfrm>
          <a:prstGeom prst="rect">
            <a:avLst/>
          </a:prstGeom>
        </p:spPr>
      </p:pic>
      <p:pic>
        <p:nvPicPr>
          <p:cNvPr id="8" name="Picture 7" descr="A screen shot of a black screen&#10;&#10;AI-generated content may be incorrect.">
            <a:extLst>
              <a:ext uri="{FF2B5EF4-FFF2-40B4-BE49-F238E27FC236}">
                <a16:creationId xmlns:a16="http://schemas.microsoft.com/office/drawing/2014/main" id="{71BC327E-3EAF-45D8-8C51-54499284CCD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91" b="36396"/>
          <a:stretch>
            <a:fillRect/>
          </a:stretch>
        </p:blipFill>
        <p:spPr>
          <a:xfrm>
            <a:off x="234519" y="1950654"/>
            <a:ext cx="6262041" cy="118256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16F757-8254-B402-B780-F87603958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71955"/>
              </p:ext>
            </p:extLst>
          </p:nvPr>
        </p:nvGraphicFramePr>
        <p:xfrm>
          <a:off x="6597560" y="1571077"/>
          <a:ext cx="5372621" cy="205705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41704">
                  <a:extLst>
                    <a:ext uri="{9D8B030D-6E8A-4147-A177-3AD203B41FA5}">
                      <a16:colId xmlns:a16="http://schemas.microsoft.com/office/drawing/2014/main" val="2110479548"/>
                    </a:ext>
                  </a:extLst>
                </a:gridCol>
                <a:gridCol w="1392249">
                  <a:extLst>
                    <a:ext uri="{9D8B030D-6E8A-4147-A177-3AD203B41FA5}">
                      <a16:colId xmlns:a16="http://schemas.microsoft.com/office/drawing/2014/main" val="3512741906"/>
                    </a:ext>
                  </a:extLst>
                </a:gridCol>
                <a:gridCol w="1338668">
                  <a:extLst>
                    <a:ext uri="{9D8B030D-6E8A-4147-A177-3AD203B41FA5}">
                      <a16:colId xmlns:a16="http://schemas.microsoft.com/office/drawing/2014/main" val="1692964804"/>
                    </a:ext>
                  </a:extLst>
                </a:gridCol>
              </a:tblGrid>
              <a:tr h="594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 dirty="0"/>
                        <a:t>Metric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/>
                        <a:t>ANB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/>
                        <a:t>DAMON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969568"/>
                  </a:ext>
                </a:extLst>
              </a:tr>
              <a:tr h="332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/>
                        <a:t>↑ CPU cycles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+487%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+733%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401514"/>
                  </a:ext>
                </a:extLst>
              </a:tr>
              <a:tr h="332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/>
                        <a:t>Avg Overhead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+159%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+277%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193226"/>
                  </a:ext>
                </a:extLst>
              </a:tr>
              <a:tr h="332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/>
                        <a:t>Redis p99 Latency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+34%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+39%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096697"/>
                  </a:ext>
                </a:extLst>
              </a:tr>
              <a:tr h="332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dirty="0"/>
                        <a:t>App Time (SSSP/Liblinear)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+4.6%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+8.6%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66079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B011C0-C849-CB93-C095-36111C7C8F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161394"/>
              </p:ext>
            </p:extLst>
          </p:nvPr>
        </p:nvGraphicFramePr>
        <p:xfrm>
          <a:off x="495583" y="4423018"/>
          <a:ext cx="11213818" cy="202770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90122">
                  <a:extLst>
                    <a:ext uri="{9D8B030D-6E8A-4147-A177-3AD203B41FA5}">
                      <a16:colId xmlns:a16="http://schemas.microsoft.com/office/drawing/2014/main" val="2449430765"/>
                    </a:ext>
                  </a:extLst>
                </a:gridCol>
                <a:gridCol w="4708199">
                  <a:extLst>
                    <a:ext uri="{9D8B030D-6E8A-4147-A177-3AD203B41FA5}">
                      <a16:colId xmlns:a16="http://schemas.microsoft.com/office/drawing/2014/main" val="2944800676"/>
                    </a:ext>
                  </a:extLst>
                </a:gridCol>
                <a:gridCol w="4815497">
                  <a:extLst>
                    <a:ext uri="{9D8B030D-6E8A-4147-A177-3AD203B41FA5}">
                      <a16:colId xmlns:a16="http://schemas.microsoft.com/office/drawing/2014/main" val="1510585728"/>
                    </a:ext>
                  </a:extLst>
                </a:gridCol>
              </a:tblGrid>
              <a:tr h="598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Aspect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Finding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Impact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349479"/>
                  </a:ext>
                </a:extLst>
              </a:tr>
              <a:tr h="476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Accuracy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Hot-page detection often wrong (warm pages)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Misguided migrations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836783"/>
                  </a:ext>
                </a:extLst>
              </a:tr>
              <a:tr h="476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Sparsity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Many pages partially used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Wasted fast memory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974496"/>
                  </a:ext>
                </a:extLst>
              </a:tr>
              <a:tr h="476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Overhead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Detection costly (up to +700% CPU cycles)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Hurts latency-sensitive apps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71973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62909EA-29CB-CACE-2A0B-17C1812E5CCB}"/>
              </a:ext>
            </a:extLst>
          </p:cNvPr>
          <p:cNvSpPr txBox="1"/>
          <p:nvPr/>
        </p:nvSpPr>
        <p:spPr>
          <a:xfrm>
            <a:off x="424770" y="3723942"/>
            <a:ext cx="379708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200" b="1" dirty="0">
                <a:ea typeface="Calibri"/>
                <a:cs typeface="Calibri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915152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16F8A-7E76-D2FB-4B85-DF13AE20E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2301AE-74C7-90FC-4AC7-91EAC1C21637}"/>
              </a:ext>
            </a:extLst>
          </p:cNvPr>
          <p:cNvSpPr/>
          <p:nvPr/>
        </p:nvSpPr>
        <p:spPr>
          <a:xfrm>
            <a:off x="385111" y="1388110"/>
            <a:ext cx="11465440" cy="5231292"/>
          </a:xfrm>
          <a:prstGeom prst="roundRect">
            <a:avLst>
              <a:gd name="adj" fmla="val 3859"/>
            </a:avLst>
          </a:prstGeom>
          <a:solidFill>
            <a:srgbClr val="D5CDA7">
              <a:alpha val="6745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943389-F596-F8AB-6549-AAFD1C4E9AB8}"/>
              </a:ext>
            </a:extLst>
          </p:cNvPr>
          <p:cNvSpPr txBox="1"/>
          <p:nvPr/>
        </p:nvSpPr>
        <p:spPr>
          <a:xfrm>
            <a:off x="356236" y="426203"/>
            <a:ext cx="9763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M5: TRACK, FILTER, AND MIGRATE</a:t>
            </a:r>
            <a:endParaRPr lang="en-IN" sz="36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1F7590-A969-753B-924C-195A2810DAD4}"/>
              </a:ext>
            </a:extLst>
          </p:cNvPr>
          <p:cNvGrpSpPr/>
          <p:nvPr/>
        </p:nvGrpSpPr>
        <p:grpSpPr>
          <a:xfrm>
            <a:off x="1576831" y="2246754"/>
            <a:ext cx="9019088" cy="3223136"/>
            <a:chOff x="1016162" y="1394983"/>
            <a:chExt cx="9019088" cy="322313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4BA8DCA-E239-59A3-D70F-39D224802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464" b="37860"/>
            <a:stretch>
              <a:fillRect/>
            </a:stretch>
          </p:blipFill>
          <p:spPr>
            <a:xfrm>
              <a:off x="1016162" y="3004805"/>
              <a:ext cx="3886200" cy="1613314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79C9E2F-6EA5-DB54-2A18-44E28F436E77}"/>
                </a:ext>
              </a:extLst>
            </p:cNvPr>
            <p:cNvGrpSpPr/>
            <p:nvPr/>
          </p:nvGrpSpPr>
          <p:grpSpPr>
            <a:xfrm>
              <a:off x="2959262" y="1394983"/>
              <a:ext cx="7075988" cy="2984838"/>
              <a:chOff x="2959262" y="1394983"/>
              <a:chExt cx="7075988" cy="2984838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9A11C71-EF2F-E5B4-0062-E213C0A405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32" t="66975" r="17139" b="16244"/>
              <a:stretch>
                <a:fillRect/>
              </a:stretch>
            </p:blipFill>
            <p:spPr>
              <a:xfrm>
                <a:off x="7511969" y="3000735"/>
                <a:ext cx="2523281" cy="1379086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655BD59C-1FB3-2596-6C81-8A7E8594C8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552" t="7592" r="9417" b="64811"/>
              <a:stretch>
                <a:fillRect/>
              </a:stretch>
            </p:blipFill>
            <p:spPr>
              <a:xfrm>
                <a:off x="4476030" y="1394983"/>
                <a:ext cx="2963119" cy="1613314"/>
              </a:xfrm>
              <a:prstGeom prst="rect">
                <a:avLst/>
              </a:prstGeom>
            </p:spPr>
          </p:pic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7294162-6358-FFA1-D423-73A82C902C4F}"/>
                  </a:ext>
                </a:extLst>
              </p:cNvPr>
              <p:cNvCxnSpPr>
                <a:stCxn id="8" idx="0"/>
                <a:endCxn id="6" idx="2"/>
              </p:cNvCxnSpPr>
              <p:nvPr/>
            </p:nvCxnSpPr>
            <p:spPr>
              <a:xfrm>
                <a:off x="2959262" y="3004805"/>
                <a:ext cx="2998328" cy="3492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21A74424-BE58-9F09-BFD9-1AD70C6EAB8D}"/>
                  </a:ext>
                </a:extLst>
              </p:cNvPr>
              <p:cNvCxnSpPr>
                <a:cxnSpLocks/>
                <a:stCxn id="6" idx="2"/>
                <a:endCxn id="5" idx="0"/>
              </p:cNvCxnSpPr>
              <p:nvPr/>
            </p:nvCxnSpPr>
            <p:spPr>
              <a:xfrm flipV="1">
                <a:off x="5957590" y="3000735"/>
                <a:ext cx="2816020" cy="7562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726446C-1CF9-CD47-67A0-54DAF0CE3597}"/>
                  </a:ext>
                </a:extLst>
              </p:cNvPr>
              <p:cNvCxnSpPr>
                <a:stCxn id="5" idx="0"/>
              </p:cNvCxnSpPr>
              <p:nvPr/>
            </p:nvCxnSpPr>
            <p:spPr>
              <a:xfrm>
                <a:off x="8773610" y="3000735"/>
                <a:ext cx="0" cy="12443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2" descr="ICANN2019">
            <a:extLst>
              <a:ext uri="{FF2B5EF4-FFF2-40B4-BE49-F238E27FC236}">
                <a16:creationId xmlns:a16="http://schemas.microsoft.com/office/drawing/2014/main" id="{E6E36F1E-7D22-372F-74CE-C18C8FFCF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186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0DFA6-3ABB-08C8-EA88-E56B00B86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CC551F8-5BF9-3FA0-9CCB-3BAA691B106E}"/>
              </a:ext>
            </a:extLst>
          </p:cNvPr>
          <p:cNvSpPr txBox="1"/>
          <p:nvPr/>
        </p:nvSpPr>
        <p:spPr>
          <a:xfrm>
            <a:off x="620125" y="1777273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HPT and HWT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743604-C1DB-1F3C-3179-D5261919A98F}"/>
              </a:ext>
            </a:extLst>
          </p:cNvPr>
          <p:cNvSpPr txBox="1"/>
          <p:nvPr/>
        </p:nvSpPr>
        <p:spPr>
          <a:xfrm>
            <a:off x="620125" y="2507484"/>
            <a:ext cx="41292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make HPT and HWT useful and practical, we determine the following requirements: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First, they should be able to handle each memory access every 2.5𝑛s.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Second, when the host CPU queries the top-𝐾 hot addresses, it should be able to return them quickly.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Lastly, the hardware cost should be reasonable, although it is a secondary constraint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50F5B0-ED49-F7A3-088B-066BB7C04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460" y="1777273"/>
            <a:ext cx="6251415" cy="44819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A6DA3C-BA40-8C8E-23E9-A4352A5AC681}"/>
              </a:ext>
            </a:extLst>
          </p:cNvPr>
          <p:cNvSpPr txBox="1"/>
          <p:nvPr/>
        </p:nvSpPr>
        <p:spPr>
          <a:xfrm>
            <a:off x="324083" y="380198"/>
            <a:ext cx="9830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M5: TRACK, FILTER, AND MIGRATE</a:t>
            </a:r>
            <a:endParaRPr lang="en-IN" sz="36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</p:txBody>
      </p:sp>
      <p:pic>
        <p:nvPicPr>
          <p:cNvPr id="7" name="Picture 2" descr="ICANN2019">
            <a:extLst>
              <a:ext uri="{FF2B5EF4-FFF2-40B4-BE49-F238E27FC236}">
                <a16:creationId xmlns:a16="http://schemas.microsoft.com/office/drawing/2014/main" id="{3C0A89FE-6F8E-F402-573C-09146EBE1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BAB111-860B-0D4A-A3A8-4A7EA70DFFFC}"/>
              </a:ext>
            </a:extLst>
          </p:cNvPr>
          <p:cNvSpPr/>
          <p:nvPr/>
        </p:nvSpPr>
        <p:spPr>
          <a:xfrm>
            <a:off x="5139891" y="1558693"/>
            <a:ext cx="6612555" cy="4919109"/>
          </a:xfrm>
          <a:prstGeom prst="roundRect">
            <a:avLst>
              <a:gd name="adj" fmla="val 5179"/>
            </a:avLst>
          </a:prstGeom>
          <a:noFill/>
          <a:ln>
            <a:solidFill>
              <a:srgbClr val="91844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53B79A-E51B-FF37-5C6D-AF797233C489}"/>
              </a:ext>
            </a:extLst>
          </p:cNvPr>
          <p:cNvSpPr txBox="1"/>
          <p:nvPr/>
        </p:nvSpPr>
        <p:spPr>
          <a:xfrm>
            <a:off x="13938054" y="1558693"/>
            <a:ext cx="6976413" cy="8519162"/>
          </a:xfrm>
          <a:prstGeom prst="rect">
            <a:avLst/>
          </a:prstGeom>
          <a:solidFill>
            <a:srgbClr val="ECE9D8">
              <a:alpha val="68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F2E4BF-A0A8-3316-3731-F939C08895E9}"/>
              </a:ext>
            </a:extLst>
          </p:cNvPr>
          <p:cNvSpPr txBox="1"/>
          <p:nvPr/>
        </p:nvSpPr>
        <p:spPr>
          <a:xfrm>
            <a:off x="2245782" y="7480747"/>
            <a:ext cx="13863222" cy="7245844"/>
          </a:xfrm>
          <a:prstGeom prst="rect">
            <a:avLst/>
          </a:prstGeom>
          <a:solidFill>
            <a:srgbClr val="ECE9D8">
              <a:alpha val="68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0561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45F59-F851-AF7F-D04E-E417FEBEC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EA09ADC-00FB-A36F-A062-8C143730D6B2}"/>
              </a:ext>
            </a:extLst>
          </p:cNvPr>
          <p:cNvSpPr txBox="1"/>
          <p:nvPr/>
        </p:nvSpPr>
        <p:spPr>
          <a:xfrm>
            <a:off x="-8936635" y="-8531732"/>
            <a:ext cx="741387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HPT and HWT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641185-22BB-13AA-6311-94EA78A407BF}"/>
              </a:ext>
            </a:extLst>
          </p:cNvPr>
          <p:cNvSpPr txBox="1"/>
          <p:nvPr/>
        </p:nvSpPr>
        <p:spPr>
          <a:xfrm>
            <a:off x="-9827747" y="-7213404"/>
            <a:ext cx="11132321" cy="9694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To make HPT and HWT useful and practical, we determine the following requirements: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First, they should be able to handle each memory access every 2.5𝑛s.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Second, when the host CPU queries the top-𝐾 hot addresses, it should be able to return them quickly.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Lastly, the hardware cost should be reasonable, although it is a secondary constraint</a:t>
            </a:r>
            <a:endParaRPr lang="en-IN" sz="4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378FEF-372B-3D9F-78D7-7237CF35C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068" y="1225550"/>
            <a:ext cx="13621370" cy="9765830"/>
          </a:xfrm>
          <a:prstGeom prst="rect">
            <a:avLst/>
          </a:prstGeom>
        </p:spPr>
      </p:pic>
      <p:pic>
        <p:nvPicPr>
          <p:cNvPr id="7" name="Picture 2" descr="ICANN2019">
            <a:extLst>
              <a:ext uri="{FF2B5EF4-FFF2-40B4-BE49-F238E27FC236}">
                <a16:creationId xmlns:a16="http://schemas.microsoft.com/office/drawing/2014/main" id="{D88855DD-E305-F4A9-DE67-E44C26AE1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803F12-F074-E54F-3A7F-C2C78E42361B}"/>
              </a:ext>
            </a:extLst>
          </p:cNvPr>
          <p:cNvSpPr/>
          <p:nvPr/>
        </p:nvSpPr>
        <p:spPr>
          <a:xfrm>
            <a:off x="-5804703" y="-1173262"/>
            <a:ext cx="18950914" cy="10853801"/>
          </a:xfrm>
          <a:prstGeom prst="roundRect">
            <a:avLst>
              <a:gd name="adj" fmla="val 5179"/>
            </a:avLst>
          </a:prstGeom>
          <a:noFill/>
          <a:ln>
            <a:solidFill>
              <a:srgbClr val="91844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663195-8C0F-BC6A-4689-A3BFEE134EF3}"/>
              </a:ext>
            </a:extLst>
          </p:cNvPr>
          <p:cNvSpPr txBox="1"/>
          <p:nvPr/>
        </p:nvSpPr>
        <p:spPr>
          <a:xfrm>
            <a:off x="7692898" y="1424570"/>
            <a:ext cx="8859540" cy="8454989"/>
          </a:xfrm>
          <a:prstGeom prst="rect">
            <a:avLst/>
          </a:prstGeom>
          <a:solidFill>
            <a:srgbClr val="ECE9D8">
              <a:alpha val="79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977DD9-C7E5-7924-8A60-D0BDB356EABD}"/>
              </a:ext>
            </a:extLst>
          </p:cNvPr>
          <p:cNvSpPr txBox="1"/>
          <p:nvPr/>
        </p:nvSpPr>
        <p:spPr>
          <a:xfrm>
            <a:off x="2931067" y="5632450"/>
            <a:ext cx="11621511" cy="7245844"/>
          </a:xfrm>
          <a:prstGeom prst="rect">
            <a:avLst/>
          </a:prstGeom>
          <a:solidFill>
            <a:srgbClr val="ECE9D8">
              <a:alpha val="80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DA44FF-45D7-A7E2-DE75-2B1958B57F8C}"/>
              </a:ext>
            </a:extLst>
          </p:cNvPr>
          <p:cNvSpPr txBox="1"/>
          <p:nvPr/>
        </p:nvSpPr>
        <p:spPr>
          <a:xfrm>
            <a:off x="-11827607" y="1026529"/>
            <a:ext cx="11621511" cy="7245844"/>
          </a:xfrm>
          <a:prstGeom prst="rect">
            <a:avLst/>
          </a:prstGeom>
          <a:solidFill>
            <a:srgbClr val="ECE9D8">
              <a:alpha val="68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91AB6C-7064-70A4-A428-C38CD19C6878}"/>
              </a:ext>
            </a:extLst>
          </p:cNvPr>
          <p:cNvSpPr txBox="1"/>
          <p:nvPr/>
        </p:nvSpPr>
        <p:spPr>
          <a:xfrm>
            <a:off x="324083" y="380198"/>
            <a:ext cx="9830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M5: TRACK, FILTER, AND MIGRATE</a:t>
            </a:r>
            <a:endParaRPr lang="en-IN" sz="36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418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019D6-5437-70A9-DBA5-46AD2A11E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9CAC512-D073-1F2A-512A-3557989AB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2339" y="2153622"/>
            <a:ext cx="10663380" cy="764510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ED8EA76-76D4-7CC1-B667-015C4D5D6900}"/>
              </a:ext>
            </a:extLst>
          </p:cNvPr>
          <p:cNvGrpSpPr/>
          <p:nvPr/>
        </p:nvGrpSpPr>
        <p:grpSpPr>
          <a:xfrm>
            <a:off x="-2829817" y="1606877"/>
            <a:ext cx="6094070" cy="4587666"/>
            <a:chOff x="766823" y="1558693"/>
            <a:chExt cx="6094070" cy="458766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C18EFD-7878-1792-796D-EECC6FDC174C}"/>
                </a:ext>
              </a:extLst>
            </p:cNvPr>
            <p:cNvSpPr txBox="1"/>
            <p:nvPr/>
          </p:nvSpPr>
          <p:spPr>
            <a:xfrm>
              <a:off x="766823" y="1558693"/>
              <a:ext cx="609407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400" b="1" spc="562" dirty="0">
                  <a:solidFill>
                    <a:srgbClr val="6F6935"/>
                  </a:solidFill>
                  <a:latin typeface="Aptos" panose="020B0004020202020204" pitchFamily="34" charset="0"/>
                </a:rPr>
                <a:t>HPT and HWT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1D826A-F986-B73A-AB5A-112C6BE697A4}"/>
                </a:ext>
              </a:extLst>
            </p:cNvPr>
            <p:cNvSpPr txBox="1"/>
            <p:nvPr/>
          </p:nvSpPr>
          <p:spPr>
            <a:xfrm>
              <a:off x="766823" y="2176041"/>
              <a:ext cx="4129268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To make HPT and HWT useful and practical, we determine the following requirements:</a:t>
              </a:r>
              <a:br>
                <a:rPr lang="en-US" dirty="0"/>
              </a:br>
              <a:br>
                <a:rPr lang="en-US" dirty="0"/>
              </a:br>
              <a:r>
                <a:rPr lang="en-US" dirty="0"/>
                <a:t>First, they should be able to handle each memory access every 2.5𝑛s.</a:t>
              </a:r>
              <a:br>
                <a:rPr lang="en-US" dirty="0"/>
              </a:br>
              <a:br>
                <a:rPr lang="en-US" dirty="0"/>
              </a:br>
              <a:r>
                <a:rPr lang="en-US" dirty="0"/>
                <a:t>Second, when the host CPU queries the top-𝐾 hot addresses, it should be able to return them quickly.</a:t>
              </a:r>
              <a:br>
                <a:rPr lang="en-US" dirty="0"/>
              </a:br>
              <a:br>
                <a:rPr lang="en-US" dirty="0"/>
              </a:br>
              <a:r>
                <a:rPr lang="en-US" dirty="0"/>
                <a:t>Lastly, the hardware cost should be reasonable, although it is a secondary constraint</a:t>
              </a:r>
              <a:endParaRPr lang="en-IN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EFB880B-2703-2AB0-B071-5CEFB36FD82C}"/>
              </a:ext>
            </a:extLst>
          </p:cNvPr>
          <p:cNvSpPr txBox="1"/>
          <p:nvPr/>
        </p:nvSpPr>
        <p:spPr>
          <a:xfrm>
            <a:off x="-3182178" y="1199514"/>
            <a:ext cx="4291612" cy="7245844"/>
          </a:xfrm>
          <a:prstGeom prst="rect">
            <a:avLst/>
          </a:prstGeom>
          <a:solidFill>
            <a:srgbClr val="ECE9D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0DEACC-CCBB-9367-783A-4630D37288CC}"/>
              </a:ext>
            </a:extLst>
          </p:cNvPr>
          <p:cNvSpPr txBox="1"/>
          <p:nvPr/>
        </p:nvSpPr>
        <p:spPr>
          <a:xfrm>
            <a:off x="0" y="5658486"/>
            <a:ext cx="11623987" cy="7245844"/>
          </a:xfrm>
          <a:prstGeom prst="rect">
            <a:avLst/>
          </a:prstGeom>
          <a:solidFill>
            <a:srgbClr val="ECE9D8">
              <a:alpha val="81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2" name="Picture 2" descr="ICANN2019">
            <a:extLst>
              <a:ext uri="{FF2B5EF4-FFF2-40B4-BE49-F238E27FC236}">
                <a16:creationId xmlns:a16="http://schemas.microsoft.com/office/drawing/2014/main" id="{9853D18A-576B-B071-64C1-D5F0CBA68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B66966E-509C-549C-C4CE-4350D825810C}"/>
              </a:ext>
            </a:extLst>
          </p:cNvPr>
          <p:cNvSpPr txBox="1"/>
          <p:nvPr/>
        </p:nvSpPr>
        <p:spPr>
          <a:xfrm>
            <a:off x="-3525666" y="1166537"/>
            <a:ext cx="6778537" cy="7245844"/>
          </a:xfrm>
          <a:prstGeom prst="rect">
            <a:avLst/>
          </a:prstGeom>
          <a:solidFill>
            <a:srgbClr val="ECE9D8">
              <a:alpha val="82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163A43-DC88-56C0-FCAC-949664C16A27}"/>
              </a:ext>
            </a:extLst>
          </p:cNvPr>
          <p:cNvSpPr txBox="1"/>
          <p:nvPr/>
        </p:nvSpPr>
        <p:spPr>
          <a:xfrm>
            <a:off x="13216166" y="1297550"/>
            <a:ext cx="6778537" cy="7245844"/>
          </a:xfrm>
          <a:prstGeom prst="rect">
            <a:avLst/>
          </a:prstGeom>
          <a:solidFill>
            <a:srgbClr val="ECE9D8">
              <a:alpha val="68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F834C0-AD47-9AF5-830C-244491136BFB}"/>
              </a:ext>
            </a:extLst>
          </p:cNvPr>
          <p:cNvSpPr txBox="1"/>
          <p:nvPr/>
        </p:nvSpPr>
        <p:spPr>
          <a:xfrm>
            <a:off x="1108987" y="-7569478"/>
            <a:ext cx="9826714" cy="7245844"/>
          </a:xfrm>
          <a:prstGeom prst="rect">
            <a:avLst/>
          </a:prstGeom>
          <a:solidFill>
            <a:srgbClr val="ECE9D8">
              <a:alpha val="68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037563-F685-0459-D496-CA5A3C0E8DBD}"/>
              </a:ext>
            </a:extLst>
          </p:cNvPr>
          <p:cNvSpPr txBox="1"/>
          <p:nvPr/>
        </p:nvSpPr>
        <p:spPr>
          <a:xfrm>
            <a:off x="324083" y="380198"/>
            <a:ext cx="9830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M5: TRACK, FILTER, AND MIGRATE</a:t>
            </a:r>
            <a:endParaRPr lang="en-IN" sz="36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838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C5B4B-5C2D-2AFD-68E0-2BD75270E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9EFD9B9-3387-4F22-217D-16754FB9B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054" y="-227629"/>
            <a:ext cx="8405807" cy="602653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6B80CDE-F461-0542-1772-E2BDF964EF8E}"/>
              </a:ext>
            </a:extLst>
          </p:cNvPr>
          <p:cNvGrpSpPr/>
          <p:nvPr/>
        </p:nvGrpSpPr>
        <p:grpSpPr>
          <a:xfrm>
            <a:off x="-3226057" y="1606877"/>
            <a:ext cx="6094070" cy="4587666"/>
            <a:chOff x="766823" y="1558693"/>
            <a:chExt cx="6094070" cy="458766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A14F7FD-6F01-D4C4-FE27-DF44BF5C28FF}"/>
                </a:ext>
              </a:extLst>
            </p:cNvPr>
            <p:cNvSpPr txBox="1"/>
            <p:nvPr/>
          </p:nvSpPr>
          <p:spPr>
            <a:xfrm>
              <a:off x="766823" y="1558693"/>
              <a:ext cx="609407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400" b="1" spc="562" dirty="0">
                  <a:solidFill>
                    <a:srgbClr val="6F6935"/>
                  </a:solidFill>
                  <a:latin typeface="Aptos" panose="020B0004020202020204" pitchFamily="34" charset="0"/>
                </a:rPr>
                <a:t>HPT and HWT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8153D11-9A2E-9C1A-5BFF-B4A3783F64A9}"/>
                </a:ext>
              </a:extLst>
            </p:cNvPr>
            <p:cNvSpPr txBox="1"/>
            <p:nvPr/>
          </p:nvSpPr>
          <p:spPr>
            <a:xfrm>
              <a:off x="766823" y="2176041"/>
              <a:ext cx="4129268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To make HPT and HWT useful and practical, we determine the following requirements:</a:t>
              </a:r>
              <a:br>
                <a:rPr lang="en-US" dirty="0"/>
              </a:br>
              <a:br>
                <a:rPr lang="en-US" dirty="0"/>
              </a:br>
              <a:r>
                <a:rPr lang="en-US" dirty="0"/>
                <a:t>First, they should be able to handle each memory access every 2.5𝑛s.</a:t>
              </a:r>
              <a:br>
                <a:rPr lang="en-US" dirty="0"/>
              </a:br>
              <a:br>
                <a:rPr lang="en-US" dirty="0"/>
              </a:br>
              <a:r>
                <a:rPr lang="en-US" dirty="0"/>
                <a:t>Second, when the host CPU queries the top-𝐾 hot addresses, it should be able to return them quickly.</a:t>
              </a:r>
              <a:br>
                <a:rPr lang="en-US" dirty="0"/>
              </a:br>
              <a:br>
                <a:rPr lang="en-US" dirty="0"/>
              </a:br>
              <a:r>
                <a:rPr lang="en-US" dirty="0"/>
                <a:t>Lastly, the hardware cost should be reasonable, although it is a secondary constraint</a:t>
              </a:r>
              <a:endParaRPr lang="en-IN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64FCAAA-7C79-414B-3E15-96A4D1789F52}"/>
              </a:ext>
            </a:extLst>
          </p:cNvPr>
          <p:cNvSpPr txBox="1"/>
          <p:nvPr/>
        </p:nvSpPr>
        <p:spPr>
          <a:xfrm>
            <a:off x="-4067355" y="1173841"/>
            <a:ext cx="5788218" cy="7245844"/>
          </a:xfrm>
          <a:prstGeom prst="rect">
            <a:avLst/>
          </a:prstGeom>
          <a:solidFill>
            <a:srgbClr val="ECE9D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6926BF-64E3-75B9-D3F8-EB9F0030D6EB}"/>
              </a:ext>
            </a:extLst>
          </p:cNvPr>
          <p:cNvSpPr txBox="1"/>
          <p:nvPr/>
        </p:nvSpPr>
        <p:spPr>
          <a:xfrm>
            <a:off x="1559449" y="-1958506"/>
            <a:ext cx="8571412" cy="4744145"/>
          </a:xfrm>
          <a:prstGeom prst="rect">
            <a:avLst/>
          </a:prstGeom>
          <a:solidFill>
            <a:srgbClr val="ECE9D8">
              <a:alpha val="85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2" descr="ICANN2019">
            <a:extLst>
              <a:ext uri="{FF2B5EF4-FFF2-40B4-BE49-F238E27FC236}">
                <a16:creationId xmlns:a16="http://schemas.microsoft.com/office/drawing/2014/main" id="{048C5E45-AC8B-FA42-4D11-031EC2629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EB59B7-6ED3-FB4D-2764-8807758CABC1}"/>
              </a:ext>
            </a:extLst>
          </p:cNvPr>
          <p:cNvSpPr txBox="1"/>
          <p:nvPr/>
        </p:nvSpPr>
        <p:spPr>
          <a:xfrm>
            <a:off x="324083" y="380198"/>
            <a:ext cx="9830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M5: TRACK, FILTER, AND MIGRATE</a:t>
            </a:r>
            <a:endParaRPr lang="en-IN" sz="36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743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6F396-0374-D48F-527D-F7DB2C646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37888D-00D1-8E00-9246-87B10EBB495A}"/>
              </a:ext>
            </a:extLst>
          </p:cNvPr>
          <p:cNvSpPr txBox="1"/>
          <p:nvPr/>
        </p:nvSpPr>
        <p:spPr>
          <a:xfrm>
            <a:off x="1411553" y="2627062"/>
            <a:ext cx="281657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MONITOR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NOMINATOR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ELECTOR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PROMOTOR</a:t>
            </a:r>
            <a:endParaRPr lang="en-IN" sz="2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FBB6E1-9A7E-D531-3291-86F46285C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359" y="1556424"/>
            <a:ext cx="6757363" cy="4999198"/>
          </a:xfrm>
          <a:prstGeom prst="rect">
            <a:avLst/>
          </a:prstGeom>
        </p:spPr>
      </p:pic>
      <p:pic>
        <p:nvPicPr>
          <p:cNvPr id="8" name="Picture 2" descr="ICANN2019">
            <a:extLst>
              <a:ext uri="{FF2B5EF4-FFF2-40B4-BE49-F238E27FC236}">
                <a16:creationId xmlns:a16="http://schemas.microsoft.com/office/drawing/2014/main" id="{EC76D8B8-D12F-749C-629F-88B367BBE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98FEA5-927D-CD89-0BE0-D05BF905B5CE}"/>
              </a:ext>
            </a:extLst>
          </p:cNvPr>
          <p:cNvSpPr txBox="1"/>
          <p:nvPr/>
        </p:nvSpPr>
        <p:spPr>
          <a:xfrm>
            <a:off x="324083" y="380198"/>
            <a:ext cx="9830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M5: TRACK, FILTER, AND MIGRATE</a:t>
            </a:r>
            <a:endParaRPr lang="en-IN" sz="36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364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14C3E-9630-1E6E-93D6-2F7140EFF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BF91CC4-1412-A78B-6338-8BEBF2EC76AD}"/>
              </a:ext>
            </a:extLst>
          </p:cNvPr>
          <p:cNvSpPr txBox="1"/>
          <p:nvPr/>
        </p:nvSpPr>
        <p:spPr>
          <a:xfrm>
            <a:off x="685797" y="1820661"/>
            <a:ext cx="281657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MONITOR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NOMINATOR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ELECTOR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PROMOTOR</a:t>
            </a:r>
            <a:endParaRPr lang="en-IN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822628-9F3E-9A0F-0922-ED39F4A51F26}"/>
              </a:ext>
            </a:extLst>
          </p:cNvPr>
          <p:cNvSpPr txBox="1"/>
          <p:nvPr/>
        </p:nvSpPr>
        <p:spPr>
          <a:xfrm>
            <a:off x="700353" y="2480578"/>
            <a:ext cx="3304250" cy="1986961"/>
          </a:xfrm>
          <a:prstGeom prst="rect">
            <a:avLst/>
          </a:prstGeom>
          <a:solidFill>
            <a:srgbClr val="ECE9D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A31635-30EA-B1A5-A914-419B789D2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77" y="2674842"/>
            <a:ext cx="5377444" cy="17883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6CE230-D383-3789-2449-758C60FCC9BF}"/>
              </a:ext>
            </a:extLst>
          </p:cNvPr>
          <p:cNvSpPr txBox="1"/>
          <p:nvPr/>
        </p:nvSpPr>
        <p:spPr>
          <a:xfrm>
            <a:off x="10041636" y="1616077"/>
            <a:ext cx="4283963" cy="7246569"/>
          </a:xfrm>
          <a:prstGeom prst="rect">
            <a:avLst/>
          </a:prstGeom>
          <a:solidFill>
            <a:srgbClr val="ECE9D8">
              <a:alpha val="36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C06FA6-8310-E9C9-79E5-E0B47A126251}"/>
              </a:ext>
            </a:extLst>
          </p:cNvPr>
          <p:cNvSpPr txBox="1"/>
          <p:nvPr/>
        </p:nvSpPr>
        <p:spPr>
          <a:xfrm>
            <a:off x="6095995" y="5443945"/>
            <a:ext cx="8762742" cy="7246569"/>
          </a:xfrm>
          <a:prstGeom prst="rect">
            <a:avLst/>
          </a:prstGeom>
          <a:solidFill>
            <a:srgbClr val="ECE9D8">
              <a:alpha val="36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B5E1B73-21E5-F2CC-E9F7-2F3C5504B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31" y="4463184"/>
            <a:ext cx="5550178" cy="17883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A120D4-6A22-4ED0-6A22-7876D18C1B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8222" y="1820661"/>
            <a:ext cx="15852707" cy="117280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C0DCFCD-861F-261B-23CD-51E2BB5A7F53}"/>
              </a:ext>
            </a:extLst>
          </p:cNvPr>
          <p:cNvSpPr txBox="1"/>
          <p:nvPr/>
        </p:nvSpPr>
        <p:spPr>
          <a:xfrm>
            <a:off x="10830307" y="1608065"/>
            <a:ext cx="8200035" cy="6280734"/>
          </a:xfrm>
          <a:prstGeom prst="rect">
            <a:avLst/>
          </a:prstGeom>
          <a:solidFill>
            <a:srgbClr val="ECE9D8">
              <a:alpha val="84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E5EA77-DDB1-78AC-6B2B-2E570AA39C74}"/>
              </a:ext>
            </a:extLst>
          </p:cNvPr>
          <p:cNvSpPr txBox="1"/>
          <p:nvPr/>
        </p:nvSpPr>
        <p:spPr>
          <a:xfrm>
            <a:off x="7217924" y="6518272"/>
            <a:ext cx="3612384" cy="6280734"/>
          </a:xfrm>
          <a:prstGeom prst="rect">
            <a:avLst/>
          </a:prstGeom>
          <a:solidFill>
            <a:srgbClr val="ECE9D8">
              <a:alpha val="84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AE3B5A0F-4286-F9F8-1EE6-23D635FE0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6595FC-20D1-600A-AE77-B2868C873797}"/>
              </a:ext>
            </a:extLst>
          </p:cNvPr>
          <p:cNvSpPr txBox="1"/>
          <p:nvPr/>
        </p:nvSpPr>
        <p:spPr>
          <a:xfrm>
            <a:off x="324083" y="380198"/>
            <a:ext cx="9830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M5: TRACK, FILTER, AND MIGRATE</a:t>
            </a:r>
            <a:endParaRPr lang="en-IN" sz="36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770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E83C-3D49-E49D-723B-96D96690A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2D55EF7-3498-FC59-519F-19E8A48A2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635" y="-1985644"/>
            <a:ext cx="12073889" cy="89324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6EB1CCA-13D5-9058-745E-AA727EFC4002}"/>
              </a:ext>
            </a:extLst>
          </p:cNvPr>
          <p:cNvSpPr txBox="1"/>
          <p:nvPr/>
        </p:nvSpPr>
        <p:spPr>
          <a:xfrm>
            <a:off x="5462903" y="-4664657"/>
            <a:ext cx="8200035" cy="6280734"/>
          </a:xfrm>
          <a:prstGeom prst="rect">
            <a:avLst/>
          </a:prstGeom>
          <a:solidFill>
            <a:srgbClr val="ECE9D8">
              <a:alpha val="85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66C53D-96E5-9BFD-4969-BF8E06406F79}"/>
              </a:ext>
            </a:extLst>
          </p:cNvPr>
          <p:cNvSpPr txBox="1"/>
          <p:nvPr/>
        </p:nvSpPr>
        <p:spPr>
          <a:xfrm>
            <a:off x="685797" y="1820661"/>
            <a:ext cx="281657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NOMINATOR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NOMINATOR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ELECTOR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PROMOTOR</a:t>
            </a:r>
            <a:endParaRPr lang="en-IN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5DE704-52A9-94F1-305F-7E2A964FD82F}"/>
              </a:ext>
            </a:extLst>
          </p:cNvPr>
          <p:cNvSpPr txBox="1"/>
          <p:nvPr/>
        </p:nvSpPr>
        <p:spPr>
          <a:xfrm>
            <a:off x="700353" y="2480578"/>
            <a:ext cx="3304250" cy="1986961"/>
          </a:xfrm>
          <a:prstGeom prst="rect">
            <a:avLst/>
          </a:prstGeom>
          <a:solidFill>
            <a:srgbClr val="ECE9D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B6DF9E-F439-F08D-38B7-2F9BDB5C67BC}"/>
              </a:ext>
            </a:extLst>
          </p:cNvPr>
          <p:cNvSpPr txBox="1"/>
          <p:nvPr/>
        </p:nvSpPr>
        <p:spPr>
          <a:xfrm>
            <a:off x="11642688" y="456458"/>
            <a:ext cx="4283963" cy="7246569"/>
          </a:xfrm>
          <a:prstGeom prst="rect">
            <a:avLst/>
          </a:prstGeom>
          <a:solidFill>
            <a:srgbClr val="ECE9D8">
              <a:alpha val="78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99514A-D48C-2196-A751-69F4DB0392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53" y="2693166"/>
            <a:ext cx="4869726" cy="1986961"/>
          </a:xfrm>
          <a:prstGeom prst="rect">
            <a:avLst/>
          </a:prstGeom>
        </p:spPr>
      </p:pic>
      <p:pic>
        <p:nvPicPr>
          <p:cNvPr id="11" name="Picture 2" descr="ICANN2019">
            <a:extLst>
              <a:ext uri="{FF2B5EF4-FFF2-40B4-BE49-F238E27FC236}">
                <a16:creationId xmlns:a16="http://schemas.microsoft.com/office/drawing/2014/main" id="{77BEF976-7B90-5137-FA0D-7D1661F94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781F96A-9D61-19B2-D2A7-4414BB8E521B}"/>
              </a:ext>
            </a:extLst>
          </p:cNvPr>
          <p:cNvSpPr txBox="1"/>
          <p:nvPr/>
        </p:nvSpPr>
        <p:spPr>
          <a:xfrm>
            <a:off x="324083" y="380198"/>
            <a:ext cx="9830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M5: TRACK, FILTER, AND MIGRATE</a:t>
            </a:r>
            <a:endParaRPr lang="en-IN" sz="36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420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D6DC1-899C-AE83-391B-B23C2F426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4E2D98-60BB-12A1-0230-783AE8C6A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209" y="2178958"/>
            <a:ext cx="12750029" cy="94326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8FEB8B-79DE-451E-4A4E-F6AF4E033FAD}"/>
              </a:ext>
            </a:extLst>
          </p:cNvPr>
          <p:cNvSpPr txBox="1"/>
          <p:nvPr/>
        </p:nvSpPr>
        <p:spPr>
          <a:xfrm>
            <a:off x="-1521219" y="872212"/>
            <a:ext cx="8200035" cy="6280734"/>
          </a:xfrm>
          <a:prstGeom prst="rect">
            <a:avLst/>
          </a:prstGeom>
          <a:solidFill>
            <a:srgbClr val="ECE9D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31217B-163F-866F-F2C3-B57C7D7A414E}"/>
              </a:ext>
            </a:extLst>
          </p:cNvPr>
          <p:cNvSpPr txBox="1"/>
          <p:nvPr/>
        </p:nvSpPr>
        <p:spPr>
          <a:xfrm>
            <a:off x="5462903" y="-4664657"/>
            <a:ext cx="8200035" cy="6280734"/>
          </a:xfrm>
          <a:prstGeom prst="rect">
            <a:avLst/>
          </a:prstGeom>
          <a:solidFill>
            <a:srgbClr val="ECE9D8">
              <a:alpha val="81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F99469-65AE-DBE3-27B5-3018999A2881}"/>
              </a:ext>
            </a:extLst>
          </p:cNvPr>
          <p:cNvSpPr txBox="1"/>
          <p:nvPr/>
        </p:nvSpPr>
        <p:spPr>
          <a:xfrm>
            <a:off x="685797" y="1820661"/>
            <a:ext cx="281657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ELECTOR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NOMINATOR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ELECTOR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PROMOTOR</a:t>
            </a:r>
            <a:endParaRPr lang="en-IN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F1D8E7-7F8B-00AC-8F08-E997FEB1FEED}"/>
              </a:ext>
            </a:extLst>
          </p:cNvPr>
          <p:cNvSpPr txBox="1"/>
          <p:nvPr/>
        </p:nvSpPr>
        <p:spPr>
          <a:xfrm>
            <a:off x="700353" y="2480578"/>
            <a:ext cx="3304250" cy="1986961"/>
          </a:xfrm>
          <a:prstGeom prst="rect">
            <a:avLst/>
          </a:prstGeom>
          <a:solidFill>
            <a:srgbClr val="ECE9D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5F12C5-A5F9-52D7-15C5-F6BA1811750C}"/>
              </a:ext>
            </a:extLst>
          </p:cNvPr>
          <p:cNvSpPr txBox="1"/>
          <p:nvPr/>
        </p:nvSpPr>
        <p:spPr>
          <a:xfrm>
            <a:off x="11999336" y="396877"/>
            <a:ext cx="4283963" cy="7246569"/>
          </a:xfrm>
          <a:prstGeom prst="rect">
            <a:avLst/>
          </a:prstGeom>
          <a:solidFill>
            <a:srgbClr val="ECE9D8">
              <a:alpha val="66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32239D-44CD-918E-16CA-A9E273649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06" y="2544824"/>
            <a:ext cx="5623468" cy="34409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0967E1-7405-D9E3-DFD7-D84FA9A30254}"/>
              </a:ext>
            </a:extLst>
          </p:cNvPr>
          <p:cNvSpPr txBox="1"/>
          <p:nvPr/>
        </p:nvSpPr>
        <p:spPr>
          <a:xfrm>
            <a:off x="6095995" y="5526325"/>
            <a:ext cx="8200035" cy="6280734"/>
          </a:xfrm>
          <a:prstGeom prst="rect">
            <a:avLst/>
          </a:prstGeom>
          <a:solidFill>
            <a:srgbClr val="ECE9D8">
              <a:alpha val="72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F16687-1DCD-6CC4-FC5A-846E3240D3AD}"/>
              </a:ext>
            </a:extLst>
          </p:cNvPr>
          <p:cNvSpPr txBox="1"/>
          <p:nvPr/>
        </p:nvSpPr>
        <p:spPr>
          <a:xfrm>
            <a:off x="11441366" y="1124939"/>
            <a:ext cx="8200035" cy="6280734"/>
          </a:xfrm>
          <a:prstGeom prst="rect">
            <a:avLst/>
          </a:prstGeom>
          <a:solidFill>
            <a:srgbClr val="ECE9D8">
              <a:alpha val="70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6" name="Picture 2" descr="ICANN2019">
            <a:extLst>
              <a:ext uri="{FF2B5EF4-FFF2-40B4-BE49-F238E27FC236}">
                <a16:creationId xmlns:a16="http://schemas.microsoft.com/office/drawing/2014/main" id="{A6434411-A77A-B828-AA52-FC549DB03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9C1B0FC-18D3-A5F3-7865-A9B5C8F75584}"/>
              </a:ext>
            </a:extLst>
          </p:cNvPr>
          <p:cNvSpPr txBox="1"/>
          <p:nvPr/>
        </p:nvSpPr>
        <p:spPr>
          <a:xfrm>
            <a:off x="324083" y="380198"/>
            <a:ext cx="9830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M5: TRACK, FILTER, AND MIGRATE</a:t>
            </a:r>
            <a:endParaRPr lang="en-IN" sz="36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971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D39C1-E864-1BAF-0F25-337F6F3B5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4D90903-84A2-F65F-1F31-ACD414267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47" y="1223807"/>
            <a:ext cx="10668800" cy="56341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7FE196-2E40-6FE8-9CF3-127135F71497}"/>
              </a:ext>
            </a:extLst>
          </p:cNvPr>
          <p:cNvSpPr txBox="1"/>
          <p:nvPr/>
        </p:nvSpPr>
        <p:spPr>
          <a:xfrm>
            <a:off x="-968532" y="-3140367"/>
            <a:ext cx="8916778" cy="6280734"/>
          </a:xfrm>
          <a:prstGeom prst="rect">
            <a:avLst/>
          </a:prstGeom>
          <a:solidFill>
            <a:srgbClr val="ECE9D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EA8A1E-70A8-DB1B-6486-8C700DCA0A8F}"/>
              </a:ext>
            </a:extLst>
          </p:cNvPr>
          <p:cNvSpPr txBox="1"/>
          <p:nvPr/>
        </p:nvSpPr>
        <p:spPr>
          <a:xfrm>
            <a:off x="-2042788" y="1362712"/>
            <a:ext cx="8200035" cy="6280734"/>
          </a:xfrm>
          <a:prstGeom prst="rect">
            <a:avLst/>
          </a:prstGeom>
          <a:solidFill>
            <a:srgbClr val="ECE9D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7E8AFE-CB79-C0E0-F930-440E67EED133}"/>
              </a:ext>
            </a:extLst>
          </p:cNvPr>
          <p:cNvSpPr txBox="1"/>
          <p:nvPr/>
        </p:nvSpPr>
        <p:spPr>
          <a:xfrm>
            <a:off x="685797" y="1820661"/>
            <a:ext cx="281657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PROMOTOR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NOMINATOR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ELECTOR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PROMOTOR</a:t>
            </a:r>
            <a:endParaRPr lang="en-IN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9FCF33-7E98-1238-C669-E6D2909B55C3}"/>
              </a:ext>
            </a:extLst>
          </p:cNvPr>
          <p:cNvSpPr txBox="1"/>
          <p:nvPr/>
        </p:nvSpPr>
        <p:spPr>
          <a:xfrm>
            <a:off x="700353" y="2480578"/>
            <a:ext cx="3304250" cy="1986961"/>
          </a:xfrm>
          <a:prstGeom prst="rect">
            <a:avLst/>
          </a:prstGeom>
          <a:solidFill>
            <a:srgbClr val="ECE9D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B60636-3BDB-1EE4-5A0E-68633983B1C9}"/>
              </a:ext>
            </a:extLst>
          </p:cNvPr>
          <p:cNvSpPr txBox="1"/>
          <p:nvPr/>
        </p:nvSpPr>
        <p:spPr>
          <a:xfrm>
            <a:off x="11999336" y="396877"/>
            <a:ext cx="4283963" cy="7246569"/>
          </a:xfrm>
          <a:prstGeom prst="rect">
            <a:avLst/>
          </a:prstGeom>
          <a:solidFill>
            <a:srgbClr val="ECE9D8">
              <a:alpha val="66000"/>
            </a:srgb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1" name="Picture 2" descr="ICANN2019">
            <a:extLst>
              <a:ext uri="{FF2B5EF4-FFF2-40B4-BE49-F238E27FC236}">
                <a16:creationId xmlns:a16="http://schemas.microsoft.com/office/drawing/2014/main" id="{42EE041C-4A9D-CE74-B87A-B8DCC0317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B3755F-D0FC-C615-E6C6-B7DBA9A9B9C5}"/>
              </a:ext>
            </a:extLst>
          </p:cNvPr>
          <p:cNvSpPr txBox="1"/>
          <p:nvPr/>
        </p:nvSpPr>
        <p:spPr>
          <a:xfrm>
            <a:off x="324083" y="380198"/>
            <a:ext cx="9830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M5: TRACK, FILTER, AND MIGRATE</a:t>
            </a:r>
            <a:endParaRPr lang="en-IN" sz="36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49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42124-94B6-F996-107D-B3CC16D8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ANN2019">
            <a:extLst>
              <a:ext uri="{FF2B5EF4-FFF2-40B4-BE49-F238E27FC236}">
                <a16:creationId xmlns:a16="http://schemas.microsoft.com/office/drawing/2014/main" id="{607C4AB3-E094-BB93-473B-639D95C74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5878" y="149162"/>
            <a:ext cx="991927" cy="99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096628-A0E1-8B89-E4EA-E8C7FE687701}"/>
              </a:ext>
            </a:extLst>
          </p:cNvPr>
          <p:cNvSpPr txBox="1"/>
          <p:nvPr/>
        </p:nvSpPr>
        <p:spPr>
          <a:xfrm>
            <a:off x="309745" y="277463"/>
            <a:ext cx="9310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EVALUATION SETUP</a:t>
            </a:r>
            <a:endParaRPr lang="en-IN" sz="32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D1AA8B2-9D9F-E4CA-C22B-04DF283771C8}"/>
              </a:ext>
            </a:extLst>
          </p:cNvPr>
          <p:cNvGrpSpPr/>
          <p:nvPr/>
        </p:nvGrpSpPr>
        <p:grpSpPr>
          <a:xfrm>
            <a:off x="339255" y="1117069"/>
            <a:ext cx="4367454" cy="1921630"/>
            <a:chOff x="6223706" y="222851"/>
            <a:chExt cx="4367454" cy="192163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3F42F42-4A87-CC9E-6F61-AD20EECAB52B}"/>
                </a:ext>
              </a:extLst>
            </p:cNvPr>
            <p:cNvSpPr/>
            <p:nvPr/>
          </p:nvSpPr>
          <p:spPr>
            <a:xfrm>
              <a:off x="6223706" y="222851"/>
              <a:ext cx="4312304" cy="1921630"/>
            </a:xfrm>
            <a:prstGeom prst="roundRect">
              <a:avLst>
                <a:gd name="adj" fmla="val 3859"/>
              </a:avLst>
            </a:prstGeom>
            <a:solidFill>
              <a:srgbClr val="D5CDA7">
                <a:alpha val="5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AE76239-91F4-D6B6-81D9-F9907DFA8390}"/>
                </a:ext>
              </a:extLst>
            </p:cNvPr>
            <p:cNvSpPr txBox="1"/>
            <p:nvPr/>
          </p:nvSpPr>
          <p:spPr>
            <a:xfrm>
              <a:off x="6259995" y="314851"/>
              <a:ext cx="2633324" cy="442674"/>
            </a:xfrm>
            <a:prstGeom prst="round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SYSTEM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5C1845F-84A8-8C54-E876-F1240B101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9995" y="848965"/>
              <a:ext cx="4331165" cy="1022636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73046BB-17E1-313F-0161-58974DC9497C}"/>
              </a:ext>
            </a:extLst>
          </p:cNvPr>
          <p:cNvGrpSpPr/>
          <p:nvPr/>
        </p:nvGrpSpPr>
        <p:grpSpPr>
          <a:xfrm>
            <a:off x="339255" y="3237717"/>
            <a:ext cx="11558962" cy="3399303"/>
            <a:chOff x="5114595" y="393743"/>
            <a:chExt cx="10270238" cy="3965222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2AEE8A7-0E29-F6E6-6141-69DAED5695F7}"/>
                </a:ext>
              </a:extLst>
            </p:cNvPr>
            <p:cNvSpPr/>
            <p:nvPr/>
          </p:nvSpPr>
          <p:spPr>
            <a:xfrm>
              <a:off x="5114595" y="393743"/>
              <a:ext cx="10270237" cy="3965222"/>
            </a:xfrm>
            <a:prstGeom prst="roundRect">
              <a:avLst>
                <a:gd name="adj" fmla="val 3859"/>
              </a:avLst>
            </a:prstGeom>
            <a:solidFill>
              <a:srgbClr val="D5CDA7">
                <a:alpha val="5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1358DDF-A5E7-BC42-0679-FCA368B8A832}"/>
                </a:ext>
              </a:extLst>
            </p:cNvPr>
            <p:cNvSpPr txBox="1"/>
            <p:nvPr/>
          </p:nvSpPr>
          <p:spPr>
            <a:xfrm>
              <a:off x="5228347" y="485203"/>
              <a:ext cx="19175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BENCHMARKS</a:t>
              </a:r>
              <a:endParaRPr lang="en-IN" sz="2000" b="1" dirty="0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A183E257-DE0A-BAC8-216A-A3327445B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28347" y="949470"/>
              <a:ext cx="5395429" cy="301244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E80557D-DE4B-C62A-0EFB-E5D70DF07BF7}"/>
                </a:ext>
              </a:extLst>
            </p:cNvPr>
            <p:cNvSpPr txBox="1"/>
            <p:nvPr/>
          </p:nvSpPr>
          <p:spPr>
            <a:xfrm>
              <a:off x="10737527" y="608117"/>
              <a:ext cx="4647306" cy="36933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dirty="0"/>
                <a:t>Twelve memory-intensive benchmarks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As inputs, we use YCSB-A [11] (Redis), KDD 2012 [35] (</a:t>
              </a:r>
              <a:r>
                <a:rPr lang="en-US" dirty="0" err="1"/>
                <a:t>Liblinear</a:t>
              </a:r>
              <a:r>
                <a:rPr lang="en-US" dirty="0"/>
                <a:t>), Twitter [30] (BFS, CC, TC, and PR with undirected graph), and Google [1] (BC and SSSP with directed graph).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Adjusted the size of these input datasets to have a memory footprint close to 8GB.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Limited the capacity of DDR DRAM that a given benchmark can use to 3GB, ensuring that roughly 50% of the pages can be migrated to DDR DRAM.</a:t>
              </a:r>
              <a:endParaRPr lang="en-I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dirty="0"/>
            </a:p>
          </p:txBody>
        </p:sp>
      </p:grp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27487E9-E22B-3460-32A7-D77C1F06E107}"/>
              </a:ext>
            </a:extLst>
          </p:cNvPr>
          <p:cNvSpPr/>
          <p:nvPr/>
        </p:nvSpPr>
        <p:spPr>
          <a:xfrm>
            <a:off x="4873334" y="1105693"/>
            <a:ext cx="7030517" cy="1921630"/>
          </a:xfrm>
          <a:prstGeom prst="roundRect">
            <a:avLst>
              <a:gd name="adj" fmla="val 3859"/>
            </a:avLst>
          </a:prstGeom>
          <a:solidFill>
            <a:srgbClr val="D5CDA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B96F80-2D55-C93C-D626-7057348619F1}"/>
              </a:ext>
            </a:extLst>
          </p:cNvPr>
          <p:cNvSpPr txBox="1"/>
          <p:nvPr/>
        </p:nvSpPr>
        <p:spPr>
          <a:xfrm>
            <a:off x="5038984" y="1193829"/>
            <a:ext cx="4013576" cy="442674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PAGE MIGRATION SOLUTIONS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D0AFDC-5853-F7DF-2681-8E2B530AD77B}"/>
              </a:ext>
            </a:extLst>
          </p:cNvPr>
          <p:cNvSpPr txBox="1"/>
          <p:nvPr/>
        </p:nvSpPr>
        <p:spPr>
          <a:xfrm>
            <a:off x="5038983" y="1565412"/>
            <a:ext cx="677747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For ANB, we use Linux version 5.19.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For DAMON we use Linux kernel version 6.11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M5 is implemented in Linux kernel version 6.5.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We decided not to port DAMON and ANB to the same kernel version as M5.</a:t>
            </a:r>
            <a:endParaRPr lang="en-IN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7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F6A47D2-7486-7277-7E41-5C519461B246}"/>
              </a:ext>
            </a:extLst>
          </p:cNvPr>
          <p:cNvSpPr/>
          <p:nvPr/>
        </p:nvSpPr>
        <p:spPr>
          <a:xfrm>
            <a:off x="-663937" y="-11946135"/>
            <a:ext cx="13437095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EA4D7FA-E784-55B3-F8C5-1A82052D0823}"/>
              </a:ext>
            </a:extLst>
          </p:cNvPr>
          <p:cNvSpPr/>
          <p:nvPr/>
        </p:nvSpPr>
        <p:spPr>
          <a:xfrm>
            <a:off x="13251081" y="-2905407"/>
            <a:ext cx="10492839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9CB87E-8773-F947-E22B-8B78E05787D1}"/>
              </a:ext>
            </a:extLst>
          </p:cNvPr>
          <p:cNvSpPr/>
          <p:nvPr/>
        </p:nvSpPr>
        <p:spPr>
          <a:xfrm>
            <a:off x="-11856719" y="-3228651"/>
            <a:ext cx="11026158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A42CE12-1CA1-80B5-A86F-F8A12459783E}"/>
              </a:ext>
            </a:extLst>
          </p:cNvPr>
          <p:cNvSpPr/>
          <p:nvPr/>
        </p:nvSpPr>
        <p:spPr>
          <a:xfrm>
            <a:off x="-1652951" y="8681104"/>
            <a:ext cx="14526496" cy="11342451"/>
          </a:xfrm>
          <a:prstGeom prst="rect">
            <a:avLst/>
          </a:prstGeom>
          <a:solidFill>
            <a:srgbClr val="ECE9D8">
              <a:alpha val="73000"/>
            </a:srgbClr>
          </a:solidFill>
          <a:ln>
            <a:noFill/>
          </a:ln>
          <a:effectLst>
            <a:softEdge rad="241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79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B1D92-2E3F-9EEE-E82C-46EB64BF1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EB50A2-0289-DCF2-7A8C-5541A5FF60FF}"/>
              </a:ext>
            </a:extLst>
          </p:cNvPr>
          <p:cNvSpPr/>
          <p:nvPr/>
        </p:nvSpPr>
        <p:spPr>
          <a:xfrm>
            <a:off x="6147530" y="1837630"/>
            <a:ext cx="5414342" cy="2227051"/>
          </a:xfrm>
          <a:prstGeom prst="roundRect">
            <a:avLst>
              <a:gd name="adj" fmla="val 10982"/>
            </a:avLst>
          </a:prstGeom>
          <a:solidFill>
            <a:srgbClr val="D5CDA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37524E-30CF-CDFE-1362-8588B4B82456}"/>
              </a:ext>
            </a:extLst>
          </p:cNvPr>
          <p:cNvSpPr/>
          <p:nvPr/>
        </p:nvSpPr>
        <p:spPr>
          <a:xfrm>
            <a:off x="226362" y="1837631"/>
            <a:ext cx="5414342" cy="2227051"/>
          </a:xfrm>
          <a:prstGeom prst="roundRect">
            <a:avLst>
              <a:gd name="adj" fmla="val 10982"/>
            </a:avLst>
          </a:prstGeom>
          <a:solidFill>
            <a:srgbClr val="D5CDA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47B4C11-593E-02DF-D99B-E1F28849D16D}"/>
              </a:ext>
            </a:extLst>
          </p:cNvPr>
          <p:cNvSpPr txBox="1"/>
          <p:nvPr/>
        </p:nvSpPr>
        <p:spPr>
          <a:xfrm>
            <a:off x="323137" y="420419"/>
            <a:ext cx="10353257" cy="478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4000" spc="562" dirty="0">
                <a:solidFill>
                  <a:srgbClr val="6F6935"/>
                </a:solidFill>
                <a:ea typeface="+mn-lt"/>
                <a:cs typeface="+mn-lt"/>
                <a:sym typeface="Public Sans Bold"/>
              </a:rPr>
              <a:t>DETECTING HOT PAGES EFFICIENTLY</a:t>
            </a:r>
            <a:endParaRPr lang="en-US" dirty="0"/>
          </a:p>
        </p:txBody>
      </p:sp>
      <p:pic>
        <p:nvPicPr>
          <p:cNvPr id="4" name="Picture 2" descr="ICANN2019">
            <a:extLst>
              <a:ext uri="{FF2B5EF4-FFF2-40B4-BE49-F238E27FC236}">
                <a16:creationId xmlns:a16="http://schemas.microsoft.com/office/drawing/2014/main" id="{D4DBDA20-2B7E-9E9C-B155-B43099B8C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7DEF05-8DF5-69BB-3EF1-3223FF7A162C}"/>
              </a:ext>
            </a:extLst>
          </p:cNvPr>
          <p:cNvSpPr txBox="1"/>
          <p:nvPr/>
        </p:nvSpPr>
        <p:spPr>
          <a:xfrm>
            <a:off x="226362" y="1081178"/>
            <a:ext cx="658464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i="1" dirty="0">
                <a:ea typeface="+mn-lt"/>
                <a:cs typeface="+mn-lt"/>
              </a:rPr>
              <a:t>CM-Sketch vs. Space-Saving Top-K Tracker Designs</a:t>
            </a:r>
            <a:endParaRPr lang="en-US" sz="2400" dirty="0"/>
          </a:p>
          <a:p>
            <a:endParaRPr lang="en-GB" sz="2400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42B0A-2184-99F6-4521-A12ABE2B42FB}"/>
              </a:ext>
            </a:extLst>
          </p:cNvPr>
          <p:cNvSpPr txBox="1"/>
          <p:nvPr/>
        </p:nvSpPr>
        <p:spPr>
          <a:xfrm>
            <a:off x="594101" y="169189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AAD60D-B333-0283-76A1-894E0154A214}"/>
              </a:ext>
            </a:extLst>
          </p:cNvPr>
          <p:cNvSpPr txBox="1"/>
          <p:nvPr/>
        </p:nvSpPr>
        <p:spPr>
          <a:xfrm>
            <a:off x="323288" y="1906474"/>
            <a:ext cx="52831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ea typeface="Calibri"/>
                <a:cs typeface="Calibri"/>
              </a:rPr>
              <a:t>CM-Sketch Tracker</a:t>
            </a:r>
          </a:p>
          <a:p>
            <a:pPr marL="285750" indent="-285750">
              <a:buFont typeface="Arial"/>
              <a:buChar char="•"/>
            </a:pPr>
            <a:r>
              <a:rPr lang="en-GB" b="1" dirty="0">
                <a:ea typeface="+mn-lt"/>
                <a:cs typeface="+mn-lt"/>
              </a:rPr>
              <a:t>SRAM</a:t>
            </a:r>
            <a:r>
              <a:rPr lang="en-GB" dirty="0">
                <a:ea typeface="+mn-lt"/>
                <a:cs typeface="+mn-lt"/>
              </a:rPr>
              <a:t> holds N access counts (large)</a:t>
            </a:r>
          </a:p>
          <a:p>
            <a:pPr marL="285750" indent="-285750">
              <a:buFont typeface="Arial"/>
              <a:buChar char="•"/>
            </a:pPr>
            <a:r>
              <a:rPr lang="en-GB" b="1" dirty="0">
                <a:ea typeface="+mn-lt"/>
                <a:cs typeface="+mn-lt"/>
              </a:rPr>
              <a:t>CAM</a:t>
            </a:r>
            <a:r>
              <a:rPr lang="en-GB" dirty="0">
                <a:ea typeface="+mn-lt"/>
                <a:cs typeface="+mn-lt"/>
              </a:rPr>
              <a:t> holds top-K entries only → Small, scalable</a:t>
            </a:r>
            <a:endParaRPr lang="en-GB" dirty="0"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1BCB62-E973-8A23-1767-8F1AEFD80BD9}"/>
              </a:ext>
            </a:extLst>
          </p:cNvPr>
          <p:cNvSpPr txBox="1"/>
          <p:nvPr/>
        </p:nvSpPr>
        <p:spPr>
          <a:xfrm>
            <a:off x="6305996" y="1889776"/>
            <a:ext cx="528315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ea typeface="Calibri"/>
                <a:cs typeface="Calibri"/>
              </a:rPr>
              <a:t>Space-Saving Tracker</a:t>
            </a:r>
          </a:p>
          <a:p>
            <a:pPr>
              <a:buFont typeface="Arial"/>
              <a:buChar char="•"/>
            </a:pPr>
            <a:r>
              <a:rPr lang="en-GB" b="1" dirty="0">
                <a:ea typeface="+mn-lt"/>
                <a:cs typeface="+mn-lt"/>
              </a:rPr>
              <a:t>Sorted CAM</a:t>
            </a:r>
            <a:r>
              <a:rPr lang="en-GB" dirty="0">
                <a:ea typeface="+mn-lt"/>
                <a:cs typeface="+mn-lt"/>
              </a:rPr>
              <a:t> with N entries (each stores address + access count) </a:t>
            </a:r>
            <a:r>
              <a:rPr lang="en-GB" dirty="0">
                <a:ea typeface="Calibri"/>
                <a:cs typeface="Calibri"/>
              </a:rPr>
              <a:t>→ Precise but large</a:t>
            </a:r>
          </a:p>
          <a:p>
            <a:endParaRPr lang="en-GB" b="1" dirty="0">
              <a:ea typeface="Calibri"/>
              <a:cs typeface="Calibri"/>
            </a:endParaRPr>
          </a:p>
        </p:txBody>
      </p:sp>
      <p:pic>
        <p:nvPicPr>
          <p:cNvPr id="20" name="Picture 19" descr="A screenshot of a phone">
            <a:extLst>
              <a:ext uri="{FF2B5EF4-FFF2-40B4-BE49-F238E27FC236}">
                <a16:creationId xmlns:a16="http://schemas.microsoft.com/office/drawing/2014/main" id="{A5A1B15D-D175-E209-01A9-9B4816F2C6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47" b="51467"/>
          <a:stretch>
            <a:fillRect/>
          </a:stretch>
        </p:blipFill>
        <p:spPr>
          <a:xfrm>
            <a:off x="455505" y="3085777"/>
            <a:ext cx="4416536" cy="684173"/>
          </a:xfrm>
          <a:prstGeom prst="rect">
            <a:avLst/>
          </a:prstGeom>
        </p:spPr>
      </p:pic>
      <p:pic>
        <p:nvPicPr>
          <p:cNvPr id="21" name="Picture 20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E2E50CCB-05C2-57DC-09FB-CDAD4C709D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97" b="42050"/>
          <a:stretch>
            <a:fillRect/>
          </a:stretch>
        </p:blipFill>
        <p:spPr>
          <a:xfrm>
            <a:off x="6887201" y="2952363"/>
            <a:ext cx="3726769" cy="89419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E7F78CE-E98D-B602-6CF8-20970299BA6C}"/>
              </a:ext>
            </a:extLst>
          </p:cNvPr>
          <p:cNvSpPr txBox="1"/>
          <p:nvPr/>
        </p:nvSpPr>
        <p:spPr>
          <a:xfrm>
            <a:off x="226362" y="4636467"/>
            <a:ext cx="1136278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400" dirty="0">
                <a:ea typeface="+mn-lt"/>
                <a:cs typeface="+mn-lt"/>
              </a:rPr>
              <a:t>CM-Sketch decouples counting and ranking → scales better under timing and area constraints.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52888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F3EA9-B22D-3ECB-9DD5-9099D57FC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CANN2019">
            <a:extLst>
              <a:ext uri="{FF2B5EF4-FFF2-40B4-BE49-F238E27FC236}">
                <a16:creationId xmlns:a16="http://schemas.microsoft.com/office/drawing/2014/main" id="{2F12AAE3-D158-7B6E-A522-4D29FED38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9C2A76-2075-40A0-7E9A-7BD3D965E7AA}"/>
              </a:ext>
            </a:extLst>
          </p:cNvPr>
          <p:cNvSpPr txBox="1"/>
          <p:nvPr/>
        </p:nvSpPr>
        <p:spPr>
          <a:xfrm>
            <a:off x="219559" y="90407"/>
            <a:ext cx="102493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rgbClr val="6F6935"/>
                </a:solidFill>
                <a:ea typeface="+mn-lt"/>
                <a:cs typeface="+mn-lt"/>
              </a:rPr>
              <a:t>DESIGN EVALUATION: SIZE, POWER AND ACCURACY</a:t>
            </a:r>
            <a:endParaRPr lang="en-US" sz="3600" dirty="0">
              <a:solidFill>
                <a:srgbClr val="6F6935"/>
              </a:solidFill>
              <a:ea typeface="Calibri"/>
              <a:cs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5CB074F-EB16-521A-567D-326C9670C80C}"/>
              </a:ext>
            </a:extLst>
          </p:cNvPr>
          <p:cNvGrpSpPr/>
          <p:nvPr/>
        </p:nvGrpSpPr>
        <p:grpSpPr>
          <a:xfrm>
            <a:off x="219559" y="1166334"/>
            <a:ext cx="5140306" cy="5164323"/>
            <a:chOff x="219559" y="867748"/>
            <a:chExt cx="5140306" cy="5164323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76B9A41-A6D9-9C2D-A094-D65171114691}"/>
                </a:ext>
              </a:extLst>
            </p:cNvPr>
            <p:cNvSpPr/>
            <p:nvPr/>
          </p:nvSpPr>
          <p:spPr>
            <a:xfrm>
              <a:off x="219559" y="867748"/>
              <a:ext cx="5140306" cy="5164323"/>
            </a:xfrm>
            <a:prstGeom prst="roundRect">
              <a:avLst>
                <a:gd name="adj" fmla="val 10982"/>
              </a:avLst>
            </a:prstGeom>
            <a:solidFill>
              <a:srgbClr val="D5CDA7">
                <a:alpha val="5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table with numbers and a few black text&#10;&#10;AI-generated content may be incorrect.">
              <a:extLst>
                <a:ext uri="{FF2B5EF4-FFF2-40B4-BE49-F238E27FC236}">
                  <a16:creationId xmlns:a16="http://schemas.microsoft.com/office/drawing/2014/main" id="{B6D9729D-1100-A90E-695A-ABA9D6DB1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4408" y="1255970"/>
              <a:ext cx="4116783" cy="295056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C43ECD-FB61-775A-8EDD-C43898A12D95}"/>
                </a:ext>
              </a:extLst>
            </p:cNvPr>
            <p:cNvSpPr txBox="1"/>
            <p:nvPr/>
          </p:nvSpPr>
          <p:spPr>
            <a:xfrm>
              <a:off x="552695" y="4517419"/>
              <a:ext cx="4791558" cy="147732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GB" dirty="0">
                  <a:ea typeface="+mn-lt"/>
                  <a:cs typeface="+mn-lt"/>
                </a:rPr>
                <a:t>Space-Saving = +33.6× area, +7.6× power vs CM-Sketch</a:t>
              </a:r>
              <a:endParaRPr lang="en-US" dirty="0"/>
            </a:p>
            <a:p>
              <a:pPr marL="285750" indent="-285750">
                <a:buFont typeface="Arial"/>
                <a:buChar char="•"/>
              </a:pPr>
              <a:r>
                <a:rPr lang="en-GB" dirty="0">
                  <a:ea typeface="+mn-lt"/>
                  <a:cs typeface="+mn-lt"/>
                </a:rPr>
                <a:t>CM-Sketch supports up to 128K entries @400MHz</a:t>
              </a:r>
              <a:endParaRPr lang="en-GB" dirty="0">
                <a:ea typeface="Calibri"/>
                <a:cs typeface="Calibri"/>
              </a:endParaRPr>
            </a:p>
            <a:p>
              <a:pPr algn="l"/>
              <a:endParaRPr lang="en-GB" dirty="0">
                <a:ea typeface="Calibri"/>
                <a:cs typeface="Calibri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B5CBD78-CFCB-C6AE-254A-1EF0F7C99373}"/>
              </a:ext>
            </a:extLst>
          </p:cNvPr>
          <p:cNvGrpSpPr/>
          <p:nvPr/>
        </p:nvGrpSpPr>
        <p:grpSpPr>
          <a:xfrm>
            <a:off x="5811007" y="1171423"/>
            <a:ext cx="5298927" cy="5164323"/>
            <a:chOff x="5811007" y="863510"/>
            <a:chExt cx="5298927" cy="516432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D545214-033E-7FE5-9F22-FB93F300F5F5}"/>
                </a:ext>
              </a:extLst>
            </p:cNvPr>
            <p:cNvSpPr/>
            <p:nvPr/>
          </p:nvSpPr>
          <p:spPr>
            <a:xfrm>
              <a:off x="5811007" y="863510"/>
              <a:ext cx="5140306" cy="5164323"/>
            </a:xfrm>
            <a:prstGeom prst="roundRect">
              <a:avLst>
                <a:gd name="adj" fmla="val 10982"/>
              </a:avLst>
            </a:prstGeom>
            <a:solidFill>
              <a:srgbClr val="D5CDA7">
                <a:alpha val="5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" name="Picture 6" descr="A graph of different sizes and colors&#10;&#10;AI-generated content may be incorrect.">
              <a:extLst>
                <a:ext uri="{FF2B5EF4-FFF2-40B4-BE49-F238E27FC236}">
                  <a16:creationId xmlns:a16="http://schemas.microsoft.com/office/drawing/2014/main" id="{A563C9D6-7DB1-86B2-1089-3E08EB74E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8228" y="2712329"/>
              <a:ext cx="4270719" cy="298841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B065BE-7B60-2ED5-336E-B1B6D6BA043F}"/>
                </a:ext>
              </a:extLst>
            </p:cNvPr>
            <p:cNvSpPr txBox="1"/>
            <p:nvPr/>
          </p:nvSpPr>
          <p:spPr>
            <a:xfrm>
              <a:off x="5969628" y="1154576"/>
              <a:ext cx="5140306" cy="175432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GB" dirty="0">
                  <a:ea typeface="+mn-lt"/>
                  <a:cs typeface="+mn-lt"/>
                </a:rPr>
                <a:t>“Accuracy ↑ with N”</a:t>
              </a:r>
              <a:endParaRPr lang="en-US" dirty="0"/>
            </a:p>
            <a:p>
              <a:pPr marL="285750" indent="-285750">
                <a:buFont typeface="Arial"/>
                <a:buChar char="•"/>
              </a:pPr>
              <a:r>
                <a:rPr lang="en-GB" dirty="0">
                  <a:ea typeface="+mn-lt"/>
                  <a:cs typeface="+mn-lt"/>
                </a:rPr>
                <a:t>“Space-Saving more precise for same N”</a:t>
              </a:r>
              <a:endParaRPr lang="en-GB" dirty="0"/>
            </a:p>
            <a:p>
              <a:pPr marL="285750" indent="-285750">
                <a:buFont typeface="Arial"/>
                <a:buChar char="•"/>
              </a:pPr>
              <a:r>
                <a:rPr lang="en-GB" dirty="0">
                  <a:ea typeface="+mn-lt"/>
                  <a:cs typeface="+mn-lt"/>
                </a:rPr>
                <a:t>“But CM-Sketch allows much larger N ⇒ better practical accuracy (0.97 @ N=32K vs 0.49 @ N=50)”</a:t>
              </a:r>
              <a:endParaRPr lang="en-GB" dirty="0"/>
            </a:p>
            <a:p>
              <a:pPr algn="l"/>
              <a:endParaRPr lang="en-GB" dirty="0"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9722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65D60-9A48-7889-707A-D9B5F13AC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CANN2019">
            <a:extLst>
              <a:ext uri="{FF2B5EF4-FFF2-40B4-BE49-F238E27FC236}">
                <a16:creationId xmlns:a16="http://schemas.microsoft.com/office/drawing/2014/main" id="{82D69A0D-7188-F178-AB39-BD85CED11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C2316-E795-13C8-F393-E829A306DC7D}"/>
              </a:ext>
            </a:extLst>
          </p:cNvPr>
          <p:cNvSpPr txBox="1"/>
          <p:nvPr/>
        </p:nvSpPr>
        <p:spPr>
          <a:xfrm>
            <a:off x="219559" y="90407"/>
            <a:ext cx="97510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rgbClr val="6F6935"/>
                </a:solidFill>
                <a:ea typeface="+mn-lt"/>
                <a:cs typeface="+mn-lt"/>
              </a:rPr>
              <a:t>COMPARING HOT-PAGE DETECTION ACCURACY</a:t>
            </a:r>
            <a:endParaRPr lang="en-US" sz="3600" dirty="0">
              <a:solidFill>
                <a:srgbClr val="6F6935"/>
              </a:solidFill>
              <a:ea typeface="Calibri"/>
              <a:cs typeface="Calibri"/>
            </a:endParaRPr>
          </a:p>
        </p:txBody>
      </p:sp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596F5AD-910A-7AF3-FE91-09E44E10C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779" y="1179766"/>
            <a:ext cx="8801877" cy="36779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24F604-7EBD-B457-03C5-4445422D5416}"/>
              </a:ext>
            </a:extLst>
          </p:cNvPr>
          <p:cNvSpPr txBox="1"/>
          <p:nvPr/>
        </p:nvSpPr>
        <p:spPr>
          <a:xfrm>
            <a:off x="1517780" y="5210592"/>
            <a:ext cx="930573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CM-Sketch (32K): </a:t>
            </a:r>
            <a:r>
              <a:rPr lang="en-GB" b="1">
                <a:ea typeface="+mn-lt"/>
                <a:cs typeface="+mn-lt"/>
              </a:rPr>
              <a:t>+3.5% vs Space-Saving</a:t>
            </a:r>
            <a:r>
              <a:rPr lang="en-GB">
                <a:ea typeface="+mn-lt"/>
                <a:cs typeface="+mn-lt"/>
              </a:rPr>
              <a:t>, </a:t>
            </a:r>
            <a:r>
              <a:rPr lang="en-GB" b="1">
                <a:ea typeface="+mn-lt"/>
                <a:cs typeface="+mn-lt"/>
              </a:rPr>
              <a:t>+47% vs CPU solutions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Avg. ratio = </a:t>
            </a:r>
            <a:r>
              <a:rPr lang="en-GB" b="1">
                <a:ea typeface="+mn-lt"/>
                <a:cs typeface="+mn-lt"/>
              </a:rPr>
              <a:t>0.72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Notes: “M5 may miss some globally-hot pages, but catches near-term hot pages effectively.”</a:t>
            </a:r>
            <a:endParaRPr lang="en-GB"/>
          </a:p>
          <a:p>
            <a:pPr algn="l"/>
            <a:endParaRPr lang="en-GB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2612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CEE0F-F875-ABDB-C870-626CC03B8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CANN2019">
            <a:extLst>
              <a:ext uri="{FF2B5EF4-FFF2-40B4-BE49-F238E27FC236}">
                <a16:creationId xmlns:a16="http://schemas.microsoft.com/office/drawing/2014/main" id="{27C2A851-36A7-4C51-5C40-601817B9C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C65416-0E24-BA78-BAD6-F109E516A698}"/>
              </a:ext>
            </a:extLst>
          </p:cNvPr>
          <p:cNvSpPr txBox="1"/>
          <p:nvPr/>
        </p:nvSpPr>
        <p:spPr>
          <a:xfrm>
            <a:off x="219559" y="90407"/>
            <a:ext cx="1059050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rgbClr val="6F6935"/>
                </a:solidFill>
                <a:ea typeface="+mn-lt"/>
                <a:cs typeface="+mn-lt"/>
              </a:rPr>
              <a:t>END-TO-END</a:t>
            </a:r>
            <a:r>
              <a:rPr lang="en-US" sz="4000" dirty="0">
                <a:solidFill>
                  <a:srgbClr val="6F6935"/>
                </a:solidFill>
                <a:ea typeface="+mn-lt"/>
                <a:cs typeface="+mn-lt"/>
              </a:rPr>
              <a:t> Performance of ANB, DAMON and M5</a:t>
            </a:r>
            <a:endParaRPr lang="en-US" sz="4000" dirty="0">
              <a:solidFill>
                <a:srgbClr val="6F6935"/>
              </a:solidFill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7E282B-165E-5073-8072-8A6B529B4970}"/>
              </a:ext>
            </a:extLst>
          </p:cNvPr>
          <p:cNvSpPr txBox="1"/>
          <p:nvPr/>
        </p:nvSpPr>
        <p:spPr>
          <a:xfrm>
            <a:off x="581187" y="5076431"/>
            <a:ext cx="1102962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400" dirty="0">
                <a:ea typeface="+mn-lt"/>
                <a:cs typeface="+mn-lt"/>
              </a:rPr>
              <a:t>M5 outperforms ANB &amp; DAMON by detecting hotter pages faster and at lower overhead.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algn="l"/>
            <a:endParaRPr lang="en-GB" sz="2400" dirty="0">
              <a:ea typeface="Calibri"/>
              <a:cs typeface="Calibri"/>
            </a:endParaRPr>
          </a:p>
        </p:txBody>
      </p:sp>
      <p:pic>
        <p:nvPicPr>
          <p:cNvPr id="3" name="Picture 2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2AFEEDC6-E251-7C66-5BE5-A082A3DC6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55" y="1505471"/>
            <a:ext cx="6688257" cy="309509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0C08C3B-57D3-5FFF-D30E-7438AE855F25}"/>
              </a:ext>
            </a:extLst>
          </p:cNvPr>
          <p:cNvGrpSpPr/>
          <p:nvPr/>
        </p:nvGrpSpPr>
        <p:grpSpPr>
          <a:xfrm>
            <a:off x="7576456" y="1701411"/>
            <a:ext cx="4314088" cy="2737573"/>
            <a:chOff x="7632441" y="1328187"/>
            <a:chExt cx="4314088" cy="273757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F761A9A-6B8E-F95A-13AB-E162DE1AD479}"/>
                </a:ext>
              </a:extLst>
            </p:cNvPr>
            <p:cNvSpPr/>
            <p:nvPr/>
          </p:nvSpPr>
          <p:spPr>
            <a:xfrm>
              <a:off x="7632441" y="1328187"/>
              <a:ext cx="4314088" cy="2737573"/>
            </a:xfrm>
            <a:prstGeom prst="roundRect">
              <a:avLst>
                <a:gd name="adj" fmla="val 10982"/>
              </a:avLst>
            </a:prstGeom>
            <a:solidFill>
              <a:srgbClr val="D5CDA7">
                <a:alpha val="5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5599E18-1DD8-8328-8343-554975DD6766}"/>
                </a:ext>
              </a:extLst>
            </p:cNvPr>
            <p:cNvSpPr txBox="1"/>
            <p:nvPr/>
          </p:nvSpPr>
          <p:spPr>
            <a:xfrm>
              <a:off x="7774903" y="1480437"/>
              <a:ext cx="4171626" cy="258532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GB" dirty="0">
                  <a:ea typeface="+mn-lt"/>
                  <a:cs typeface="+mn-lt"/>
                </a:rPr>
                <a:t>🧩 </a:t>
              </a:r>
              <a:r>
                <a:rPr lang="en-GB" b="1" dirty="0">
                  <a:ea typeface="+mn-lt"/>
                  <a:cs typeface="+mn-lt"/>
                </a:rPr>
                <a:t>ANB</a:t>
              </a:r>
              <a:r>
                <a:rPr lang="en-GB" dirty="0">
                  <a:ea typeface="+mn-lt"/>
                  <a:cs typeface="+mn-lt"/>
                </a:rPr>
                <a:t> → small boost (+8%)</a:t>
              </a:r>
              <a:endParaRPr lang="en-US" dirty="0"/>
            </a:p>
            <a:p>
              <a:pPr marL="285750" indent="-285750">
                <a:buFont typeface="Arial"/>
                <a:buChar char="•"/>
              </a:pPr>
              <a:r>
                <a:rPr lang="en-GB" dirty="0">
                  <a:ea typeface="+mn-lt"/>
                  <a:cs typeface="+mn-lt"/>
                </a:rPr>
                <a:t>🔍 </a:t>
              </a:r>
              <a:r>
                <a:rPr lang="en-GB" b="1" dirty="0">
                  <a:ea typeface="+mn-lt"/>
                  <a:cs typeface="+mn-lt"/>
                </a:rPr>
                <a:t>DAMON</a:t>
              </a:r>
              <a:r>
                <a:rPr lang="en-GB" dirty="0">
                  <a:ea typeface="+mn-lt"/>
                  <a:cs typeface="+mn-lt"/>
                </a:rPr>
                <a:t> → scans too long → slow (−16%)</a:t>
              </a:r>
              <a:endParaRPr lang="en-GB" dirty="0"/>
            </a:p>
            <a:p>
              <a:pPr marL="285750" indent="-285750">
                <a:buFont typeface="Arial"/>
                <a:buChar char="•"/>
              </a:pPr>
              <a:r>
                <a:rPr lang="en-GB" dirty="0">
                  <a:ea typeface="+mn-lt"/>
                  <a:cs typeface="+mn-lt"/>
                </a:rPr>
                <a:t>⚙️ </a:t>
              </a:r>
              <a:r>
                <a:rPr lang="en-GB" b="1" dirty="0">
                  <a:ea typeface="+mn-lt"/>
                  <a:cs typeface="+mn-lt"/>
                </a:rPr>
                <a:t>M5 </a:t>
              </a:r>
              <a:r>
                <a:rPr lang="en-GB" dirty="0">
                  <a:ea typeface="+mn-lt"/>
                  <a:cs typeface="+mn-lt"/>
                </a:rPr>
                <a:t>→ +14% vs DAMON, +106% vs baseline</a:t>
              </a:r>
              <a:endParaRPr lang="en-GB" dirty="0"/>
            </a:p>
            <a:p>
              <a:pPr marL="285750" indent="-285750">
                <a:buFont typeface="Arial"/>
                <a:buChar char="•"/>
              </a:pPr>
              <a:r>
                <a:rPr lang="en-GB" dirty="0">
                  <a:ea typeface="+mn-lt"/>
                  <a:cs typeface="+mn-lt"/>
                </a:rPr>
                <a:t>Redis: M5 (HWT) → +43% vs DAMON</a:t>
              </a:r>
              <a:endParaRPr lang="en-GB" dirty="0"/>
            </a:p>
            <a:p>
              <a:pPr marL="285750" indent="-285750">
                <a:buFont typeface="Arial"/>
                <a:buChar char="•"/>
              </a:pPr>
              <a:r>
                <a:rPr lang="en-GB" dirty="0" err="1">
                  <a:ea typeface="+mn-lt"/>
                  <a:cs typeface="+mn-lt"/>
                </a:rPr>
                <a:t>Liblinear</a:t>
              </a:r>
              <a:r>
                <a:rPr lang="en-GB" dirty="0">
                  <a:ea typeface="+mn-lt"/>
                  <a:cs typeface="+mn-lt"/>
                </a:rPr>
                <a:t> / </a:t>
              </a:r>
              <a:r>
                <a:rPr lang="en-GB" dirty="0" err="1">
                  <a:ea typeface="+mn-lt"/>
                  <a:cs typeface="+mn-lt"/>
                </a:rPr>
                <a:t>roms_r</a:t>
              </a:r>
              <a:r>
                <a:rPr lang="en-GB" dirty="0">
                  <a:ea typeface="+mn-lt"/>
                  <a:cs typeface="+mn-lt"/>
                </a:rPr>
                <a:t> → big gains (due to skewed accesses)</a:t>
              </a:r>
              <a:endParaRPr lang="en-GB" dirty="0"/>
            </a:p>
            <a:p>
              <a:pPr algn="l"/>
              <a:endParaRPr lang="en-GB" dirty="0"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2483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574E0-2A02-0280-7253-B9EFD0F68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7868F-CC71-DCBE-1BB0-AC380A134D8C}"/>
              </a:ext>
            </a:extLst>
          </p:cNvPr>
          <p:cNvSpPr txBox="1"/>
          <p:nvPr/>
        </p:nvSpPr>
        <p:spPr>
          <a:xfrm>
            <a:off x="332506" y="254174"/>
            <a:ext cx="93102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562" dirty="0">
                <a:solidFill>
                  <a:srgbClr val="6F6935"/>
                </a:solidFill>
                <a:latin typeface="Aptos" panose="020B0004020202020204" pitchFamily="34" charset="0"/>
              </a:rPr>
              <a:t>DISCUSSION</a:t>
            </a:r>
            <a:endParaRPr lang="en-IN" sz="4000" b="1" spc="562" dirty="0">
              <a:solidFill>
                <a:srgbClr val="6F6935"/>
              </a:solidFill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65A855-0FA6-08E7-D753-C3A694485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043" y="1314450"/>
            <a:ext cx="9310258" cy="4999953"/>
          </a:xfrm>
          <a:prstGeom prst="rect">
            <a:avLst/>
          </a:prstGeom>
        </p:spPr>
      </p:pic>
      <p:pic>
        <p:nvPicPr>
          <p:cNvPr id="4" name="Picture 2" descr="ICANN2019">
            <a:extLst>
              <a:ext uri="{FF2B5EF4-FFF2-40B4-BE49-F238E27FC236}">
                <a16:creationId xmlns:a16="http://schemas.microsoft.com/office/drawing/2014/main" id="{19B6C517-2413-3A26-DCF7-FCAC213D2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5052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B270C-9151-1B45-5406-597A769E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1A1B2E7B-146B-D12D-AA41-440D5DA69CAC}"/>
              </a:ext>
            </a:extLst>
          </p:cNvPr>
          <p:cNvSpPr txBox="1"/>
          <p:nvPr/>
        </p:nvSpPr>
        <p:spPr>
          <a:xfrm>
            <a:off x="323137" y="420419"/>
            <a:ext cx="10353257" cy="955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3600" b="1" spc="562" dirty="0">
                <a:solidFill>
                  <a:srgbClr val="6F6935"/>
                </a:solidFill>
                <a:latin typeface="Aptos" panose="020B0004020202020204" pitchFamily="34" charset="0"/>
                <a:sym typeface="Public Sans Bold"/>
              </a:rPr>
              <a:t>RELATED WORKS</a:t>
            </a:r>
          </a:p>
          <a:p>
            <a:pPr>
              <a:lnSpc>
                <a:spcPts val="3467"/>
              </a:lnSpc>
              <a:spcBef>
                <a:spcPct val="0"/>
              </a:spcBef>
            </a:pPr>
            <a:endParaRPr lang="en-US" sz="4800" b="1" spc="562" dirty="0">
              <a:solidFill>
                <a:srgbClr val="2B2C30"/>
              </a:solidFill>
              <a:latin typeface="Aptos" panose="020B0004020202020204" pitchFamily="34" charset="0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E1DE9F-AF7B-7115-734A-39C9D2761D6E}"/>
              </a:ext>
            </a:extLst>
          </p:cNvPr>
          <p:cNvSpPr txBox="1"/>
          <p:nvPr/>
        </p:nvSpPr>
        <p:spPr>
          <a:xfrm>
            <a:off x="509286" y="1362152"/>
            <a:ext cx="1091009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Intel Flat Memory Mode (IFMM):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When a CXL memory address is accessed, the memory controller swaps a 64B word at the CXL memory address with a 64B word at the one-to-one mapped DDR memory address.</a:t>
            </a:r>
            <a:br>
              <a:rPr lang="en-US" dirty="0"/>
            </a:br>
            <a:r>
              <a:rPr lang="en-US" dirty="0"/>
              <a:t>However, IFMM is limited to the case where local DDR memory and remote CXL memory have the same capacity because of the one-to-one mapping between CXL and DDR memory addresses for swapping.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5842D0-7547-1230-59BD-DF94E4B58402}"/>
              </a:ext>
            </a:extLst>
          </p:cNvPr>
          <p:cNvSpPr txBox="1"/>
          <p:nvPr/>
        </p:nvSpPr>
        <p:spPr>
          <a:xfrm>
            <a:off x="580524" y="3634545"/>
            <a:ext cx="491924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NeoMem</a:t>
            </a:r>
            <a:r>
              <a:rPr lang="en-IN" sz="2000" b="1" dirty="0"/>
              <a:t>:</a:t>
            </a:r>
            <a:br>
              <a:rPr lang="en-IN" dirty="0"/>
            </a:br>
            <a:br>
              <a:rPr lang="en-IN" dirty="0"/>
            </a:br>
            <a:r>
              <a:rPr lang="en-US" dirty="0"/>
              <a:t>Tracking hot pages in the CXL controller as concurrent work.</a:t>
            </a:r>
            <a:br>
              <a:rPr lang="en-US" dirty="0"/>
            </a:br>
            <a:r>
              <a:rPr lang="en-US" dirty="0"/>
              <a:t>However, in contrast to </a:t>
            </a:r>
            <a:r>
              <a:rPr lang="en-US" dirty="0" err="1"/>
              <a:t>NeoMem</a:t>
            </a:r>
            <a:r>
              <a:rPr lang="en-US" dirty="0"/>
              <a:t>, we also present PAC and WAC, which have enabled us to precisely evaluate the access-count ratio.</a:t>
            </a:r>
            <a:br>
              <a:rPr lang="en-US" dirty="0"/>
            </a:br>
            <a:r>
              <a:rPr lang="en-US" dirty="0"/>
              <a:t>Lastly, </a:t>
            </a:r>
            <a:r>
              <a:rPr lang="en-US" dirty="0" err="1"/>
              <a:t>NeoMem</a:t>
            </a:r>
            <a:r>
              <a:rPr lang="en-US" dirty="0"/>
              <a:t> does not track hot-word addresses, while M5 does.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D27B82-426A-4A09-4A9F-34A5B4DF5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56"/>
          <a:stretch>
            <a:fillRect/>
          </a:stretch>
        </p:blipFill>
        <p:spPr>
          <a:xfrm>
            <a:off x="5672884" y="2963564"/>
            <a:ext cx="5829300" cy="3363282"/>
          </a:xfrm>
          <a:prstGeom prst="rect">
            <a:avLst/>
          </a:prstGeom>
        </p:spPr>
      </p:pic>
      <p:pic>
        <p:nvPicPr>
          <p:cNvPr id="5" name="Picture 2" descr="ICANN2019">
            <a:extLst>
              <a:ext uri="{FF2B5EF4-FFF2-40B4-BE49-F238E27FC236}">
                <a16:creationId xmlns:a16="http://schemas.microsoft.com/office/drawing/2014/main" id="{E91D0C69-3C37-E2A7-E44A-476068E0E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8168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DA47C-13BE-0488-7E28-1353649B6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A52E72A8-D9BB-6746-F343-136D24628ED8}"/>
              </a:ext>
            </a:extLst>
          </p:cNvPr>
          <p:cNvSpPr txBox="1"/>
          <p:nvPr/>
        </p:nvSpPr>
        <p:spPr>
          <a:xfrm>
            <a:off x="323137" y="420419"/>
            <a:ext cx="10353257" cy="478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7"/>
              </a:lnSpc>
              <a:spcBef>
                <a:spcPct val="0"/>
              </a:spcBef>
            </a:pPr>
            <a:r>
              <a:rPr lang="en-US" sz="4000" b="1" spc="562" dirty="0">
                <a:solidFill>
                  <a:srgbClr val="6F6935"/>
                </a:solidFill>
                <a:latin typeface="Aptos" panose="020B0004020202020204" pitchFamily="34" charset="0"/>
                <a:ea typeface="Public Sans Bold"/>
                <a:cs typeface="Public Sans Bold"/>
                <a:sym typeface="Public Sans Bold"/>
              </a:rPr>
              <a:t>CONCLUSION</a:t>
            </a:r>
            <a:endParaRPr lang="en-US" sz="5400" b="1" spc="562" dirty="0">
              <a:solidFill>
                <a:srgbClr val="2B2C30"/>
              </a:solidFill>
              <a:latin typeface="Aptos" panose="020B0004020202020204" pitchFamily="34" charset="0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C0DDE5-B763-0B2C-A274-07923167B45E}"/>
              </a:ext>
            </a:extLst>
          </p:cNvPr>
          <p:cNvSpPr txBox="1"/>
          <p:nvPr/>
        </p:nvSpPr>
        <p:spPr>
          <a:xfrm>
            <a:off x="420648" y="1631471"/>
            <a:ext cx="11350703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/>
              <a:t>First, this work proposed a </a:t>
            </a:r>
            <a:r>
              <a:rPr lang="en-US" sz="2800" b="1" i="1" dirty="0">
                <a:solidFill>
                  <a:srgbClr val="505432"/>
                </a:solidFill>
              </a:rPr>
              <a:t>CXL-driven, hardware-assisted profiling solution </a:t>
            </a:r>
            <a:r>
              <a:rPr lang="en-US" sz="2800" dirty="0"/>
              <a:t>that leverages the unique capabilities of an FPGA-based CXL device.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/>
              <a:t>Second, this work showed that </a:t>
            </a:r>
            <a:r>
              <a:rPr lang="en-US" sz="2800" b="1" i="1" dirty="0">
                <a:solidFill>
                  <a:srgbClr val="505432"/>
                </a:solidFill>
              </a:rPr>
              <a:t>CPU-driven page-migration solutions often not only classify warm pages as hot pages</a:t>
            </a:r>
            <a:r>
              <a:rPr lang="en-US" sz="2800" dirty="0"/>
              <a:t>—many of which may also be sparse—but also incur notable performance overhead.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/>
              <a:t>Lastly, this work presented </a:t>
            </a:r>
            <a:r>
              <a:rPr lang="en-US" sz="2800" b="1" i="1" dirty="0">
                <a:solidFill>
                  <a:srgbClr val="505432"/>
                </a:solidFill>
              </a:rPr>
              <a:t>M5, a platform for developing CXL-driven page-migration solutions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  <p:pic>
        <p:nvPicPr>
          <p:cNvPr id="4" name="Picture 2" descr="ICANN2019">
            <a:extLst>
              <a:ext uri="{FF2B5EF4-FFF2-40B4-BE49-F238E27FC236}">
                <a16:creationId xmlns:a16="http://schemas.microsoft.com/office/drawing/2014/main" id="{0B0622B5-0EBC-D84D-5520-5F335F57B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0216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7DD22-3FEE-D62B-6DB4-748B16BFD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92A08E-5818-29C5-F528-4DD1A789A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390" y="1105693"/>
            <a:ext cx="5657850" cy="33737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B3135C-CC68-59AB-146E-1074A68562DF}"/>
              </a:ext>
            </a:extLst>
          </p:cNvPr>
          <p:cNvSpPr txBox="1"/>
          <p:nvPr/>
        </p:nvSpPr>
        <p:spPr>
          <a:xfrm>
            <a:off x="4159880" y="4693919"/>
            <a:ext cx="63398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THANK YOU</a:t>
            </a:r>
            <a:endParaRPr lang="en-IN" sz="6000" b="1" dirty="0"/>
          </a:p>
        </p:txBody>
      </p:sp>
      <p:pic>
        <p:nvPicPr>
          <p:cNvPr id="2" name="Picture 2" descr="ICANN2019">
            <a:extLst>
              <a:ext uri="{FF2B5EF4-FFF2-40B4-BE49-F238E27FC236}">
                <a16:creationId xmlns:a16="http://schemas.microsoft.com/office/drawing/2014/main" id="{C92FDE54-BC23-0A03-4E78-7AA46C2EB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701" y="88899"/>
            <a:ext cx="1132967" cy="113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309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io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iotheme" id="{79F2CA8E-E75B-4EE9-926D-669F3B21FDE5}" vid="{CAB608B7-1C7F-4116-97D2-EBCC122FA2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935B966FE389418688347F2A3AE1D0" ma:contentTypeVersion="10" ma:contentTypeDescription="Create a new document." ma:contentTypeScope="" ma:versionID="7140e9b46c76b4d72b99942b800a34c4">
  <xsd:schema xmlns:xsd="http://www.w3.org/2001/XMLSchema" xmlns:xs="http://www.w3.org/2001/XMLSchema" xmlns:p="http://schemas.microsoft.com/office/2006/metadata/properties" xmlns:ns3="3e39ef0c-2a1d-40ab-ba73-d00b5b9c9832" targetNamespace="http://schemas.microsoft.com/office/2006/metadata/properties" ma:root="true" ma:fieldsID="b15a4d74fa4c76f55d866e647d34f43b" ns3:_="">
    <xsd:import namespace="3e39ef0c-2a1d-40ab-ba73-d00b5b9c983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39ef0c-2a1d-40ab-ba73-d00b5b9c983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e39ef0c-2a1d-40ab-ba73-d00b5b9c983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D9944C-9EBB-4423-A08C-883D12797B2A}">
  <ds:schemaRefs>
    <ds:schemaRef ds:uri="3e39ef0c-2a1d-40ab-ba73-d00b5b9c983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681C196-0E66-4B00-BB43-F2ACC5C43EA7}">
  <ds:schemaRefs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3e39ef0c-2a1d-40ab-ba73-d00b5b9c9832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7A636A6-4491-434A-A3B2-56948B28BCC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</TotalTime>
  <Words>3260</Words>
  <Application>Microsoft Office PowerPoint</Application>
  <PresentationFormat>Widescreen</PresentationFormat>
  <Paragraphs>442</Paragraphs>
  <Slides>54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5" baseType="lpstr">
      <vt:lpstr>Aptos</vt:lpstr>
      <vt:lpstr>Aptos Narrow</vt:lpstr>
      <vt:lpstr>Arial</vt:lpstr>
      <vt:lpstr>Arial,Sans-Serif</vt:lpstr>
      <vt:lpstr>Calibri</vt:lpstr>
      <vt:lpstr>Calibri Light</vt:lpstr>
      <vt:lpstr>Palatino Linotype</vt:lpstr>
      <vt:lpstr>Public Sans</vt:lpstr>
      <vt:lpstr>Segoe UI</vt:lpstr>
      <vt:lpstr>Wingdings</vt:lpstr>
      <vt:lpstr>biotheme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PARV GOYAL</dc:creator>
  <cp:lastModifiedBy>Kavya Kumar Agrawal</cp:lastModifiedBy>
  <cp:revision>79</cp:revision>
  <dcterms:created xsi:type="dcterms:W3CDTF">2025-10-24T16:42:01Z</dcterms:created>
  <dcterms:modified xsi:type="dcterms:W3CDTF">2025-11-01T14:12:17Z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0x010100EB935B966FE389418688347F2A3AE1D0</vt:lpwstr>
  </property>
</Properties>
</file>